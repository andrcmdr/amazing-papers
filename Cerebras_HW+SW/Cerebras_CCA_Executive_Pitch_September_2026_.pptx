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1.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12.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16.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xml.rels" ContentType="application/vnd.openxmlformats-package.relationships+xml"/>
  <Override PartName="/ppt/notesSlides/_rels/notesSlide8.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ru-RU" sz="1800" strike="noStrike" u="none">
                <a:solidFill>
                  <a:schemeClr val="dk1"/>
                </a:solidFill>
                <a:effectLst/>
                <a:uFillTx/>
                <a:latin typeface="Aptos"/>
              </a:rPr>
              <a:t>Click to move the slide</a:t>
            </a:r>
            <a:endParaRPr b="0" lang="ru-RU" sz="1800" strike="noStrike" u="none">
              <a:solidFill>
                <a:schemeClr val="dk1"/>
              </a:solidFill>
              <a:effectLst/>
              <a:uFillTx/>
              <a:latin typeface="Aptos"/>
            </a:endParaRP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ru-RU" sz="2000" strike="noStrike" u="none">
                <a:solidFill>
                  <a:srgbClr val="000000"/>
                </a:solidFill>
                <a:effectLst/>
                <a:uFillTx/>
                <a:latin typeface="Arial"/>
              </a:rPr>
              <a:t>Click to edit the notes format</a:t>
            </a:r>
            <a:endParaRPr b="0" lang="ru-RU" sz="2000" strike="noStrike" u="none">
              <a:solidFill>
                <a:srgbClr val="000000"/>
              </a:solidFill>
              <a:effectLst/>
              <a:uFillTx/>
              <a:latin typeface="Arial"/>
            </a:endParaRPr>
          </a:p>
        </p:txBody>
      </p:sp>
      <p:sp>
        <p:nvSpPr>
          <p:cNvPr id="1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ru-RU" sz="1400" strike="noStrike" u="none">
                <a:solidFill>
                  <a:srgbClr val="000000"/>
                </a:solidFill>
                <a:effectLst/>
                <a:uFillTx/>
                <a:latin typeface="Times New Roman"/>
              </a:rPr>
              <a:t>&lt;header&gt;</a:t>
            </a:r>
            <a:endParaRPr b="0" lang="ru-RU" sz="1400" strike="noStrike" u="none">
              <a:solidFill>
                <a:srgbClr val="000000"/>
              </a:solidFill>
              <a:effectLst/>
              <a:uFillTx/>
              <a:latin typeface="Times New Roman"/>
            </a:endParaRPr>
          </a:p>
        </p:txBody>
      </p:sp>
      <p:sp>
        <p:nvSpPr>
          <p:cNvPr id="11"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ru-RU" sz="1400" strike="noStrike" u="none">
                <a:solidFill>
                  <a:srgbClr val="000000"/>
                </a:solidFill>
                <a:effectLst/>
                <a:uFillTx/>
                <a:latin typeface="Times New Roman"/>
              </a:defRPr>
            </a:lvl1pPr>
          </a:lstStyle>
          <a:p>
            <a:pPr indent="0" algn="r">
              <a:buNone/>
            </a:pPr>
            <a:r>
              <a:rPr b="0" lang="ru-RU" sz="1400" strike="noStrike" u="none">
                <a:solidFill>
                  <a:srgbClr val="000000"/>
                </a:solidFill>
                <a:effectLst/>
                <a:uFillTx/>
                <a:latin typeface="Times New Roman"/>
              </a:rPr>
              <a:t>&lt;date/time&gt;</a:t>
            </a:r>
            <a:endParaRPr b="0" lang="ru-RU" sz="1400" strike="noStrike" u="none">
              <a:solidFill>
                <a:srgbClr val="000000"/>
              </a:solidFill>
              <a:effectLst/>
              <a:uFillTx/>
              <a:latin typeface="Times New Roman"/>
            </a:endParaRPr>
          </a:p>
        </p:txBody>
      </p:sp>
      <p:sp>
        <p:nvSpPr>
          <p:cNvPr id="12"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ru-RU" sz="1400" strike="noStrike" u="none">
                <a:solidFill>
                  <a:srgbClr val="000000"/>
                </a:solidFill>
                <a:effectLst/>
                <a:uFillTx/>
                <a:latin typeface="Times New Roman"/>
              </a:defRPr>
            </a:lvl1pPr>
          </a:lstStyle>
          <a:p>
            <a:pPr indent="0">
              <a:buNone/>
            </a:pPr>
            <a:r>
              <a:rPr b="0" lang="ru-RU" sz="1400" strike="noStrike" u="none">
                <a:solidFill>
                  <a:srgbClr val="000000"/>
                </a:solidFill>
                <a:effectLst/>
                <a:uFillTx/>
                <a:latin typeface="Times New Roman"/>
              </a:rPr>
              <a:t>&lt;footer&gt;</a:t>
            </a:r>
            <a:endParaRPr b="0" lang="ru-RU" sz="1400" strike="noStrike" u="none">
              <a:solidFill>
                <a:srgbClr val="000000"/>
              </a:solidFill>
              <a:effectLst/>
              <a:uFillTx/>
              <a:latin typeface="Times New Roman"/>
            </a:endParaRPr>
          </a:p>
        </p:txBody>
      </p:sp>
      <p:sp>
        <p:nvSpPr>
          <p:cNvPr id="13"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ru-RU" sz="1400" strike="noStrike" u="none">
                <a:solidFill>
                  <a:srgbClr val="000000"/>
                </a:solidFill>
                <a:effectLst/>
                <a:uFillTx/>
                <a:latin typeface="Times New Roman"/>
              </a:defRPr>
            </a:lvl1pPr>
          </a:lstStyle>
          <a:p>
            <a:pPr indent="0" algn="r">
              <a:buNone/>
            </a:pPr>
            <a:fld id="{6D69D581-CDB9-4EF1-ABCB-DD402A81C465}" type="slidenum">
              <a:rPr b="0" lang="ru-RU" sz="1400" strike="noStrike" u="none">
                <a:solidFill>
                  <a:srgbClr val="000000"/>
                </a:solidFill>
                <a:effectLst/>
                <a:uFillTx/>
                <a:latin typeface="Times New Roman"/>
              </a:rPr>
              <a:t>&lt;number&gt;</a:t>
            </a:fld>
            <a:endParaRPr b="0" lang="ru-RU"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685800" y="1143000"/>
            <a:ext cx="5486040" cy="3085920"/>
          </a:xfrm>
          <a:prstGeom prst="rect">
            <a:avLst/>
          </a:prstGeom>
          <a:ln w="0">
            <a:noFill/>
          </a:ln>
        </p:spPr>
      </p:sp>
      <p:sp>
        <p:nvSpPr>
          <p:cNvPr id="6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Opening pitch: Cerebras has made inference speed a strategic differentiator. The next strategic differentiator can be trust: not just “fastest AI,” but “verifiably confidential AI.” This proposal extends confidential computing from CPU memory into the Cerebras wafer-scale execution domain, so model IP, user data, agent credentials, and plaintext cryptographic keys are protected by hardware-backed isolation and attestation.</a:t>
            </a:r>
            <a:endParaRPr b="0" lang="ru-RU" sz="2000" strike="noStrike" u="none">
              <a:solidFill>
                <a:srgbClr val="000000"/>
              </a:solidFill>
              <a:effectLst/>
              <a:uFillTx/>
              <a:latin typeface="Arial"/>
            </a:endParaRPr>
          </a:p>
        </p:txBody>
      </p:sp>
      <p:sp>
        <p:nvSpPr>
          <p:cNvPr id="686"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F6E71C2-7941-4C29-A216-93C93BB7FB03}"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685800" y="1143000"/>
            <a:ext cx="5486040" cy="3085920"/>
          </a:xfrm>
          <a:prstGeom prst="rect">
            <a:avLst/>
          </a:prstGeom>
          <a:ln w="0">
            <a:noFill/>
          </a:ln>
        </p:spPr>
      </p:sp>
      <p:sp>
        <p:nvSpPr>
          <p:cNvPr id="6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Message to executives: This is not a feature checklist. It is a platform-level opportunity. Cerebras already owns the performance story. C-CCA adds a trust story that matters to regulated, sovereign, and high-value customers.</a:t>
            </a:r>
            <a:endParaRPr b="0" lang="ru-RU" sz="2000" strike="noStrike" u="none">
              <a:solidFill>
                <a:srgbClr val="000000"/>
              </a:solidFill>
              <a:effectLst/>
              <a:uFillTx/>
              <a:latin typeface="Arial"/>
            </a:endParaRPr>
          </a:p>
        </p:txBody>
      </p:sp>
      <p:sp>
        <p:nvSpPr>
          <p:cNvPr id="689"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9609C01-4092-4666-A0DD-6F584C1CFA63}"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685800" y="1143000"/>
            <a:ext cx="5486040" cy="3085920"/>
          </a:xfrm>
          <a:prstGeom prst="rect">
            <a:avLst/>
          </a:prstGeom>
          <a:ln w="0">
            <a:noFill/>
          </a:ln>
        </p:spPr>
      </p:sp>
      <p:sp>
        <p:nvSpPr>
          <p:cNvPr id="6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Use the current CS-4 story as the timing argument. Cerebras says developers want responsive agentic applications and hyperscale operators need modular infrastructure. That growth increases the value of confidentiality and attestation because agents increasingly touch protected enterprise data and credentials.</a:t>
            </a:r>
            <a:endParaRPr b="0" lang="ru-RU" sz="2000" strike="noStrike" u="none">
              <a:solidFill>
                <a:srgbClr val="000000"/>
              </a:solidFill>
              <a:effectLst/>
              <a:uFillTx/>
              <a:latin typeface="Arial"/>
            </a:endParaRPr>
          </a:p>
        </p:txBody>
      </p:sp>
      <p:sp>
        <p:nvSpPr>
          <p:cNvPr id="692"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43996D9-0385-439A-9119-A4F367D4B099}"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685800" y="1143000"/>
            <a:ext cx="5486040" cy="3085920"/>
          </a:xfrm>
          <a:prstGeom prst="rect">
            <a:avLst/>
          </a:prstGeom>
          <a:ln w="0">
            <a:noFill/>
          </a:ln>
        </p:spPr>
      </p:sp>
      <p:sp>
        <p:nvSpPr>
          <p:cNvPr id="6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Be explicit about the distinction. We are not claiming Cerebras lacks security. We are identifying an architectural gap in the public documentation: a CPU CVM can protect CPU memory, but a confidential AI platform needs a trustworthy accelerator execution domain.</a:t>
            </a:r>
            <a:endParaRPr b="0" lang="ru-RU" sz="2000" strike="noStrike" u="none">
              <a:solidFill>
                <a:srgbClr val="000000"/>
              </a:solidFill>
              <a:effectLst/>
              <a:uFillTx/>
              <a:latin typeface="Arial"/>
            </a:endParaRPr>
          </a:p>
        </p:txBody>
      </p:sp>
      <p:sp>
        <p:nvSpPr>
          <p:cNvPr id="695"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ED0EB9B-7587-4BEE-BA24-868BC639F037}"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685800" y="1143000"/>
            <a:ext cx="5486040" cy="3085920"/>
          </a:xfrm>
          <a:prstGeom prst="rect">
            <a:avLst/>
          </a:prstGeom>
          <a:ln w="0">
            <a:noFill/>
          </a:ln>
        </p:spPr>
      </p:sp>
      <p:sp>
        <p:nvSpPr>
          <p:cNvPr id="6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Executives should see that the architecture is threat-model driven. The first commercial target is a strong software adversary: host OS, hypervisor, management plane, DMA. Physical side channels can be a separate high-assurance tier.</a:t>
            </a:r>
            <a:endParaRPr b="0" lang="ru-RU" sz="2000" strike="noStrike" u="none">
              <a:solidFill>
                <a:srgbClr val="000000"/>
              </a:solidFill>
              <a:effectLst/>
              <a:uFillTx/>
              <a:latin typeface="Arial"/>
            </a:endParaRPr>
          </a:p>
        </p:txBody>
      </p:sp>
      <p:sp>
        <p:nvSpPr>
          <p:cNvPr id="698"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42377BF-415C-4A45-BA7A-16B07283B416}"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685800" y="1143000"/>
            <a:ext cx="5486040" cy="3085920"/>
          </a:xfrm>
          <a:prstGeom prst="rect">
            <a:avLst/>
          </a:prstGeom>
          <a:ln w="0">
            <a:noFill/>
          </a:ln>
        </p:spPr>
      </p:sp>
      <p:sp>
        <p:nvSpPr>
          <p:cNvPr id="7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is the core picture. The CPU CVM is necessary but insufficient. The WSE confidential domain adds hardware-enforced isolation of compute, SRAM, fabric, and DMA. A composite attestation binds the two.</a:t>
            </a:r>
            <a:endParaRPr b="0" lang="ru-RU" sz="2000" strike="noStrike" u="none">
              <a:solidFill>
                <a:srgbClr val="000000"/>
              </a:solidFill>
              <a:effectLst/>
              <a:uFillTx/>
              <a:latin typeface="Arial"/>
            </a:endParaRPr>
          </a:p>
        </p:txBody>
      </p:sp>
      <p:sp>
        <p:nvSpPr>
          <p:cNvPr id="701"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C8F8C13-7FB5-4C46-A906-38B41C46B845}"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685800" y="1143000"/>
            <a:ext cx="5486040" cy="3085920"/>
          </a:xfrm>
          <a:prstGeom prst="rect">
            <a:avLst/>
          </a:prstGeom>
          <a:ln w="0">
            <a:noFill/>
          </a:ln>
        </p:spPr>
      </p:sp>
      <p:sp>
        <p:nvSpPr>
          <p:cNvPr id="7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is the most novel part of the proposal. We should not literally clone SGX. A WSE needs a coarse-grained, hardware-enforced spatial security domain across PE, SRAM, routing, and DMA. The CDID becomes the primitive that the rest of the security stack consumes.</a:t>
            </a:r>
            <a:endParaRPr b="0" lang="ru-RU" sz="2000" strike="noStrike" u="none">
              <a:solidFill>
                <a:srgbClr val="000000"/>
              </a:solidFill>
              <a:effectLst/>
              <a:uFillTx/>
              <a:latin typeface="Arial"/>
            </a:endParaRPr>
          </a:p>
        </p:txBody>
      </p:sp>
      <p:sp>
        <p:nvSpPr>
          <p:cNvPr id="704"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3B05157-80B7-4CCE-8690-4FCA7187553A}"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685800" y="1143000"/>
            <a:ext cx="5486040" cy="3085920"/>
          </a:xfrm>
          <a:prstGeom prst="rect">
            <a:avLst/>
          </a:prstGeom>
          <a:ln w="0">
            <a:noFill/>
          </a:ln>
        </p:spPr>
      </p:sp>
      <p:sp>
        <p:nvSpPr>
          <p:cNvPr id="7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 security promise is end-to-end data-in-use protection. The protected set is larger than “model weights”: prompts, KV cache, activations, retrieved data and agent state can all contain sensitive information.</a:t>
            </a:r>
            <a:endParaRPr b="0" lang="ru-RU" sz="2000" strike="noStrike" u="none">
              <a:solidFill>
                <a:srgbClr val="000000"/>
              </a:solidFill>
              <a:effectLst/>
              <a:uFillTx/>
              <a:latin typeface="Arial"/>
            </a:endParaRPr>
          </a:p>
        </p:txBody>
      </p:sp>
      <p:sp>
        <p:nvSpPr>
          <p:cNvPr id="707"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46E9B89-617A-412F-9BC8-BFCC34D86DF8}"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685800" y="1143000"/>
            <a:ext cx="5486040" cy="3085920"/>
          </a:xfrm>
          <a:prstGeom prst="rect">
            <a:avLst/>
          </a:prstGeom>
          <a:ln w="0">
            <a:noFill/>
          </a:ln>
        </p:spPr>
      </p:sp>
      <p:sp>
        <p:nvSpPr>
          <p:cNvPr id="7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 cryptography story can be stronger than generic memory encryption. Put a small crypto service inside the confidential domain. Applications receive key handles, not private key bytes. For threshold cryptography, require attested participants and never reconstruct the full key outside the protected domain.</a:t>
            </a:r>
            <a:endParaRPr b="0" lang="ru-RU" sz="2000" strike="noStrike" u="none">
              <a:solidFill>
                <a:srgbClr val="000000"/>
              </a:solidFill>
              <a:effectLst/>
              <a:uFillTx/>
              <a:latin typeface="Arial"/>
            </a:endParaRPr>
          </a:p>
        </p:txBody>
      </p:sp>
      <p:sp>
        <p:nvSpPr>
          <p:cNvPr id="710"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76748CD-ADE7-4087-9E19-94343E384FD1}"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685800" y="1143000"/>
            <a:ext cx="5486040" cy="3085920"/>
          </a:xfrm>
          <a:prstGeom prst="rect">
            <a:avLst/>
          </a:prstGeom>
          <a:ln w="0">
            <a:noFill/>
          </a:ln>
        </p:spPr>
      </p:sp>
      <p:sp>
        <p:nvSpPr>
          <p:cNvPr id="7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is the “zero trust” mechanism. Attestation is not just for observability; it becomes the gate in front of the KMS. This is what transforms hardware-backed security into an operational control.</a:t>
            </a:r>
            <a:endParaRPr b="0" lang="ru-RU" sz="2000" strike="noStrike" u="none">
              <a:solidFill>
                <a:srgbClr val="000000"/>
              </a:solidFill>
              <a:effectLst/>
              <a:uFillTx/>
              <a:latin typeface="Arial"/>
            </a:endParaRPr>
          </a:p>
        </p:txBody>
      </p:sp>
      <p:sp>
        <p:nvSpPr>
          <p:cNvPr id="713"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3ED020D-119E-48EE-BD53-4C47D48184AE}"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685800" y="1143000"/>
            <a:ext cx="5486040" cy="3085920"/>
          </a:xfrm>
          <a:prstGeom prst="rect">
            <a:avLst/>
          </a:prstGeom>
          <a:ln w="0">
            <a:noFill/>
          </a:ln>
        </p:spPr>
      </p:sp>
      <p:sp>
        <p:nvSpPr>
          <p:cNvPr id="7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is a strategic growth area. A fast inference engine is ideal for agents, but an agent that can sign, transact, query private databases, or call cloud APIs needs confidential credentials. C-CCA can make that safe enough for more sensitive deployments.</a:t>
            </a:r>
            <a:endParaRPr b="0" lang="ru-RU" sz="2000" strike="noStrike" u="none">
              <a:solidFill>
                <a:srgbClr val="000000"/>
              </a:solidFill>
              <a:effectLst/>
              <a:uFillTx/>
              <a:latin typeface="Arial"/>
            </a:endParaRPr>
          </a:p>
        </p:txBody>
      </p:sp>
      <p:sp>
        <p:nvSpPr>
          <p:cNvPr id="716"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3FFCD86-4BE2-40F9-8558-73F29949DDF1}"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685800" y="1143000"/>
            <a:ext cx="5486040" cy="3085920"/>
          </a:xfrm>
          <a:prstGeom prst="rect">
            <a:avLst/>
          </a:prstGeom>
          <a:ln w="0">
            <a:noFill/>
          </a:ln>
        </p:spPr>
      </p:sp>
      <p:sp>
        <p:nvSpPr>
          <p:cNvPr id="7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is the market prioritization slide. The common denominator is not simply “regulated industry”; it is situations where confidential data, proprietary model IP, and high-value actions coexist. Those customers will pay for verifiable confidentiality if it comes with Cerebras performance.</a:t>
            </a:r>
            <a:endParaRPr b="0" lang="ru-RU" sz="2000" strike="noStrike" u="none">
              <a:solidFill>
                <a:srgbClr val="000000"/>
              </a:solidFill>
              <a:effectLst/>
              <a:uFillTx/>
              <a:latin typeface="Arial"/>
            </a:endParaRPr>
          </a:p>
        </p:txBody>
      </p:sp>
      <p:sp>
        <p:nvSpPr>
          <p:cNvPr id="719"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38E9E79-80A6-476A-8CA3-79954A1776F2}"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685800" y="1143000"/>
            <a:ext cx="5486040" cy="3085920"/>
          </a:xfrm>
          <a:prstGeom prst="rect">
            <a:avLst/>
          </a:prstGeom>
          <a:ln w="0">
            <a:noFill/>
          </a:ln>
        </p:spPr>
      </p:sp>
      <p:sp>
        <p:nvSpPr>
          <p:cNvPr id="7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 competitive message: NVIDIA has demonstrated accelerator confidentiality and remote attestation. Intel has demonstrated confidential VMs. Cerebras can combine those concepts with the wafer-scale architecture and potentially make the fabric itself part of the enclave.</a:t>
            </a:r>
            <a:endParaRPr b="0" lang="ru-RU" sz="2000" strike="noStrike" u="none">
              <a:solidFill>
                <a:srgbClr val="000000"/>
              </a:solidFill>
              <a:effectLst/>
              <a:uFillTx/>
              <a:latin typeface="Arial"/>
            </a:endParaRPr>
          </a:p>
        </p:txBody>
      </p:sp>
      <p:sp>
        <p:nvSpPr>
          <p:cNvPr id="722"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5316AA0-6FB4-4E65-8885-FC47D2E44A38}"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685800" y="1143000"/>
            <a:ext cx="5486040" cy="3085920"/>
          </a:xfrm>
          <a:prstGeom prst="rect">
            <a:avLst/>
          </a:prstGeom>
          <a:ln w="0">
            <a:noFill/>
          </a:ln>
        </p:spPr>
      </p:sp>
      <p:sp>
        <p:nvSpPr>
          <p:cNvPr id="7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 proposal starts without waiting for a new chip. A software prototype can prove the trust model, key release protocol, model measurement, and workload lifecycle. That creates concrete requirements for the next WSE generation.</a:t>
            </a:r>
            <a:endParaRPr b="0" lang="ru-RU" sz="2000" strike="noStrike" u="none">
              <a:solidFill>
                <a:srgbClr val="000000"/>
              </a:solidFill>
              <a:effectLst/>
              <a:uFillTx/>
              <a:latin typeface="Arial"/>
            </a:endParaRPr>
          </a:p>
        </p:txBody>
      </p:sp>
      <p:sp>
        <p:nvSpPr>
          <p:cNvPr id="725" name="PlaceHolder 3"/>
          <p:cNvSpPr>
            <a:spLocks noGrp="1"/>
          </p:cNvSpPr>
          <p:nvPr>
            <p:ph type="sldNum" idx="3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9B07313-36B3-43C1-B6BE-37A7D85474FC}"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685800" y="1143000"/>
            <a:ext cx="5486040" cy="3085920"/>
          </a:xfrm>
          <a:prstGeom prst="rect">
            <a:avLst/>
          </a:prstGeom>
          <a:ln w="0">
            <a:noFill/>
          </a:ln>
        </p:spPr>
      </p:sp>
      <p:sp>
        <p:nvSpPr>
          <p:cNvPr id="7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Close on the ask, not on the technology. We are asking for an architecture sprint with a concrete PoC. The product promise is simple: a customer can verify where its model, data and cryptographic authority reside, even when the infrastructure is not trusted.</a:t>
            </a:r>
            <a:endParaRPr b="0" lang="ru-RU" sz="2000" strike="noStrike" u="none">
              <a:solidFill>
                <a:srgbClr val="000000"/>
              </a:solidFill>
              <a:effectLst/>
              <a:uFillTx/>
              <a:latin typeface="Arial"/>
            </a:endParaRPr>
          </a:p>
        </p:txBody>
      </p:sp>
      <p:sp>
        <p:nvSpPr>
          <p:cNvPr id="728" name="PlaceHolder 3"/>
          <p:cNvSpPr>
            <a:spLocks noGrp="1"/>
          </p:cNvSpPr>
          <p:nvPr>
            <p:ph type="sldNum" idx="3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0244B96-6B7E-4B3B-B0DC-86DA71EA72BA}"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685800" y="1143000"/>
            <a:ext cx="5486040" cy="3085920"/>
          </a:xfrm>
          <a:prstGeom prst="rect">
            <a:avLst/>
          </a:prstGeom>
          <a:ln w="0">
            <a:noFill/>
          </a:ln>
        </p:spPr>
      </p:sp>
      <p:sp>
        <p:nvSpPr>
          <p:cNvPr id="7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Use these invariants as the technical north star. Any implementation choice should be judged against them.</a:t>
            </a:r>
            <a:endParaRPr b="0" lang="ru-RU" sz="2000" strike="noStrike" u="none">
              <a:solidFill>
                <a:srgbClr val="000000"/>
              </a:solidFill>
              <a:effectLst/>
              <a:uFillTx/>
              <a:latin typeface="Arial"/>
            </a:endParaRPr>
          </a:p>
        </p:txBody>
      </p:sp>
      <p:sp>
        <p:nvSpPr>
          <p:cNvPr id="731" name="PlaceHolder 3"/>
          <p:cNvSpPr>
            <a:spLocks noGrp="1"/>
          </p:cNvSpPr>
          <p:nvPr>
            <p:ph type="sldNum" idx="3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6014B68-C5A6-4E0D-8B0B-86A907519B64}" type="slidenum">
              <a:rPr b="0" lang="en-US" sz="1200" strike="noStrike" u="none">
                <a:solidFill>
                  <a:schemeClr val="dk1"/>
                </a:solidFill>
                <a:effectLst/>
                <a:uFillTx/>
                <a:latin typeface="+mn-lt"/>
                <a:ea typeface="+mn-ea"/>
              </a:rPr>
              <a:t>&lt;number&gt;</a:t>
            </a:fld>
            <a:endParaRPr b="0" lang="ru-RU"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400" cy="72720"/>
          </a:xfrm>
          <a:prstGeom prst="rect">
            <a:avLst/>
          </a:prstGeom>
          <a:solidFill>
            <a:srgbClr val="ff6b35"/>
          </a:solidFill>
          <a:ln w="12700">
            <a:solidFill>
              <a:srgbClr val="ff6b35"/>
            </a:solidFill>
            <a:round/>
          </a:ln>
        </p:spPr>
        <p:style>
          <a:lnRef idx="0"/>
          <a:fillRef idx="0"/>
          <a:effectRef idx="0"/>
          <a:fontRef idx="minor"/>
        </p:style>
        <p:txBody>
          <a:bodyPr lIns="90000" rIns="90000" tIns="28080" bIns="28080" anchor="t">
            <a:noAutofit/>
          </a:bodyPr>
          <a:p>
            <a:endParaRPr b="0" lang="ru-RU" sz="1800" strike="noStrike" u="none">
              <a:solidFill>
                <a:srgbClr val="ffffff"/>
              </a:solidFill>
              <a:effectLst/>
              <a:uFillTx/>
              <a:latin typeface="Arial"/>
            </a:endParaRPr>
          </a:p>
        </p:txBody>
      </p:sp>
      <p:sp>
        <p:nvSpPr>
          <p:cNvPr id="3" name="Text 1"/>
          <p:cNvSpPr/>
          <p:nvPr/>
        </p:nvSpPr>
        <p:spPr>
          <a:xfrm>
            <a:off x="502920" y="6473880"/>
            <a:ext cx="786348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60" strike="noStrike" u="none">
                <a:solidFill>
                  <a:srgbClr val="93a4bd"/>
                </a:solidFill>
                <a:effectLst/>
                <a:uFillTx/>
                <a:latin typeface="Aptos"/>
                <a:ea typeface="Aptos"/>
              </a:rPr>
              <a:t>CEREBRAS CONFIDENTIAL COMPUTING ARCHITECTURE  |  PROPOSAL</a:t>
            </a:r>
            <a:endParaRPr b="0" lang="ru-RU" sz="750" strike="noStrike" u="none">
              <a:solidFill>
                <a:srgbClr val="ffffff"/>
              </a:solidFill>
              <a:effectLst/>
              <a:uFillTx/>
              <a:latin typeface="Arial"/>
            </a:endParaRPr>
          </a:p>
        </p:txBody>
      </p:sp>
      <p:sp>
        <p:nvSpPr>
          <p:cNvPr id="4" name="Text 2"/>
          <p:cNvSpPr/>
          <p:nvPr/>
        </p:nvSpPr>
        <p:spPr>
          <a:xfrm>
            <a:off x="10469880" y="6473880"/>
            <a:ext cx="11883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trike="noStrike" u="none">
                <a:solidFill>
                  <a:srgbClr val="93a4bd"/>
                </a:solidFill>
                <a:effectLst/>
                <a:uFillTx/>
                <a:latin typeface="Aptos"/>
                <a:ea typeface="Aptos"/>
              </a:rPr>
              <a:t>September 2026</a:t>
            </a:r>
            <a:endParaRPr b="0" lang="ru-RU" sz="750" strike="noStrike" u="none">
              <a:solidFill>
                <a:srgbClr val="ffffff"/>
              </a:solidFill>
              <a:effectLst/>
              <a:uFillTx/>
              <a:latin typeface="Arial"/>
            </a:endParaRPr>
          </a:p>
        </p:txBody>
      </p:sp>
      <p:sp>
        <p:nvSpPr>
          <p:cNvPr id="5" name="PlaceHolder 1"/>
          <p:cNvSpPr>
            <a:spLocks noGrp="1"/>
          </p:cNvSpPr>
          <p:nvPr>
            <p:ph type="sldNum" idx="1"/>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A288F4C5-CD70-456A-8DA6-57DC36CA1EC5}"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
        <p:nvSpPr>
          <p:cNvPr id="6"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ru-RU" sz="1800" strike="noStrike" u="none">
                <a:solidFill>
                  <a:schemeClr val="dk1"/>
                </a:solidFill>
                <a:effectLst/>
                <a:uFillTx/>
                <a:latin typeface="Aptos"/>
              </a:rPr>
              <a:t>Click to edit the title text format</a:t>
            </a:r>
            <a:endParaRPr b="0" lang="ru-RU" sz="1800" strike="noStrike" u="none">
              <a:solidFill>
                <a:schemeClr val="dk1"/>
              </a:solidFill>
              <a:effectLst/>
              <a:uFillTx/>
              <a:latin typeface="Aptos"/>
            </a:endParaRP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ru-RU" sz="3200" strike="noStrike" u="none">
                <a:solidFill>
                  <a:schemeClr val="dk1"/>
                </a:solidFill>
                <a:effectLst/>
                <a:uFillTx/>
                <a:latin typeface="Aptos"/>
              </a:rPr>
              <a:t>Click to edit the outline text format</a:t>
            </a:r>
            <a:endParaRPr b="0" lang="ru-RU" sz="3200" strike="noStrike" u="none">
              <a:solidFill>
                <a:schemeClr val="dk1"/>
              </a:solidFill>
              <a:effectLst/>
              <a:uFillTx/>
              <a:latin typeface="Aptos"/>
            </a:endParaRPr>
          </a:p>
          <a:p>
            <a:pPr lvl="1" marL="864000" indent="-324000">
              <a:spcBef>
                <a:spcPts val="1134"/>
              </a:spcBef>
              <a:buClr>
                <a:srgbClr val="ffffff"/>
              </a:buClr>
              <a:buSzPct val="75000"/>
              <a:buFont typeface="Symbol" charset="2"/>
              <a:buChar char=""/>
            </a:pPr>
            <a:r>
              <a:rPr b="0" lang="ru-RU" sz="2400" strike="noStrike" u="none">
                <a:solidFill>
                  <a:schemeClr val="dk1"/>
                </a:solidFill>
                <a:effectLst/>
                <a:uFillTx/>
                <a:latin typeface="Aptos"/>
              </a:rPr>
              <a:t>Second Outline Level</a:t>
            </a:r>
            <a:endParaRPr b="0" lang="ru-RU" sz="2400" strike="noStrike" u="none">
              <a:solidFill>
                <a:schemeClr val="dk1"/>
              </a:solidFill>
              <a:effectLst/>
              <a:uFillTx/>
              <a:latin typeface="Aptos"/>
            </a:endParaRPr>
          </a:p>
          <a:p>
            <a:pPr lvl="2" marL="1296000" indent="-288000">
              <a:spcBef>
                <a:spcPts val="850"/>
              </a:spcBef>
              <a:buClr>
                <a:srgbClr val="ffffff"/>
              </a:buClr>
              <a:buSzPct val="45000"/>
              <a:buFont typeface="Wingdings" charset="2"/>
              <a:buChar char=""/>
            </a:pPr>
            <a:r>
              <a:rPr b="0" lang="ru-RU" sz="2000" strike="noStrike" u="none">
                <a:solidFill>
                  <a:schemeClr val="dk1"/>
                </a:solidFill>
                <a:effectLst/>
                <a:uFillTx/>
                <a:latin typeface="Aptos"/>
              </a:rPr>
              <a:t>Third Outline Level</a:t>
            </a:r>
            <a:endParaRPr b="0" lang="ru-RU" sz="2000" strike="noStrike" u="none">
              <a:solidFill>
                <a:schemeClr val="dk1"/>
              </a:solidFill>
              <a:effectLst/>
              <a:uFillTx/>
              <a:latin typeface="Aptos"/>
            </a:endParaRPr>
          </a:p>
          <a:p>
            <a:pPr lvl="3" marL="1728000" indent="-216000">
              <a:spcBef>
                <a:spcPts val="567"/>
              </a:spcBef>
              <a:buClr>
                <a:srgbClr val="ffffff"/>
              </a:buClr>
              <a:buSzPct val="75000"/>
              <a:buFont typeface="Symbol" charset="2"/>
              <a:buChar char=""/>
            </a:pPr>
            <a:r>
              <a:rPr b="0" lang="ru-RU" sz="2000" strike="noStrike" u="none">
                <a:solidFill>
                  <a:schemeClr val="dk1"/>
                </a:solidFill>
                <a:effectLst/>
                <a:uFillTx/>
                <a:latin typeface="Aptos"/>
              </a:rPr>
              <a:t>Fourth Outline Level</a:t>
            </a:r>
            <a:endParaRPr b="0" lang="ru-RU" sz="2000" strike="noStrike" u="none">
              <a:solidFill>
                <a:schemeClr val="dk1"/>
              </a:solidFill>
              <a:effectLst/>
              <a:uFillTx/>
              <a:latin typeface="Aptos"/>
            </a:endParaRPr>
          </a:p>
          <a:p>
            <a:pPr lvl="4" marL="2160000" indent="-216000">
              <a:spcBef>
                <a:spcPts val="283"/>
              </a:spcBef>
              <a:buClr>
                <a:srgbClr val="ffffff"/>
              </a:buClr>
              <a:buSzPct val="45000"/>
              <a:buFont typeface="Wingdings" charset="2"/>
              <a:buChar char=""/>
            </a:pPr>
            <a:r>
              <a:rPr b="0" lang="ru-RU" sz="2000" strike="noStrike" u="none">
                <a:solidFill>
                  <a:schemeClr val="dk1"/>
                </a:solidFill>
                <a:effectLst/>
                <a:uFillTx/>
                <a:latin typeface="Aptos"/>
              </a:rPr>
              <a:t>Fifth Outline Level</a:t>
            </a:r>
            <a:endParaRPr b="0" lang="ru-RU" sz="2000" strike="noStrike" u="none">
              <a:solidFill>
                <a:schemeClr val="dk1"/>
              </a:solidFill>
              <a:effectLst/>
              <a:uFillTx/>
              <a:latin typeface="Aptos"/>
            </a:endParaRPr>
          </a:p>
          <a:p>
            <a:pPr lvl="5" marL="2592000" indent="-216000">
              <a:spcBef>
                <a:spcPts val="283"/>
              </a:spcBef>
              <a:buClr>
                <a:srgbClr val="ffffff"/>
              </a:buClr>
              <a:buSzPct val="45000"/>
              <a:buFont typeface="Wingdings" charset="2"/>
              <a:buChar char=""/>
            </a:pPr>
            <a:r>
              <a:rPr b="0" lang="ru-RU" sz="2000" strike="noStrike" u="none">
                <a:solidFill>
                  <a:schemeClr val="dk1"/>
                </a:solidFill>
                <a:effectLst/>
                <a:uFillTx/>
                <a:latin typeface="Aptos"/>
              </a:rPr>
              <a:t>Sixth Outline Level</a:t>
            </a:r>
            <a:endParaRPr b="0" lang="ru-RU" sz="2000" strike="noStrike" u="none">
              <a:solidFill>
                <a:schemeClr val="dk1"/>
              </a:solidFill>
              <a:effectLst/>
              <a:uFillTx/>
              <a:latin typeface="Aptos"/>
            </a:endParaRPr>
          </a:p>
          <a:p>
            <a:pPr lvl="6" marL="3024000" indent="-216000">
              <a:spcBef>
                <a:spcPts val="283"/>
              </a:spcBef>
              <a:buClr>
                <a:srgbClr val="ffffff"/>
              </a:buClr>
              <a:buSzPct val="45000"/>
              <a:buFont typeface="Wingdings" charset="2"/>
              <a:buChar char=""/>
            </a:pPr>
            <a:r>
              <a:rPr b="0" lang="ru-RU" sz="2000" strike="noStrike" u="none">
                <a:solidFill>
                  <a:schemeClr val="dk1"/>
                </a:solidFill>
                <a:effectLst/>
                <a:uFillTx/>
                <a:latin typeface="Aptos"/>
              </a:rPr>
              <a:t>Seventh Outline Level</a:t>
            </a:r>
            <a:endParaRPr b="0" lang="ru-RU" sz="2000" strike="noStrike" u="non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4" name="Shape 8"/>
          <p:cNvSpPr/>
          <p:nvPr/>
        </p:nvSpPr>
        <p:spPr>
          <a:xfrm>
            <a:off x="7040880" y="146304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15" name="Shape 9"/>
          <p:cNvSpPr/>
          <p:nvPr/>
        </p:nvSpPr>
        <p:spPr>
          <a:xfrm>
            <a:off x="7452360" y="146304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16" name="Shape 10"/>
          <p:cNvSpPr/>
          <p:nvPr/>
        </p:nvSpPr>
        <p:spPr>
          <a:xfrm>
            <a:off x="7863840" y="146304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17" name="Shape 11"/>
          <p:cNvSpPr/>
          <p:nvPr/>
        </p:nvSpPr>
        <p:spPr>
          <a:xfrm>
            <a:off x="8275320" y="146304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18" name="Shape 12"/>
          <p:cNvSpPr/>
          <p:nvPr/>
        </p:nvSpPr>
        <p:spPr>
          <a:xfrm>
            <a:off x="8686800" y="146304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19" name="Shape 13"/>
          <p:cNvSpPr/>
          <p:nvPr/>
        </p:nvSpPr>
        <p:spPr>
          <a:xfrm>
            <a:off x="9098280" y="146304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0" name="Shape 14"/>
          <p:cNvSpPr/>
          <p:nvPr/>
        </p:nvSpPr>
        <p:spPr>
          <a:xfrm>
            <a:off x="9509760" y="146304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1" name="Shape 15"/>
          <p:cNvSpPr/>
          <p:nvPr/>
        </p:nvSpPr>
        <p:spPr>
          <a:xfrm>
            <a:off x="9921240" y="146304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2" name="Shape 16"/>
          <p:cNvSpPr/>
          <p:nvPr/>
        </p:nvSpPr>
        <p:spPr>
          <a:xfrm>
            <a:off x="7040880" y="187452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3" name="Shape 17"/>
          <p:cNvSpPr/>
          <p:nvPr/>
        </p:nvSpPr>
        <p:spPr>
          <a:xfrm>
            <a:off x="7452360" y="187452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4" name="Shape 18"/>
          <p:cNvSpPr/>
          <p:nvPr/>
        </p:nvSpPr>
        <p:spPr>
          <a:xfrm>
            <a:off x="7863840" y="187452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5" name="Shape 19"/>
          <p:cNvSpPr/>
          <p:nvPr/>
        </p:nvSpPr>
        <p:spPr>
          <a:xfrm>
            <a:off x="8275320" y="187452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6" name="Shape 20"/>
          <p:cNvSpPr/>
          <p:nvPr/>
        </p:nvSpPr>
        <p:spPr>
          <a:xfrm>
            <a:off x="8686800" y="187452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7" name="Shape 21"/>
          <p:cNvSpPr/>
          <p:nvPr/>
        </p:nvSpPr>
        <p:spPr>
          <a:xfrm>
            <a:off x="9098280" y="187452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8" name="Shape 22"/>
          <p:cNvSpPr/>
          <p:nvPr/>
        </p:nvSpPr>
        <p:spPr>
          <a:xfrm>
            <a:off x="9509760" y="187452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29" name="Shape 23"/>
          <p:cNvSpPr/>
          <p:nvPr/>
        </p:nvSpPr>
        <p:spPr>
          <a:xfrm>
            <a:off x="9921240" y="187452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0" name="Shape 24"/>
          <p:cNvSpPr/>
          <p:nvPr/>
        </p:nvSpPr>
        <p:spPr>
          <a:xfrm>
            <a:off x="7040880" y="228600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1" name="Shape 25"/>
          <p:cNvSpPr/>
          <p:nvPr/>
        </p:nvSpPr>
        <p:spPr>
          <a:xfrm>
            <a:off x="7452360" y="228600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2" name="Shape 26"/>
          <p:cNvSpPr/>
          <p:nvPr/>
        </p:nvSpPr>
        <p:spPr>
          <a:xfrm>
            <a:off x="7863840" y="228600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3" name="Shape 27"/>
          <p:cNvSpPr/>
          <p:nvPr/>
        </p:nvSpPr>
        <p:spPr>
          <a:xfrm>
            <a:off x="8275320" y="228600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4" name="Shape 28"/>
          <p:cNvSpPr/>
          <p:nvPr/>
        </p:nvSpPr>
        <p:spPr>
          <a:xfrm>
            <a:off x="8686800" y="228600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5" name="Shape 29"/>
          <p:cNvSpPr/>
          <p:nvPr/>
        </p:nvSpPr>
        <p:spPr>
          <a:xfrm>
            <a:off x="9098280" y="228600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6" name="Shape 30"/>
          <p:cNvSpPr/>
          <p:nvPr/>
        </p:nvSpPr>
        <p:spPr>
          <a:xfrm>
            <a:off x="9509760" y="228600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7" name="Shape 31"/>
          <p:cNvSpPr/>
          <p:nvPr/>
        </p:nvSpPr>
        <p:spPr>
          <a:xfrm>
            <a:off x="9921240" y="228600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8" name="Shape 32"/>
          <p:cNvSpPr/>
          <p:nvPr/>
        </p:nvSpPr>
        <p:spPr>
          <a:xfrm>
            <a:off x="7040880" y="269748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39" name="Shape 33"/>
          <p:cNvSpPr/>
          <p:nvPr/>
        </p:nvSpPr>
        <p:spPr>
          <a:xfrm>
            <a:off x="7452360" y="269748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40" name="Shape 34"/>
          <p:cNvSpPr/>
          <p:nvPr/>
        </p:nvSpPr>
        <p:spPr>
          <a:xfrm>
            <a:off x="7863840" y="269748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41" name="Shape 35"/>
          <p:cNvSpPr/>
          <p:nvPr/>
        </p:nvSpPr>
        <p:spPr>
          <a:xfrm>
            <a:off x="8275320" y="269748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42" name="Shape 36"/>
          <p:cNvSpPr/>
          <p:nvPr/>
        </p:nvSpPr>
        <p:spPr>
          <a:xfrm>
            <a:off x="8686800" y="269748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43" name="Shape 37"/>
          <p:cNvSpPr/>
          <p:nvPr/>
        </p:nvSpPr>
        <p:spPr>
          <a:xfrm>
            <a:off x="9098280" y="269748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44" name="Shape 38"/>
          <p:cNvSpPr/>
          <p:nvPr/>
        </p:nvSpPr>
        <p:spPr>
          <a:xfrm>
            <a:off x="9509760" y="269748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45" name="Shape 39"/>
          <p:cNvSpPr/>
          <p:nvPr/>
        </p:nvSpPr>
        <p:spPr>
          <a:xfrm>
            <a:off x="9921240" y="2697480"/>
            <a:ext cx="45360" cy="45360"/>
          </a:xfrm>
          <a:prstGeom prst="ellipse">
            <a:avLst/>
          </a:prstGeom>
          <a:solidFill>
            <a:srgbClr val="ff6b35">
              <a:alpha val="75000"/>
            </a:srgbClr>
          </a:solidFill>
          <a:ln w="12700">
            <a:solidFill>
              <a:srgbClr val="ff6b35">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ffffff"/>
              </a:solidFill>
              <a:effectLst/>
              <a:uFillTx/>
              <a:latin typeface="Arial"/>
            </a:endParaRPr>
          </a:p>
        </p:txBody>
      </p:sp>
      <p:sp>
        <p:nvSpPr>
          <p:cNvPr id="46" name="Shape 40"/>
          <p:cNvSpPr/>
          <p:nvPr/>
        </p:nvSpPr>
        <p:spPr>
          <a:xfrm>
            <a:off x="7040880" y="310896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47" name="Shape 41"/>
          <p:cNvSpPr/>
          <p:nvPr/>
        </p:nvSpPr>
        <p:spPr>
          <a:xfrm>
            <a:off x="7452360" y="310896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48" name="Shape 42"/>
          <p:cNvSpPr/>
          <p:nvPr/>
        </p:nvSpPr>
        <p:spPr>
          <a:xfrm>
            <a:off x="7863840" y="310896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49" name="Shape 43"/>
          <p:cNvSpPr/>
          <p:nvPr/>
        </p:nvSpPr>
        <p:spPr>
          <a:xfrm>
            <a:off x="8275320" y="310896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0" name="Shape 44"/>
          <p:cNvSpPr/>
          <p:nvPr/>
        </p:nvSpPr>
        <p:spPr>
          <a:xfrm>
            <a:off x="8686800" y="310896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1" name="Shape 45"/>
          <p:cNvSpPr/>
          <p:nvPr/>
        </p:nvSpPr>
        <p:spPr>
          <a:xfrm>
            <a:off x="9098280" y="310896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2" name="Shape 46"/>
          <p:cNvSpPr/>
          <p:nvPr/>
        </p:nvSpPr>
        <p:spPr>
          <a:xfrm>
            <a:off x="9509760" y="310896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3" name="Shape 47"/>
          <p:cNvSpPr/>
          <p:nvPr/>
        </p:nvSpPr>
        <p:spPr>
          <a:xfrm>
            <a:off x="9921240" y="310896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4" name="Shape 48"/>
          <p:cNvSpPr/>
          <p:nvPr/>
        </p:nvSpPr>
        <p:spPr>
          <a:xfrm>
            <a:off x="7040880" y="352044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5" name="Shape 49"/>
          <p:cNvSpPr/>
          <p:nvPr/>
        </p:nvSpPr>
        <p:spPr>
          <a:xfrm>
            <a:off x="7452360" y="352044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6" name="Shape 50"/>
          <p:cNvSpPr/>
          <p:nvPr/>
        </p:nvSpPr>
        <p:spPr>
          <a:xfrm>
            <a:off x="7863840" y="352044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7" name="Shape 51"/>
          <p:cNvSpPr/>
          <p:nvPr/>
        </p:nvSpPr>
        <p:spPr>
          <a:xfrm>
            <a:off x="8275320" y="352044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8" name="Shape 52"/>
          <p:cNvSpPr/>
          <p:nvPr/>
        </p:nvSpPr>
        <p:spPr>
          <a:xfrm>
            <a:off x="8686800" y="352044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59" name="Shape 53"/>
          <p:cNvSpPr/>
          <p:nvPr/>
        </p:nvSpPr>
        <p:spPr>
          <a:xfrm>
            <a:off x="9098280" y="352044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0" name="Shape 54"/>
          <p:cNvSpPr/>
          <p:nvPr/>
        </p:nvSpPr>
        <p:spPr>
          <a:xfrm>
            <a:off x="9509760" y="352044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1" name="Shape 55"/>
          <p:cNvSpPr/>
          <p:nvPr/>
        </p:nvSpPr>
        <p:spPr>
          <a:xfrm>
            <a:off x="9921240" y="352044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2" name="Shape 56"/>
          <p:cNvSpPr/>
          <p:nvPr/>
        </p:nvSpPr>
        <p:spPr>
          <a:xfrm>
            <a:off x="7040880" y="393192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3" name="Shape 57"/>
          <p:cNvSpPr/>
          <p:nvPr/>
        </p:nvSpPr>
        <p:spPr>
          <a:xfrm>
            <a:off x="7452360" y="393192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4" name="Shape 58"/>
          <p:cNvSpPr/>
          <p:nvPr/>
        </p:nvSpPr>
        <p:spPr>
          <a:xfrm>
            <a:off x="7863840" y="393192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5" name="Shape 59"/>
          <p:cNvSpPr/>
          <p:nvPr/>
        </p:nvSpPr>
        <p:spPr>
          <a:xfrm>
            <a:off x="8275320" y="393192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6" name="Shape 60"/>
          <p:cNvSpPr/>
          <p:nvPr/>
        </p:nvSpPr>
        <p:spPr>
          <a:xfrm>
            <a:off x="8686800" y="393192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7" name="Shape 61"/>
          <p:cNvSpPr/>
          <p:nvPr/>
        </p:nvSpPr>
        <p:spPr>
          <a:xfrm>
            <a:off x="9098280" y="393192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8" name="Shape 62"/>
          <p:cNvSpPr/>
          <p:nvPr/>
        </p:nvSpPr>
        <p:spPr>
          <a:xfrm>
            <a:off x="9509760" y="393192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69" name="Shape 63"/>
          <p:cNvSpPr/>
          <p:nvPr/>
        </p:nvSpPr>
        <p:spPr>
          <a:xfrm>
            <a:off x="9921240" y="3931920"/>
            <a:ext cx="45360" cy="45360"/>
          </a:xfrm>
          <a:prstGeom prst="ellipse">
            <a:avLst/>
          </a:prstGeom>
          <a:solidFill>
            <a:srgbClr val="3bd6e8">
              <a:alpha val="75000"/>
            </a:srgbClr>
          </a:solidFill>
          <a:ln w="12700">
            <a:solidFill>
              <a:srgbClr val="3bd6e8">
                <a:alpha val="0"/>
              </a:srgbClr>
            </a:solidFill>
            <a:round/>
          </a:ln>
        </p:spPr>
        <p:style>
          <a:lnRef idx="0"/>
          <a:fillRef idx="0"/>
          <a:effectRef idx="0"/>
          <a:fontRef idx="minor"/>
        </p:style>
        <p:txBody>
          <a:bodyPr lIns="90000" rIns="90000" tIns="-12600" bIns="-12600" anchor="t">
            <a:noAutofit/>
          </a:bodyPr>
          <a:p>
            <a:endParaRPr b="0" lang="ru-RU" sz="1800" strike="noStrike" u="none">
              <a:solidFill>
                <a:srgbClr val="000000"/>
              </a:solidFill>
              <a:effectLst/>
              <a:uFillTx/>
              <a:latin typeface="Arial"/>
            </a:endParaRPr>
          </a:p>
        </p:txBody>
      </p:sp>
      <p:sp>
        <p:nvSpPr>
          <p:cNvPr id="70" name="Text 64"/>
          <p:cNvSpPr/>
          <p:nvPr/>
        </p:nvSpPr>
        <p:spPr>
          <a:xfrm>
            <a:off x="621720" y="567000"/>
            <a:ext cx="36572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201" strike="noStrike" u="none">
                <a:solidFill>
                  <a:srgbClr val="ff6b35"/>
                </a:solidFill>
                <a:effectLst/>
                <a:uFillTx/>
                <a:latin typeface="Aptos"/>
                <a:ea typeface="Aptos"/>
              </a:rPr>
              <a:t>EXECUTIVE PROPOSAL</a:t>
            </a:r>
            <a:endParaRPr b="0" lang="ru-RU" sz="1100" strike="noStrike" u="none">
              <a:solidFill>
                <a:srgbClr val="ffffff"/>
              </a:solidFill>
              <a:effectLst/>
              <a:uFillTx/>
              <a:latin typeface="Arial"/>
            </a:endParaRPr>
          </a:p>
        </p:txBody>
      </p:sp>
      <p:sp>
        <p:nvSpPr>
          <p:cNvPr id="71" name="Text 65"/>
          <p:cNvSpPr/>
          <p:nvPr/>
        </p:nvSpPr>
        <p:spPr>
          <a:xfrm>
            <a:off x="603360" y="1033200"/>
            <a:ext cx="6034680" cy="1481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400" strike="noStrike" u="none">
                <a:solidFill>
                  <a:srgbClr val="f5f7fa"/>
                </a:solidFill>
                <a:effectLst/>
                <a:uFillTx/>
                <a:latin typeface="Aptos"/>
                <a:ea typeface="Aptos"/>
              </a:rPr>
              <a:t>Trusted Intelligence</a:t>
            </a:r>
            <a:endParaRPr b="0" lang="ru-RU" sz="3400" strike="noStrike" u="none">
              <a:solidFill>
                <a:srgbClr val="ffffff"/>
              </a:solidFill>
              <a:effectLst/>
              <a:uFillTx/>
              <a:latin typeface="Arial"/>
            </a:endParaRPr>
          </a:p>
          <a:p>
            <a:pPr defTabSz="914400">
              <a:lnSpc>
                <a:spcPct val="100000"/>
              </a:lnSpc>
              <a:tabLst>
                <a:tab algn="l" pos="0"/>
              </a:tabLst>
            </a:pPr>
            <a:r>
              <a:rPr b="1" lang="en-US" sz="3400" strike="noStrike" u="none">
                <a:solidFill>
                  <a:srgbClr val="f5f7fa"/>
                </a:solidFill>
                <a:effectLst/>
                <a:uFillTx/>
                <a:latin typeface="Aptos"/>
                <a:ea typeface="Aptos"/>
              </a:rPr>
              <a:t>at Wafer Scale</a:t>
            </a:r>
            <a:endParaRPr b="0" lang="ru-RU" sz="3400" strike="noStrike" u="none">
              <a:solidFill>
                <a:srgbClr val="ffffff"/>
              </a:solidFill>
              <a:effectLst/>
              <a:uFillTx/>
              <a:latin typeface="Arial"/>
            </a:endParaRPr>
          </a:p>
        </p:txBody>
      </p:sp>
      <p:sp>
        <p:nvSpPr>
          <p:cNvPr id="72" name="Text 66"/>
          <p:cNvSpPr/>
          <p:nvPr/>
        </p:nvSpPr>
        <p:spPr>
          <a:xfrm>
            <a:off x="621720" y="2697480"/>
            <a:ext cx="5577480" cy="7128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0" lang="en-US" sz="1600" strike="noStrike" u="none">
                <a:solidFill>
                  <a:srgbClr val="d8e2ef"/>
                </a:solidFill>
                <a:effectLst/>
                <a:uFillTx/>
                <a:latin typeface="Aptos"/>
                <a:ea typeface="Aptos"/>
              </a:rPr>
              <a:t>A Cerebras Confidential Computing Architecture (C-CCA)</a:t>
            </a:r>
            <a:endParaRPr b="0" lang="ru-RU" sz="1600" strike="noStrike" u="none">
              <a:solidFill>
                <a:srgbClr val="ffffff"/>
              </a:solidFill>
              <a:effectLst/>
              <a:uFillTx/>
              <a:latin typeface="Arial"/>
            </a:endParaRPr>
          </a:p>
          <a:p>
            <a:pPr defTabSz="914400">
              <a:lnSpc>
                <a:spcPct val="100000"/>
              </a:lnSpc>
              <a:tabLst>
                <a:tab algn="l" pos="0"/>
              </a:tabLst>
            </a:pPr>
            <a:r>
              <a:rPr b="0" lang="en-US" sz="1600" strike="noStrike" u="none">
                <a:solidFill>
                  <a:srgbClr val="d8e2ef"/>
                </a:solidFill>
                <a:effectLst/>
                <a:uFillTx/>
                <a:latin typeface="Aptos"/>
                <a:ea typeface="Aptos"/>
              </a:rPr>
              <a:t>for confidential LLM inference, cryptographic protection, and AI agents</a:t>
            </a:r>
            <a:endParaRPr b="0" lang="ru-RU" sz="1600" strike="noStrike" u="none">
              <a:solidFill>
                <a:srgbClr val="ffffff"/>
              </a:solidFill>
              <a:effectLst/>
              <a:uFillTx/>
              <a:latin typeface="Arial"/>
            </a:endParaRPr>
          </a:p>
        </p:txBody>
      </p:sp>
      <p:sp>
        <p:nvSpPr>
          <p:cNvPr id="73" name="Shape 67"/>
          <p:cNvSpPr/>
          <p:nvPr/>
        </p:nvSpPr>
        <p:spPr>
          <a:xfrm>
            <a:off x="621720" y="3858840"/>
            <a:ext cx="1005480" cy="273960"/>
          </a:xfrm>
          <a:prstGeom prst="roundRect">
            <a:avLst>
              <a:gd name="adj" fmla="val 50000"/>
            </a:avLst>
          </a:prstGeom>
          <a:solidFill>
            <a:srgbClr val="213046"/>
          </a:solidFill>
          <a:ln w="12700">
            <a:solidFill>
              <a:srgbClr val="3bd6e8">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74" name="Text 68"/>
          <p:cNvSpPr/>
          <p:nvPr/>
        </p:nvSpPr>
        <p:spPr>
          <a:xfrm>
            <a:off x="694800" y="3877200"/>
            <a:ext cx="85932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3bd6e8"/>
                </a:solidFill>
                <a:effectLst/>
                <a:uFillTx/>
                <a:latin typeface="Aptos"/>
                <a:ea typeface="Aptos"/>
              </a:rPr>
              <a:t>CPU CVM</a:t>
            </a:r>
            <a:endParaRPr b="0" lang="ru-RU" sz="850" strike="noStrike" u="none">
              <a:solidFill>
                <a:srgbClr val="ffffff"/>
              </a:solidFill>
              <a:effectLst/>
              <a:uFillTx/>
              <a:latin typeface="Arial"/>
            </a:endParaRPr>
          </a:p>
        </p:txBody>
      </p:sp>
      <p:sp>
        <p:nvSpPr>
          <p:cNvPr id="75" name="Shape 69"/>
          <p:cNvSpPr/>
          <p:nvPr/>
        </p:nvSpPr>
        <p:spPr>
          <a:xfrm>
            <a:off x="1719000" y="3858840"/>
            <a:ext cx="1416960" cy="273960"/>
          </a:xfrm>
          <a:prstGeom prst="roundRect">
            <a:avLst>
              <a:gd name="adj" fmla="val 50000"/>
            </a:avLst>
          </a:prstGeom>
          <a:solidFill>
            <a:srgbClr val="213046"/>
          </a:solidFill>
          <a:ln w="12700">
            <a:solidFill>
              <a:srgbClr val="ff6b35">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76" name="Text 70"/>
          <p:cNvSpPr/>
          <p:nvPr/>
        </p:nvSpPr>
        <p:spPr>
          <a:xfrm>
            <a:off x="1792080" y="3877200"/>
            <a:ext cx="12708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6b35"/>
                </a:solidFill>
                <a:effectLst/>
                <a:uFillTx/>
                <a:latin typeface="Aptos"/>
                <a:ea typeface="Aptos"/>
              </a:rPr>
              <a:t>Confidential WSE</a:t>
            </a:r>
            <a:endParaRPr b="0" lang="ru-RU" sz="850" strike="noStrike" u="none">
              <a:solidFill>
                <a:srgbClr val="ffffff"/>
              </a:solidFill>
              <a:effectLst/>
              <a:uFillTx/>
              <a:latin typeface="Arial"/>
            </a:endParaRPr>
          </a:p>
        </p:txBody>
      </p:sp>
      <p:sp>
        <p:nvSpPr>
          <p:cNvPr id="77" name="Shape 71"/>
          <p:cNvSpPr/>
          <p:nvPr/>
        </p:nvSpPr>
        <p:spPr>
          <a:xfrm>
            <a:off x="3246120" y="3858840"/>
            <a:ext cx="1170000" cy="273960"/>
          </a:xfrm>
          <a:prstGeom prst="roundRect">
            <a:avLst>
              <a:gd name="adj" fmla="val 50000"/>
            </a:avLst>
          </a:prstGeom>
          <a:solidFill>
            <a:srgbClr val="213046"/>
          </a:solidFill>
          <a:ln w="12700">
            <a:solidFill>
              <a:srgbClr val="5fe1a0">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78" name="Text 72"/>
          <p:cNvSpPr/>
          <p:nvPr/>
        </p:nvSpPr>
        <p:spPr>
          <a:xfrm>
            <a:off x="3319200" y="3877200"/>
            <a:ext cx="102384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5fe1a0"/>
                </a:solidFill>
                <a:effectLst/>
                <a:uFillTx/>
                <a:latin typeface="Aptos"/>
                <a:ea typeface="Aptos"/>
              </a:rPr>
              <a:t>Attestation</a:t>
            </a:r>
            <a:endParaRPr b="0" lang="ru-RU" sz="850" strike="noStrike" u="none">
              <a:solidFill>
                <a:srgbClr val="ffffff"/>
              </a:solidFill>
              <a:effectLst/>
              <a:uFillTx/>
              <a:latin typeface="Arial"/>
            </a:endParaRPr>
          </a:p>
        </p:txBody>
      </p:sp>
      <p:sp>
        <p:nvSpPr>
          <p:cNvPr id="79" name="Shape 73"/>
          <p:cNvSpPr/>
          <p:nvPr/>
        </p:nvSpPr>
        <p:spPr>
          <a:xfrm>
            <a:off x="4526280" y="3858840"/>
            <a:ext cx="1142640" cy="273960"/>
          </a:xfrm>
          <a:prstGeom prst="roundRect">
            <a:avLst>
              <a:gd name="adj" fmla="val 50000"/>
            </a:avLst>
          </a:prstGeom>
          <a:solidFill>
            <a:srgbClr val="213046"/>
          </a:solidFill>
          <a:ln w="12700">
            <a:solidFill>
              <a:srgbClr val="ffd166">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80" name="Text 74"/>
          <p:cNvSpPr/>
          <p:nvPr/>
        </p:nvSpPr>
        <p:spPr>
          <a:xfrm>
            <a:off x="4599360" y="3877200"/>
            <a:ext cx="9964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d166"/>
                </a:solidFill>
                <a:effectLst/>
                <a:uFillTx/>
                <a:latin typeface="Aptos"/>
                <a:ea typeface="Aptos"/>
              </a:rPr>
              <a:t>KMS / HSM</a:t>
            </a:r>
            <a:endParaRPr b="0" lang="ru-RU" sz="850" strike="noStrike" u="none">
              <a:solidFill>
                <a:srgbClr val="ffffff"/>
              </a:solidFill>
              <a:effectLst/>
              <a:uFillTx/>
              <a:latin typeface="Arial"/>
            </a:endParaRPr>
          </a:p>
        </p:txBody>
      </p:sp>
      <p:sp>
        <p:nvSpPr>
          <p:cNvPr id="81" name="Text 75"/>
          <p:cNvSpPr/>
          <p:nvPr/>
        </p:nvSpPr>
        <p:spPr>
          <a:xfrm>
            <a:off x="621720" y="4754880"/>
            <a:ext cx="5760360" cy="548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1030" strike="noStrike" u="none">
                <a:solidFill>
                  <a:srgbClr val="a9b6c8"/>
                </a:solidFill>
                <a:effectLst/>
                <a:uFillTx/>
                <a:latin typeface="Aptos"/>
                <a:ea typeface="Aptos"/>
              </a:rPr>
              <a:t>Proposal status: new architecture / research direction — not a claim that current WSE-3/CS-4 already exposes a complete TEE.</a:t>
            </a:r>
            <a:endParaRPr b="0" lang="ru-RU" sz="1030" strike="noStrike" u="none">
              <a:solidFill>
                <a:srgbClr val="ffffff"/>
              </a:solidFill>
              <a:effectLst/>
              <a:uFillTx/>
              <a:latin typeface="Arial"/>
            </a:endParaRPr>
          </a:p>
        </p:txBody>
      </p:sp>
      <p:sp>
        <p:nvSpPr>
          <p:cNvPr id="82" name="Text 76"/>
          <p:cNvSpPr/>
          <p:nvPr/>
        </p:nvSpPr>
        <p:spPr>
          <a:xfrm>
            <a:off x="621720" y="5715000"/>
            <a:ext cx="1828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71839c"/>
                </a:solidFill>
                <a:effectLst/>
                <a:uFillTx/>
                <a:latin typeface="Aptos"/>
                <a:ea typeface="Aptos"/>
              </a:rPr>
              <a:t>September 2026</a:t>
            </a:r>
            <a:endParaRPr b="0" lang="ru-RU" sz="1000" strike="noStrike" u="none">
              <a:solidFill>
                <a:srgbClr val="ffffff"/>
              </a:solidFill>
              <a:effectLst/>
              <a:uFillTx/>
              <a:latin typeface="Arial"/>
            </a:endParaRPr>
          </a:p>
        </p:txBody>
      </p:sp>
      <p:sp>
        <p:nvSpPr>
          <p:cNvPr id="83" name="PlaceHolder 1"/>
          <p:cNvSpPr>
            <a:spLocks noGrp="1"/>
          </p:cNvSpPr>
          <p:nvPr>
            <p:ph type="sldNum" idx="5"/>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DCF17A3A-BE41-49D7-8719-91C6D26E876C}"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1 • EXECUTIVE THESIS</a:t>
            </a:r>
            <a:endParaRPr b="0" lang="ru-RU" sz="1000" strike="noStrike" u="none">
              <a:solidFill>
                <a:srgbClr val="ffffff"/>
              </a:solidFill>
              <a:effectLst/>
              <a:uFillTx/>
              <a:latin typeface="Arial"/>
            </a:endParaRPr>
          </a:p>
        </p:txBody>
      </p:sp>
      <p:sp>
        <p:nvSpPr>
          <p:cNvPr id="85"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f5f7fa"/>
                </a:solidFill>
                <a:effectLst/>
                <a:uFillTx/>
                <a:latin typeface="Aptos"/>
                <a:ea typeface="Aptos"/>
              </a:rPr>
              <a:t>Turn “fastest AI” into “trusted AI.”</a:t>
            </a:r>
            <a:endParaRPr b="0" lang="ru-RU" sz="2900" strike="noStrike" u="none">
              <a:solidFill>
                <a:srgbClr val="ffffff"/>
              </a:solidFill>
              <a:effectLst/>
              <a:uFillTx/>
              <a:latin typeface="Arial"/>
            </a:endParaRPr>
          </a:p>
        </p:txBody>
      </p:sp>
      <p:sp>
        <p:nvSpPr>
          <p:cNvPr id="86"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The proposal is a security architecture extension for the Cerebras wafer-scale platform.</a:t>
            </a:r>
            <a:endParaRPr b="0" lang="ru-RU" sz="1250" strike="noStrike" u="none">
              <a:solidFill>
                <a:srgbClr val="ffffff"/>
              </a:solidFill>
              <a:effectLst/>
              <a:uFillTx/>
              <a:latin typeface="Arial"/>
            </a:endParaRPr>
          </a:p>
        </p:txBody>
      </p:sp>
      <p:sp>
        <p:nvSpPr>
          <p:cNvPr id="87"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02</a:t>
            </a:r>
            <a:endParaRPr b="0" lang="ru-RU" sz="1000" strike="noStrike" u="none">
              <a:solidFill>
                <a:srgbClr val="ffffff"/>
              </a:solidFill>
              <a:effectLst/>
              <a:uFillTx/>
              <a:latin typeface="Arial"/>
            </a:endParaRPr>
          </a:p>
        </p:txBody>
      </p:sp>
      <p:sp>
        <p:nvSpPr>
          <p:cNvPr id="88" name="Shape 4"/>
          <p:cNvSpPr/>
          <p:nvPr/>
        </p:nvSpPr>
        <p:spPr>
          <a:xfrm>
            <a:off x="567000" y="2011680"/>
            <a:ext cx="3492720" cy="3245760"/>
          </a:xfrm>
          <a:prstGeom prst="roundRect">
            <a:avLst>
              <a:gd name="adj" fmla="val 4507"/>
            </a:avLst>
          </a:prstGeom>
          <a:solidFill>
            <a:srgbClr val="121c2e"/>
          </a:solidFill>
          <a:ln w="12700">
            <a:solidFill>
              <a:srgbClr val="24344e"/>
            </a:solidFill>
            <a:round/>
          </a:ln>
          <a:effectLst>
            <a:outerShdw algn="bl" blurRad="25560" dir="2700000" dist="12218"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89" name="Text 5"/>
          <p:cNvSpPr/>
          <p:nvPr/>
        </p:nvSpPr>
        <p:spPr>
          <a:xfrm>
            <a:off x="795600" y="2231280"/>
            <a:ext cx="4111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ff6b35"/>
                </a:solidFill>
                <a:effectLst/>
                <a:uFillTx/>
                <a:latin typeface="Aptos"/>
                <a:ea typeface="Aptos"/>
              </a:rPr>
              <a:t>01</a:t>
            </a:r>
            <a:endParaRPr b="0" lang="ru-RU" sz="1800" strike="noStrike" u="none">
              <a:solidFill>
                <a:srgbClr val="ffffff"/>
              </a:solidFill>
              <a:effectLst/>
              <a:uFillTx/>
              <a:latin typeface="Arial"/>
            </a:endParaRPr>
          </a:p>
        </p:txBody>
      </p:sp>
      <p:sp>
        <p:nvSpPr>
          <p:cNvPr id="90" name="Text 6"/>
          <p:cNvSpPr/>
          <p:nvPr/>
        </p:nvSpPr>
        <p:spPr>
          <a:xfrm>
            <a:off x="795600" y="2724840"/>
            <a:ext cx="2971440" cy="7311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2000" strike="noStrike" u="none">
                <a:solidFill>
                  <a:srgbClr val="f5f7fa"/>
                </a:solidFill>
                <a:effectLst/>
                <a:uFillTx/>
                <a:latin typeface="Aptos"/>
                <a:ea typeface="Aptos"/>
              </a:rPr>
              <a:t>AI is becoming infrastructure of action</a:t>
            </a:r>
            <a:endParaRPr b="0" lang="ru-RU" sz="2000" strike="noStrike" u="none">
              <a:solidFill>
                <a:srgbClr val="ffffff"/>
              </a:solidFill>
              <a:effectLst/>
              <a:uFillTx/>
              <a:latin typeface="Arial"/>
            </a:endParaRPr>
          </a:p>
        </p:txBody>
      </p:sp>
      <p:sp>
        <p:nvSpPr>
          <p:cNvPr id="91" name="Text 7"/>
          <p:cNvSpPr/>
          <p:nvPr/>
        </p:nvSpPr>
        <p:spPr>
          <a:xfrm>
            <a:off x="795600" y="3602880"/>
            <a:ext cx="2998800" cy="1170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20" strike="noStrike" u="none">
                <a:solidFill>
                  <a:srgbClr val="d8e2ef"/>
                </a:solidFill>
                <a:effectLst/>
                <a:uFillTx/>
                <a:latin typeface="Aptos"/>
                <a:ea typeface="Aptos"/>
              </a:rPr>
              <a:t>Agentic workloads create a new security boundary: the model is now connected to data, APIs, wallets, and enterprise credentials.</a:t>
            </a:r>
            <a:endParaRPr b="0" lang="ru-RU" sz="1220" strike="noStrike" u="none">
              <a:solidFill>
                <a:srgbClr val="ffffff"/>
              </a:solidFill>
              <a:effectLst/>
              <a:uFillTx/>
              <a:latin typeface="Arial"/>
            </a:endParaRPr>
          </a:p>
        </p:txBody>
      </p:sp>
      <p:sp>
        <p:nvSpPr>
          <p:cNvPr id="92" name="Shape 8"/>
          <p:cNvSpPr/>
          <p:nvPr/>
        </p:nvSpPr>
        <p:spPr>
          <a:xfrm>
            <a:off x="795240" y="4901040"/>
            <a:ext cx="2926080" cy="360"/>
          </a:xfrm>
          <a:prstGeom prst="line">
            <a:avLst/>
          </a:prstGeom>
          <a:ln w="25400">
            <a:solidFill>
              <a:srgbClr val="ff6b35"/>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93" name="Shape 9"/>
          <p:cNvSpPr/>
          <p:nvPr/>
        </p:nvSpPr>
        <p:spPr>
          <a:xfrm>
            <a:off x="4343400" y="2011680"/>
            <a:ext cx="3492720" cy="3245760"/>
          </a:xfrm>
          <a:prstGeom prst="roundRect">
            <a:avLst>
              <a:gd name="adj" fmla="val 4507"/>
            </a:avLst>
          </a:prstGeom>
          <a:solidFill>
            <a:srgbClr val="121c2e"/>
          </a:solidFill>
          <a:ln w="12700">
            <a:solidFill>
              <a:srgbClr val="24344e"/>
            </a:solidFill>
            <a:round/>
          </a:ln>
          <a:effectLst>
            <a:outerShdw algn="bl" blurRad="322580160" dir="0" dist="16129008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94" name="Text 10"/>
          <p:cNvSpPr/>
          <p:nvPr/>
        </p:nvSpPr>
        <p:spPr>
          <a:xfrm>
            <a:off x="4572000" y="2231280"/>
            <a:ext cx="4111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3bd6e8"/>
                </a:solidFill>
                <a:effectLst/>
                <a:uFillTx/>
                <a:latin typeface="Aptos"/>
                <a:ea typeface="Aptos"/>
              </a:rPr>
              <a:t>02</a:t>
            </a:r>
            <a:endParaRPr b="0" lang="ru-RU" sz="1800" strike="noStrike" u="none">
              <a:solidFill>
                <a:srgbClr val="ffffff"/>
              </a:solidFill>
              <a:effectLst/>
              <a:uFillTx/>
              <a:latin typeface="Arial"/>
            </a:endParaRPr>
          </a:p>
        </p:txBody>
      </p:sp>
      <p:sp>
        <p:nvSpPr>
          <p:cNvPr id="95" name="Text 11"/>
          <p:cNvSpPr/>
          <p:nvPr/>
        </p:nvSpPr>
        <p:spPr>
          <a:xfrm>
            <a:off x="4572000" y="2724840"/>
            <a:ext cx="2971440" cy="731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f5f7fa"/>
                </a:solidFill>
                <a:effectLst/>
                <a:uFillTx/>
                <a:latin typeface="Aptos"/>
                <a:ea typeface="Aptos"/>
              </a:rPr>
              <a:t>Confidential VMs stop at the CPU boundary</a:t>
            </a:r>
            <a:endParaRPr b="0" lang="ru-RU" sz="2000" strike="noStrike" u="none">
              <a:solidFill>
                <a:srgbClr val="ffffff"/>
              </a:solidFill>
              <a:effectLst/>
              <a:uFillTx/>
              <a:latin typeface="Arial"/>
            </a:endParaRPr>
          </a:p>
        </p:txBody>
      </p:sp>
      <p:sp>
        <p:nvSpPr>
          <p:cNvPr id="96" name="Text 12"/>
          <p:cNvSpPr/>
          <p:nvPr/>
        </p:nvSpPr>
        <p:spPr>
          <a:xfrm>
            <a:off x="4572000" y="3602880"/>
            <a:ext cx="2998800" cy="1170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20" strike="noStrike" u="none">
                <a:solidFill>
                  <a:srgbClr val="d8e2ef"/>
                </a:solidFill>
                <a:effectLst/>
                <a:uFillTx/>
                <a:latin typeface="Aptos"/>
                <a:ea typeface="Aptos"/>
              </a:rPr>
              <a:t>A CVM protects host memory, but a high-assurance AI platform must also attest and isolate the accelerator execution domain.</a:t>
            </a:r>
            <a:endParaRPr b="0" lang="ru-RU" sz="1220" strike="noStrike" u="none">
              <a:solidFill>
                <a:srgbClr val="ffffff"/>
              </a:solidFill>
              <a:effectLst/>
              <a:uFillTx/>
              <a:latin typeface="Arial"/>
            </a:endParaRPr>
          </a:p>
        </p:txBody>
      </p:sp>
      <p:sp>
        <p:nvSpPr>
          <p:cNvPr id="97" name="Shape 13"/>
          <p:cNvSpPr/>
          <p:nvPr/>
        </p:nvSpPr>
        <p:spPr>
          <a:xfrm>
            <a:off x="4572000" y="4901040"/>
            <a:ext cx="2926080" cy="360"/>
          </a:xfrm>
          <a:prstGeom prst="line">
            <a:avLst/>
          </a:prstGeom>
          <a:ln w="25400">
            <a:solidFill>
              <a:srgbClr val="3bd6e8"/>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98" name="Shape 14"/>
          <p:cNvSpPr/>
          <p:nvPr/>
        </p:nvSpPr>
        <p:spPr>
          <a:xfrm>
            <a:off x="8119800" y="2011680"/>
            <a:ext cx="3492720" cy="3245760"/>
          </a:xfrm>
          <a:prstGeom prst="roundRect">
            <a:avLst>
              <a:gd name="adj" fmla="val 4507"/>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99" name="Text 15"/>
          <p:cNvSpPr/>
          <p:nvPr/>
        </p:nvSpPr>
        <p:spPr>
          <a:xfrm>
            <a:off x="8348400" y="2231280"/>
            <a:ext cx="4111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5fe1a0"/>
                </a:solidFill>
                <a:effectLst/>
                <a:uFillTx/>
                <a:latin typeface="Aptos"/>
                <a:ea typeface="Aptos"/>
              </a:rPr>
              <a:t>03</a:t>
            </a:r>
            <a:endParaRPr b="0" lang="ru-RU" sz="1800" strike="noStrike" u="none">
              <a:solidFill>
                <a:srgbClr val="ffffff"/>
              </a:solidFill>
              <a:effectLst/>
              <a:uFillTx/>
              <a:latin typeface="Arial"/>
            </a:endParaRPr>
          </a:p>
        </p:txBody>
      </p:sp>
      <p:sp>
        <p:nvSpPr>
          <p:cNvPr id="100" name="Text 16"/>
          <p:cNvSpPr/>
          <p:nvPr/>
        </p:nvSpPr>
        <p:spPr>
          <a:xfrm>
            <a:off x="8348400" y="2724840"/>
            <a:ext cx="2971440" cy="731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f5f7fa"/>
                </a:solidFill>
                <a:effectLst/>
                <a:uFillTx/>
                <a:latin typeface="Aptos"/>
                <a:ea typeface="Aptos"/>
              </a:rPr>
              <a:t>Cerebras can define a new TEE primitive</a:t>
            </a:r>
            <a:endParaRPr b="0" lang="ru-RU" sz="2000" strike="noStrike" u="none">
              <a:solidFill>
                <a:srgbClr val="ffffff"/>
              </a:solidFill>
              <a:effectLst/>
              <a:uFillTx/>
              <a:latin typeface="Arial"/>
            </a:endParaRPr>
          </a:p>
        </p:txBody>
      </p:sp>
      <p:sp>
        <p:nvSpPr>
          <p:cNvPr id="101" name="Text 17"/>
          <p:cNvSpPr/>
          <p:nvPr/>
        </p:nvSpPr>
        <p:spPr>
          <a:xfrm>
            <a:off x="8348400" y="3602880"/>
            <a:ext cx="2998800" cy="1170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20" strike="noStrike" u="none">
                <a:solidFill>
                  <a:srgbClr val="d8e2ef"/>
                </a:solidFill>
                <a:effectLst/>
                <a:uFillTx/>
                <a:latin typeface="Aptos"/>
                <a:ea typeface="Aptos"/>
              </a:rPr>
              <a:t>Make the WSE, its SRAM/fabric, model path, and CPU CVM one composite, remotely attested confidential workload.</a:t>
            </a:r>
            <a:endParaRPr b="0" lang="ru-RU" sz="1220" strike="noStrike" u="none">
              <a:solidFill>
                <a:srgbClr val="ffffff"/>
              </a:solidFill>
              <a:effectLst/>
              <a:uFillTx/>
              <a:latin typeface="Arial"/>
            </a:endParaRPr>
          </a:p>
        </p:txBody>
      </p:sp>
      <p:sp>
        <p:nvSpPr>
          <p:cNvPr id="102" name="Shape 18"/>
          <p:cNvSpPr/>
          <p:nvPr/>
        </p:nvSpPr>
        <p:spPr>
          <a:xfrm>
            <a:off x="8348400" y="4901040"/>
            <a:ext cx="2926080" cy="360"/>
          </a:xfrm>
          <a:prstGeom prst="line">
            <a:avLst/>
          </a:prstGeom>
          <a:ln w="25400">
            <a:solidFill>
              <a:srgbClr val="5fe1a0"/>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103" name="Text 19"/>
          <p:cNvSpPr/>
          <p:nvPr/>
        </p:nvSpPr>
        <p:spPr>
          <a:xfrm>
            <a:off x="567000" y="5596200"/>
            <a:ext cx="15084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pc="119" strike="noStrike" u="none">
                <a:solidFill>
                  <a:srgbClr val="ff6b35"/>
                </a:solidFill>
                <a:effectLst/>
                <a:uFillTx/>
                <a:latin typeface="Aptos"/>
                <a:ea typeface="Aptos"/>
              </a:rPr>
              <a:t>EXECUTIVE OUTCOME</a:t>
            </a:r>
            <a:endParaRPr b="0" lang="ru-RU" sz="800" strike="noStrike" u="none">
              <a:solidFill>
                <a:srgbClr val="ffffff"/>
              </a:solidFill>
              <a:effectLst/>
              <a:uFillTx/>
              <a:latin typeface="Arial"/>
            </a:endParaRPr>
          </a:p>
        </p:txBody>
      </p:sp>
      <p:sp>
        <p:nvSpPr>
          <p:cNvPr id="104" name="Text 20"/>
          <p:cNvSpPr/>
          <p:nvPr/>
        </p:nvSpPr>
        <p:spPr>
          <a:xfrm>
            <a:off x="2048400" y="5559480"/>
            <a:ext cx="80463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50" strike="noStrike" u="none">
                <a:solidFill>
                  <a:srgbClr val="f5f7fa"/>
                </a:solidFill>
                <a:effectLst/>
                <a:uFillTx/>
                <a:latin typeface="Aptos"/>
                <a:ea typeface="Aptos"/>
              </a:rPr>
              <a:t>A platform security moat that competitors cannot reproduce in software alone.</a:t>
            </a:r>
            <a:endParaRPr b="0" lang="ru-RU" sz="1550" strike="noStrike" u="none">
              <a:solidFill>
                <a:srgbClr val="ffffff"/>
              </a:solidFill>
              <a:effectLst/>
              <a:uFillTx/>
              <a:latin typeface="Arial"/>
            </a:endParaRPr>
          </a:p>
        </p:txBody>
      </p:sp>
      <p:sp>
        <p:nvSpPr>
          <p:cNvPr id="105" name="Text 21"/>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Sources: Cerebras CS-4 announcement (Aug 18, 2026); Cerebras company / sovereign AI materials; Intel TDX documentation; NVIDIA attestation documentation.</a:t>
            </a:r>
            <a:endParaRPr b="0" lang="ru-RU" sz="660" strike="noStrike" u="none">
              <a:solidFill>
                <a:srgbClr val="ffffff"/>
              </a:solidFill>
              <a:effectLst/>
              <a:uFillTx/>
              <a:latin typeface="Arial"/>
            </a:endParaRPr>
          </a:p>
        </p:txBody>
      </p:sp>
      <p:sp>
        <p:nvSpPr>
          <p:cNvPr id="106" name="PlaceHolder 1"/>
          <p:cNvSpPr>
            <a:spLocks noGrp="1"/>
          </p:cNvSpPr>
          <p:nvPr>
            <p:ph type="sldNum" idx="6"/>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361F02A1-6664-46C8-A52A-6B1A7328E5DB}"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2 • WHY NOW</a:t>
            </a:r>
            <a:endParaRPr b="0" lang="ru-RU" sz="1000" strike="noStrike" u="none">
              <a:solidFill>
                <a:srgbClr val="ffffff"/>
              </a:solidFill>
              <a:effectLst/>
              <a:uFillTx/>
              <a:latin typeface="Arial"/>
            </a:endParaRPr>
          </a:p>
        </p:txBody>
      </p:sp>
      <p:sp>
        <p:nvSpPr>
          <p:cNvPr id="108"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f5f7fa"/>
                </a:solidFill>
                <a:effectLst/>
                <a:uFillTx/>
                <a:latin typeface="Aptos"/>
                <a:ea typeface="Aptos"/>
              </a:rPr>
              <a:t>The AI workload is moving from conversation to action.</a:t>
            </a:r>
            <a:endParaRPr b="0" lang="ru-RU" sz="2900" strike="noStrike" u="none">
              <a:solidFill>
                <a:srgbClr val="ffffff"/>
              </a:solidFill>
              <a:effectLst/>
              <a:uFillTx/>
              <a:latin typeface="Arial"/>
            </a:endParaRPr>
          </a:p>
        </p:txBody>
      </p:sp>
      <p:sp>
        <p:nvSpPr>
          <p:cNvPr id="109"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Speed makes agents practical; confidentiality makes them deployable into high-value environments.</a:t>
            </a:r>
            <a:endParaRPr b="0" lang="ru-RU" sz="1250" strike="noStrike" u="none">
              <a:solidFill>
                <a:srgbClr val="ffffff"/>
              </a:solidFill>
              <a:effectLst/>
              <a:uFillTx/>
              <a:latin typeface="Arial"/>
            </a:endParaRPr>
          </a:p>
        </p:txBody>
      </p:sp>
      <p:sp>
        <p:nvSpPr>
          <p:cNvPr id="110"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03</a:t>
            </a:r>
            <a:endParaRPr b="0" lang="ru-RU" sz="1000" strike="noStrike" u="none">
              <a:solidFill>
                <a:srgbClr val="ffffff"/>
              </a:solidFill>
              <a:effectLst/>
              <a:uFillTx/>
              <a:latin typeface="Arial"/>
            </a:endParaRPr>
          </a:p>
        </p:txBody>
      </p:sp>
      <p:sp>
        <p:nvSpPr>
          <p:cNvPr id="111" name="Shape 4"/>
          <p:cNvSpPr/>
          <p:nvPr/>
        </p:nvSpPr>
        <p:spPr>
          <a:xfrm>
            <a:off x="567000" y="1901880"/>
            <a:ext cx="4663080" cy="3794400"/>
          </a:xfrm>
          <a:prstGeom prst="roundRect">
            <a:avLst>
              <a:gd name="adj" fmla="val 3855"/>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12" name="Text 5"/>
          <p:cNvSpPr/>
          <p:nvPr/>
        </p:nvSpPr>
        <p:spPr>
          <a:xfrm>
            <a:off x="822960" y="2148840"/>
            <a:ext cx="21942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39" strike="noStrike" u="none">
                <a:solidFill>
                  <a:srgbClr val="ff6b35"/>
                </a:solidFill>
                <a:effectLst/>
                <a:uFillTx/>
                <a:latin typeface="Aptos"/>
                <a:ea typeface="Aptos"/>
              </a:rPr>
              <a:t>THE TRAJECTORY</a:t>
            </a:r>
            <a:endParaRPr b="0" lang="ru-RU" sz="900" strike="noStrike" u="none">
              <a:solidFill>
                <a:srgbClr val="ffffff"/>
              </a:solidFill>
              <a:effectLst/>
              <a:uFillTx/>
              <a:latin typeface="Arial"/>
            </a:endParaRPr>
          </a:p>
        </p:txBody>
      </p:sp>
      <p:sp>
        <p:nvSpPr>
          <p:cNvPr id="113" name="Shape 6"/>
          <p:cNvSpPr/>
          <p:nvPr/>
        </p:nvSpPr>
        <p:spPr>
          <a:xfrm>
            <a:off x="859680" y="2688480"/>
            <a:ext cx="383760" cy="383760"/>
          </a:xfrm>
          <a:prstGeom prst="ellipse">
            <a:avLst/>
          </a:prstGeom>
          <a:solidFill>
            <a:srgbClr val="3bd6e8">
              <a:alpha val="18000"/>
            </a:srgbClr>
          </a:solidFill>
          <a:ln w="15240">
            <a:solidFill>
              <a:srgbClr val="3bd6e8"/>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114" name="Text 7"/>
          <p:cNvSpPr/>
          <p:nvPr/>
        </p:nvSpPr>
        <p:spPr>
          <a:xfrm>
            <a:off x="859680" y="269748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3bd6e8"/>
                </a:solidFill>
                <a:effectLst/>
                <a:uFillTx/>
                <a:latin typeface="Aptos"/>
                <a:ea typeface="Aptos"/>
              </a:rPr>
              <a:t>1</a:t>
            </a:r>
            <a:endParaRPr b="0" lang="ru-RU" sz="1500" strike="noStrike" u="none">
              <a:solidFill>
                <a:srgbClr val="ffffff"/>
              </a:solidFill>
              <a:effectLst/>
              <a:uFillTx/>
              <a:latin typeface="Arial"/>
            </a:endParaRPr>
          </a:p>
        </p:txBody>
      </p:sp>
      <p:sp>
        <p:nvSpPr>
          <p:cNvPr id="115" name="Text 8"/>
          <p:cNvSpPr/>
          <p:nvPr/>
        </p:nvSpPr>
        <p:spPr>
          <a:xfrm>
            <a:off x="1371600" y="2679120"/>
            <a:ext cx="9140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Chat</a:t>
            </a:r>
            <a:endParaRPr b="0" lang="ru-RU" sz="1200" strike="noStrike" u="none">
              <a:solidFill>
                <a:srgbClr val="ffffff"/>
              </a:solidFill>
              <a:effectLst/>
              <a:uFillTx/>
              <a:latin typeface="Arial"/>
            </a:endParaRPr>
          </a:p>
        </p:txBody>
      </p:sp>
      <p:sp>
        <p:nvSpPr>
          <p:cNvPr id="116" name="Text 9"/>
          <p:cNvSpPr/>
          <p:nvPr/>
        </p:nvSpPr>
        <p:spPr>
          <a:xfrm>
            <a:off x="2240280" y="2679120"/>
            <a:ext cx="15084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d8e2ef"/>
                </a:solidFill>
                <a:effectLst/>
                <a:uFillTx/>
                <a:latin typeface="Aptos"/>
                <a:ea typeface="Aptos"/>
              </a:rPr>
              <a:t>Prompt → response</a:t>
            </a:r>
            <a:endParaRPr b="0" lang="ru-RU" sz="1100" strike="noStrike" u="none">
              <a:solidFill>
                <a:srgbClr val="ffffff"/>
              </a:solidFill>
              <a:effectLst/>
              <a:uFillTx/>
              <a:latin typeface="Arial"/>
            </a:endParaRPr>
          </a:p>
        </p:txBody>
      </p:sp>
      <p:sp>
        <p:nvSpPr>
          <p:cNvPr id="117" name="Text 10"/>
          <p:cNvSpPr/>
          <p:nvPr/>
        </p:nvSpPr>
        <p:spPr>
          <a:xfrm>
            <a:off x="3721680" y="2679120"/>
            <a:ext cx="12340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a9b6c8"/>
                </a:solidFill>
                <a:effectLst/>
                <a:uFillTx/>
                <a:latin typeface="Aptos"/>
                <a:ea typeface="Aptos"/>
              </a:rPr>
              <a:t>human-in-the-loop</a:t>
            </a:r>
            <a:endParaRPr b="0" lang="ru-RU" sz="1000" strike="noStrike" u="none">
              <a:solidFill>
                <a:srgbClr val="ffffff"/>
              </a:solidFill>
              <a:effectLst/>
              <a:uFillTx/>
              <a:latin typeface="Arial"/>
            </a:endParaRPr>
          </a:p>
        </p:txBody>
      </p:sp>
      <p:sp>
        <p:nvSpPr>
          <p:cNvPr id="118" name="Shape 11"/>
          <p:cNvSpPr/>
          <p:nvPr/>
        </p:nvSpPr>
        <p:spPr>
          <a:xfrm>
            <a:off x="859680" y="3438000"/>
            <a:ext cx="383760" cy="383760"/>
          </a:xfrm>
          <a:prstGeom prst="ellipse">
            <a:avLst/>
          </a:prstGeom>
          <a:solidFill>
            <a:srgbClr val="3bd6e8">
              <a:alpha val="18000"/>
            </a:srgbClr>
          </a:solidFill>
          <a:ln w="15240">
            <a:solidFill>
              <a:srgbClr val="3bd6e8"/>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119" name="Text 12"/>
          <p:cNvSpPr/>
          <p:nvPr/>
        </p:nvSpPr>
        <p:spPr>
          <a:xfrm>
            <a:off x="859680" y="344736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3bd6e8"/>
                </a:solidFill>
                <a:effectLst/>
                <a:uFillTx/>
                <a:latin typeface="Aptos"/>
                <a:ea typeface="Aptos"/>
              </a:rPr>
              <a:t>2</a:t>
            </a:r>
            <a:endParaRPr b="0" lang="ru-RU" sz="1500" strike="noStrike" u="none">
              <a:solidFill>
                <a:srgbClr val="ffffff"/>
              </a:solidFill>
              <a:effectLst/>
              <a:uFillTx/>
              <a:latin typeface="Arial"/>
            </a:endParaRPr>
          </a:p>
        </p:txBody>
      </p:sp>
      <p:sp>
        <p:nvSpPr>
          <p:cNvPr id="120" name="Text 13"/>
          <p:cNvSpPr/>
          <p:nvPr/>
        </p:nvSpPr>
        <p:spPr>
          <a:xfrm>
            <a:off x="1371600" y="3429000"/>
            <a:ext cx="9140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Reasoning</a:t>
            </a:r>
            <a:endParaRPr b="0" lang="ru-RU" sz="1200" strike="noStrike" u="none">
              <a:solidFill>
                <a:srgbClr val="ffffff"/>
              </a:solidFill>
              <a:effectLst/>
              <a:uFillTx/>
              <a:latin typeface="Arial"/>
            </a:endParaRPr>
          </a:p>
        </p:txBody>
      </p:sp>
      <p:sp>
        <p:nvSpPr>
          <p:cNvPr id="121" name="Text 14"/>
          <p:cNvSpPr/>
          <p:nvPr/>
        </p:nvSpPr>
        <p:spPr>
          <a:xfrm>
            <a:off x="2240280" y="3429000"/>
            <a:ext cx="15084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d8e2ef"/>
                </a:solidFill>
                <a:effectLst/>
                <a:uFillTx/>
                <a:latin typeface="Aptos"/>
                <a:ea typeface="Aptos"/>
              </a:rPr>
              <a:t>Longer outputs</a:t>
            </a:r>
            <a:endParaRPr b="0" lang="ru-RU" sz="1100" strike="noStrike" u="none">
              <a:solidFill>
                <a:srgbClr val="ffffff"/>
              </a:solidFill>
              <a:effectLst/>
              <a:uFillTx/>
              <a:latin typeface="Arial"/>
            </a:endParaRPr>
          </a:p>
        </p:txBody>
      </p:sp>
      <p:sp>
        <p:nvSpPr>
          <p:cNvPr id="122" name="Text 15"/>
          <p:cNvSpPr/>
          <p:nvPr/>
        </p:nvSpPr>
        <p:spPr>
          <a:xfrm>
            <a:off x="3721680" y="3429000"/>
            <a:ext cx="12340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a9b6c8"/>
                </a:solidFill>
                <a:effectLst/>
                <a:uFillTx/>
                <a:latin typeface="Aptos"/>
                <a:ea typeface="Aptos"/>
              </a:rPr>
              <a:t>latency matters</a:t>
            </a:r>
            <a:endParaRPr b="0" lang="ru-RU" sz="1000" strike="noStrike" u="none">
              <a:solidFill>
                <a:srgbClr val="ffffff"/>
              </a:solidFill>
              <a:effectLst/>
              <a:uFillTx/>
              <a:latin typeface="Arial"/>
            </a:endParaRPr>
          </a:p>
        </p:txBody>
      </p:sp>
      <p:sp>
        <p:nvSpPr>
          <p:cNvPr id="123" name="Shape 16"/>
          <p:cNvSpPr/>
          <p:nvPr/>
        </p:nvSpPr>
        <p:spPr>
          <a:xfrm>
            <a:off x="859680" y="4187880"/>
            <a:ext cx="383760" cy="383760"/>
          </a:xfrm>
          <a:prstGeom prst="ellipse">
            <a:avLst/>
          </a:prstGeom>
          <a:solidFill>
            <a:srgbClr val="ff6b35">
              <a:alpha val="18000"/>
            </a:srgbClr>
          </a:solidFill>
          <a:ln w="15240">
            <a:solidFill>
              <a:srgbClr val="ff6b35"/>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24" name="Text 17"/>
          <p:cNvSpPr/>
          <p:nvPr/>
        </p:nvSpPr>
        <p:spPr>
          <a:xfrm>
            <a:off x="859680" y="419724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6b35"/>
                </a:solidFill>
                <a:effectLst/>
                <a:uFillTx/>
                <a:latin typeface="Aptos"/>
                <a:ea typeface="Aptos"/>
              </a:rPr>
              <a:t>3</a:t>
            </a:r>
            <a:endParaRPr b="0" lang="ru-RU" sz="1500" strike="noStrike" u="none">
              <a:solidFill>
                <a:srgbClr val="ffffff"/>
              </a:solidFill>
              <a:effectLst/>
              <a:uFillTx/>
              <a:latin typeface="Arial"/>
            </a:endParaRPr>
          </a:p>
        </p:txBody>
      </p:sp>
      <p:sp>
        <p:nvSpPr>
          <p:cNvPr id="125" name="Text 18"/>
          <p:cNvSpPr/>
          <p:nvPr/>
        </p:nvSpPr>
        <p:spPr>
          <a:xfrm>
            <a:off x="1371600" y="4178880"/>
            <a:ext cx="9140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Agents</a:t>
            </a:r>
            <a:endParaRPr b="0" lang="ru-RU" sz="1200" strike="noStrike" u="none">
              <a:solidFill>
                <a:srgbClr val="ffffff"/>
              </a:solidFill>
              <a:effectLst/>
              <a:uFillTx/>
              <a:latin typeface="Arial"/>
            </a:endParaRPr>
          </a:p>
        </p:txBody>
      </p:sp>
      <p:sp>
        <p:nvSpPr>
          <p:cNvPr id="126" name="Text 19"/>
          <p:cNvSpPr/>
          <p:nvPr/>
        </p:nvSpPr>
        <p:spPr>
          <a:xfrm>
            <a:off x="2240280" y="4178880"/>
            <a:ext cx="15084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d8e2ef"/>
                </a:solidFill>
                <a:effectLst/>
                <a:uFillTx/>
                <a:latin typeface="Aptos"/>
                <a:ea typeface="Aptos"/>
              </a:rPr>
              <a:t>Tool calls + APIs</a:t>
            </a:r>
            <a:endParaRPr b="0" lang="ru-RU" sz="1100" strike="noStrike" u="none">
              <a:solidFill>
                <a:srgbClr val="ffffff"/>
              </a:solidFill>
              <a:effectLst/>
              <a:uFillTx/>
              <a:latin typeface="Arial"/>
            </a:endParaRPr>
          </a:p>
        </p:txBody>
      </p:sp>
      <p:sp>
        <p:nvSpPr>
          <p:cNvPr id="127" name="Text 20"/>
          <p:cNvSpPr/>
          <p:nvPr/>
        </p:nvSpPr>
        <p:spPr>
          <a:xfrm>
            <a:off x="3721680" y="4178880"/>
            <a:ext cx="12340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a9b6c8"/>
                </a:solidFill>
                <a:effectLst/>
                <a:uFillTx/>
                <a:latin typeface="Aptos"/>
                <a:ea typeface="Aptos"/>
              </a:rPr>
              <a:t>credentials appear</a:t>
            </a:r>
            <a:endParaRPr b="0" lang="ru-RU" sz="1000" strike="noStrike" u="none">
              <a:solidFill>
                <a:srgbClr val="ffffff"/>
              </a:solidFill>
              <a:effectLst/>
              <a:uFillTx/>
              <a:latin typeface="Arial"/>
            </a:endParaRPr>
          </a:p>
        </p:txBody>
      </p:sp>
      <p:sp>
        <p:nvSpPr>
          <p:cNvPr id="128" name="Shape 21"/>
          <p:cNvSpPr/>
          <p:nvPr/>
        </p:nvSpPr>
        <p:spPr>
          <a:xfrm>
            <a:off x="859680" y="4937760"/>
            <a:ext cx="383760" cy="383760"/>
          </a:xfrm>
          <a:prstGeom prst="ellipse">
            <a:avLst/>
          </a:prstGeom>
          <a:solidFill>
            <a:srgbClr val="ff6b35">
              <a:alpha val="18000"/>
            </a:srgbClr>
          </a:solidFill>
          <a:ln w="15240">
            <a:solidFill>
              <a:srgbClr val="ff6b35"/>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29" name="Text 22"/>
          <p:cNvSpPr/>
          <p:nvPr/>
        </p:nvSpPr>
        <p:spPr>
          <a:xfrm>
            <a:off x="859680" y="494676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6b35"/>
                </a:solidFill>
                <a:effectLst/>
                <a:uFillTx/>
                <a:latin typeface="Aptos"/>
                <a:ea typeface="Aptos"/>
              </a:rPr>
              <a:t>4</a:t>
            </a:r>
            <a:endParaRPr b="0" lang="ru-RU" sz="1500" strike="noStrike" u="none">
              <a:solidFill>
                <a:srgbClr val="ffffff"/>
              </a:solidFill>
              <a:effectLst/>
              <a:uFillTx/>
              <a:latin typeface="Arial"/>
            </a:endParaRPr>
          </a:p>
        </p:txBody>
      </p:sp>
      <p:sp>
        <p:nvSpPr>
          <p:cNvPr id="130" name="Text 23"/>
          <p:cNvSpPr/>
          <p:nvPr/>
        </p:nvSpPr>
        <p:spPr>
          <a:xfrm>
            <a:off x="1371600" y="4928760"/>
            <a:ext cx="9140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Autonomy</a:t>
            </a:r>
            <a:endParaRPr b="0" lang="ru-RU" sz="1200" strike="noStrike" u="none">
              <a:solidFill>
                <a:srgbClr val="ffffff"/>
              </a:solidFill>
              <a:effectLst/>
              <a:uFillTx/>
              <a:latin typeface="Arial"/>
            </a:endParaRPr>
          </a:p>
        </p:txBody>
      </p:sp>
      <p:sp>
        <p:nvSpPr>
          <p:cNvPr id="131" name="Text 24"/>
          <p:cNvSpPr/>
          <p:nvPr/>
        </p:nvSpPr>
        <p:spPr>
          <a:xfrm>
            <a:off x="2240280" y="4928760"/>
            <a:ext cx="15084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d8e2ef"/>
                </a:solidFill>
                <a:effectLst/>
                <a:uFillTx/>
                <a:latin typeface="Aptos"/>
                <a:ea typeface="Aptos"/>
              </a:rPr>
              <a:t>Act on behalf of users</a:t>
            </a:r>
            <a:endParaRPr b="0" lang="ru-RU" sz="1100" strike="noStrike" u="none">
              <a:solidFill>
                <a:srgbClr val="ffffff"/>
              </a:solidFill>
              <a:effectLst/>
              <a:uFillTx/>
              <a:latin typeface="Arial"/>
            </a:endParaRPr>
          </a:p>
        </p:txBody>
      </p:sp>
      <p:sp>
        <p:nvSpPr>
          <p:cNvPr id="132" name="Text 25"/>
          <p:cNvSpPr/>
          <p:nvPr/>
        </p:nvSpPr>
        <p:spPr>
          <a:xfrm>
            <a:off x="3721680" y="4928760"/>
            <a:ext cx="1234080" cy="200880"/>
          </a:xfrm>
          <a:prstGeom prst="rect">
            <a:avLst/>
          </a:prstGeom>
          <a:noFill/>
          <a:ln w="0">
            <a:noFill/>
          </a:ln>
        </p:spPr>
        <p:style>
          <a:lnRef idx="0"/>
          <a:fillRef idx="0"/>
          <a:effectRef idx="0"/>
          <a:fontRef idx="minor"/>
        </p:style>
        <p:txBody>
          <a:bodyPr lIns="0" rIns="0" tIns="0" bIns="0" anchor="ctr">
            <a:normAutofit fontScale="77500" lnSpcReduction="19999"/>
          </a:bodyPr>
          <a:p>
            <a:pPr algn="r" defTabSz="914400">
              <a:lnSpc>
                <a:spcPct val="100000"/>
              </a:lnSpc>
              <a:tabLst>
                <a:tab algn="l" pos="0"/>
              </a:tabLst>
            </a:pPr>
            <a:r>
              <a:rPr b="0" lang="en-US" sz="1000" strike="noStrike" u="none">
                <a:solidFill>
                  <a:srgbClr val="a9b6c8"/>
                </a:solidFill>
                <a:effectLst/>
                <a:uFillTx/>
                <a:latin typeface="Aptos"/>
                <a:ea typeface="Aptos"/>
              </a:rPr>
              <a:t>trust becomes a prerequisite</a:t>
            </a:r>
            <a:endParaRPr b="0" lang="ru-RU" sz="1000" strike="noStrike" u="none">
              <a:solidFill>
                <a:srgbClr val="ffffff"/>
              </a:solidFill>
              <a:effectLst/>
              <a:uFillTx/>
              <a:latin typeface="Arial"/>
            </a:endParaRPr>
          </a:p>
        </p:txBody>
      </p:sp>
      <p:sp>
        <p:nvSpPr>
          <p:cNvPr id="133" name="Shape 26"/>
          <p:cNvSpPr/>
          <p:nvPr/>
        </p:nvSpPr>
        <p:spPr>
          <a:xfrm>
            <a:off x="5468040" y="1901880"/>
            <a:ext cx="6144480" cy="3794400"/>
          </a:xfrm>
          <a:prstGeom prst="roundRect">
            <a:avLst>
              <a:gd name="adj" fmla="val 3855"/>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34" name="Text 27"/>
          <p:cNvSpPr/>
          <p:nvPr/>
        </p:nvSpPr>
        <p:spPr>
          <a:xfrm>
            <a:off x="5742360" y="2148840"/>
            <a:ext cx="38401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9" strike="noStrike" u="none">
                <a:solidFill>
                  <a:srgbClr val="3bd6e8"/>
                </a:solidFill>
                <a:effectLst/>
                <a:uFillTx/>
                <a:latin typeface="Aptos"/>
                <a:ea typeface="Aptos"/>
              </a:rPr>
              <a:t>CEREBRAS IS ALREADY POSITIONED AT THE FRONTIER</a:t>
            </a:r>
            <a:endParaRPr b="0" lang="ru-RU" sz="900" strike="noStrike" u="none">
              <a:solidFill>
                <a:srgbClr val="ffffff"/>
              </a:solidFill>
              <a:effectLst/>
              <a:uFillTx/>
              <a:latin typeface="Arial"/>
            </a:endParaRPr>
          </a:p>
        </p:txBody>
      </p:sp>
      <p:sp>
        <p:nvSpPr>
          <p:cNvPr id="135" name="Text 28"/>
          <p:cNvSpPr/>
          <p:nvPr/>
        </p:nvSpPr>
        <p:spPr>
          <a:xfrm>
            <a:off x="5742360" y="2651760"/>
            <a:ext cx="1188360" cy="594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100" strike="noStrike" u="none">
                <a:solidFill>
                  <a:srgbClr val="f5f7fa"/>
                </a:solidFill>
                <a:effectLst/>
                <a:uFillTx/>
                <a:latin typeface="Aptos"/>
                <a:ea typeface="Aptos"/>
              </a:rPr>
              <a:t>CS-4</a:t>
            </a:r>
            <a:endParaRPr b="0" lang="ru-RU" sz="3100" strike="noStrike" u="none">
              <a:solidFill>
                <a:srgbClr val="ffffff"/>
              </a:solidFill>
              <a:effectLst/>
              <a:uFillTx/>
              <a:latin typeface="Arial"/>
            </a:endParaRPr>
          </a:p>
        </p:txBody>
      </p:sp>
      <p:sp>
        <p:nvSpPr>
          <p:cNvPr id="136" name="Text 29"/>
          <p:cNvSpPr/>
          <p:nvPr/>
        </p:nvSpPr>
        <p:spPr>
          <a:xfrm>
            <a:off x="6858000" y="2788920"/>
            <a:ext cx="388584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d8e2ef"/>
                </a:solidFill>
                <a:effectLst/>
                <a:uFillTx/>
                <a:latin typeface="Aptos"/>
                <a:ea typeface="Aptos"/>
              </a:rPr>
              <a:t>3 × WSE-3 Turbo per rack-scale system</a:t>
            </a:r>
            <a:endParaRPr b="0" lang="ru-RU" sz="1500" strike="noStrike" u="none">
              <a:solidFill>
                <a:srgbClr val="ffffff"/>
              </a:solidFill>
              <a:effectLst/>
              <a:uFillTx/>
              <a:latin typeface="Arial"/>
            </a:endParaRPr>
          </a:p>
        </p:txBody>
      </p:sp>
      <p:sp>
        <p:nvSpPr>
          <p:cNvPr id="137" name="Text 30"/>
          <p:cNvSpPr/>
          <p:nvPr/>
        </p:nvSpPr>
        <p:spPr>
          <a:xfrm>
            <a:off x="5760720" y="3420000"/>
            <a:ext cx="521172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f5f7fa"/>
                </a:solidFill>
                <a:effectLst/>
                <a:uFillTx/>
                <a:latin typeface="Aptos"/>
                <a:ea typeface="Aptos"/>
              </a:rPr>
              <a:t>up to 30× faster inference vs. GPU systems</a:t>
            </a:r>
            <a:endParaRPr b="0" lang="ru-RU" sz="1400" strike="noStrike" u="none">
              <a:solidFill>
                <a:srgbClr val="ffffff"/>
              </a:solidFill>
              <a:effectLst/>
              <a:uFillTx/>
              <a:latin typeface="Arial"/>
            </a:endParaRPr>
          </a:p>
          <a:p>
            <a:pPr defTabSz="914400">
              <a:lnSpc>
                <a:spcPct val="100000"/>
              </a:lnSpc>
              <a:tabLst>
                <a:tab algn="l" pos="0"/>
              </a:tabLst>
            </a:pPr>
            <a:r>
              <a:rPr b="0" lang="en-US" sz="1400" strike="noStrike" u="none">
                <a:solidFill>
                  <a:srgbClr val="f5f7fa"/>
                </a:solidFill>
                <a:effectLst/>
                <a:uFillTx/>
                <a:latin typeface="Aptos"/>
                <a:ea typeface="Aptos"/>
              </a:rPr>
              <a:t>up to 10× more throughput per watt than CS-3</a:t>
            </a:r>
            <a:endParaRPr b="0" lang="ru-RU" sz="1400" strike="noStrike" u="none">
              <a:solidFill>
                <a:srgbClr val="ffffff"/>
              </a:solidFill>
              <a:effectLst/>
              <a:uFillTx/>
              <a:latin typeface="Arial"/>
            </a:endParaRPr>
          </a:p>
        </p:txBody>
      </p:sp>
      <p:sp>
        <p:nvSpPr>
          <p:cNvPr id="138" name="Shape 31"/>
          <p:cNvSpPr/>
          <p:nvPr/>
        </p:nvSpPr>
        <p:spPr>
          <a:xfrm>
            <a:off x="5760720" y="4316040"/>
            <a:ext cx="1078560" cy="273960"/>
          </a:xfrm>
          <a:prstGeom prst="roundRect">
            <a:avLst>
              <a:gd name="adj" fmla="val 50000"/>
            </a:avLst>
          </a:prstGeom>
          <a:solidFill>
            <a:srgbClr val="213046"/>
          </a:solidFill>
          <a:ln w="12700">
            <a:solidFill>
              <a:srgbClr val="ff6b35">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39" name="Text 32"/>
          <p:cNvSpPr/>
          <p:nvPr/>
        </p:nvSpPr>
        <p:spPr>
          <a:xfrm>
            <a:off x="5833800" y="4334400"/>
            <a:ext cx="9324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6b35"/>
                </a:solidFill>
                <a:effectLst/>
                <a:uFillTx/>
                <a:latin typeface="Aptos"/>
                <a:ea typeface="Aptos"/>
              </a:rPr>
              <a:t>Agentic AI</a:t>
            </a:r>
            <a:endParaRPr b="0" lang="ru-RU" sz="850" strike="noStrike" u="none">
              <a:solidFill>
                <a:srgbClr val="ffffff"/>
              </a:solidFill>
              <a:effectLst/>
              <a:uFillTx/>
              <a:latin typeface="Arial"/>
            </a:endParaRPr>
          </a:p>
        </p:txBody>
      </p:sp>
      <p:sp>
        <p:nvSpPr>
          <p:cNvPr id="140" name="Shape 33"/>
          <p:cNvSpPr/>
          <p:nvPr/>
        </p:nvSpPr>
        <p:spPr>
          <a:xfrm>
            <a:off x="6967800" y="4316040"/>
            <a:ext cx="1051200" cy="273960"/>
          </a:xfrm>
          <a:prstGeom prst="roundRect">
            <a:avLst>
              <a:gd name="adj" fmla="val 50000"/>
            </a:avLst>
          </a:prstGeom>
          <a:solidFill>
            <a:srgbClr val="213046"/>
          </a:solidFill>
          <a:ln w="12700">
            <a:solidFill>
              <a:srgbClr val="3bd6e8">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41" name="Text 34"/>
          <p:cNvSpPr/>
          <p:nvPr/>
        </p:nvSpPr>
        <p:spPr>
          <a:xfrm>
            <a:off x="7040880" y="4334400"/>
            <a:ext cx="90504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3bd6e8"/>
                </a:solidFill>
                <a:effectLst/>
                <a:uFillTx/>
                <a:latin typeface="Aptos"/>
                <a:ea typeface="Aptos"/>
              </a:rPr>
              <a:t>Hyperscale</a:t>
            </a:r>
            <a:endParaRPr b="0" lang="ru-RU" sz="850" strike="noStrike" u="none">
              <a:solidFill>
                <a:srgbClr val="ffffff"/>
              </a:solidFill>
              <a:effectLst/>
              <a:uFillTx/>
              <a:latin typeface="Arial"/>
            </a:endParaRPr>
          </a:p>
        </p:txBody>
      </p:sp>
      <p:sp>
        <p:nvSpPr>
          <p:cNvPr id="142" name="Shape 35"/>
          <p:cNvSpPr/>
          <p:nvPr/>
        </p:nvSpPr>
        <p:spPr>
          <a:xfrm>
            <a:off x="8156520" y="4316040"/>
            <a:ext cx="1279800" cy="273960"/>
          </a:xfrm>
          <a:prstGeom prst="roundRect">
            <a:avLst>
              <a:gd name="adj" fmla="val 50000"/>
            </a:avLst>
          </a:prstGeom>
          <a:solidFill>
            <a:srgbClr val="213046"/>
          </a:solidFill>
          <a:ln w="12700">
            <a:solidFill>
              <a:srgbClr val="5fe1a0">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43" name="Text 36"/>
          <p:cNvSpPr/>
          <p:nvPr/>
        </p:nvSpPr>
        <p:spPr>
          <a:xfrm>
            <a:off x="8229600" y="4334400"/>
            <a:ext cx="113364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5fe1a0"/>
                </a:solidFill>
                <a:effectLst/>
                <a:uFillTx/>
                <a:latin typeface="Aptos"/>
                <a:ea typeface="Aptos"/>
              </a:rPr>
              <a:t>Sovereign AI</a:t>
            </a:r>
            <a:endParaRPr b="0" lang="ru-RU" sz="850" strike="noStrike" u="none">
              <a:solidFill>
                <a:srgbClr val="ffffff"/>
              </a:solidFill>
              <a:effectLst/>
              <a:uFillTx/>
              <a:latin typeface="Arial"/>
            </a:endParaRPr>
          </a:p>
        </p:txBody>
      </p:sp>
      <p:sp>
        <p:nvSpPr>
          <p:cNvPr id="144" name="Shape 37"/>
          <p:cNvSpPr/>
          <p:nvPr/>
        </p:nvSpPr>
        <p:spPr>
          <a:xfrm>
            <a:off x="9582840" y="4316040"/>
            <a:ext cx="1206720" cy="273960"/>
          </a:xfrm>
          <a:prstGeom prst="roundRect">
            <a:avLst>
              <a:gd name="adj" fmla="val 50000"/>
            </a:avLst>
          </a:prstGeom>
          <a:solidFill>
            <a:srgbClr val="213046"/>
          </a:solidFill>
          <a:ln w="12700">
            <a:solidFill>
              <a:srgbClr val="ffd166">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45" name="Text 38"/>
          <p:cNvSpPr/>
          <p:nvPr/>
        </p:nvSpPr>
        <p:spPr>
          <a:xfrm>
            <a:off x="9655920" y="4334400"/>
            <a:ext cx="10602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d166"/>
                </a:solidFill>
                <a:effectLst/>
                <a:uFillTx/>
                <a:latin typeface="Aptos"/>
                <a:ea typeface="Aptos"/>
              </a:rPr>
              <a:t>Regulated data</a:t>
            </a:r>
            <a:endParaRPr b="0" lang="ru-RU" sz="850" strike="noStrike" u="none">
              <a:solidFill>
                <a:srgbClr val="ffffff"/>
              </a:solidFill>
              <a:effectLst/>
              <a:uFillTx/>
              <a:latin typeface="Arial"/>
            </a:endParaRPr>
          </a:p>
        </p:txBody>
      </p:sp>
      <p:sp>
        <p:nvSpPr>
          <p:cNvPr id="146" name="Text 39"/>
          <p:cNvSpPr/>
          <p:nvPr/>
        </p:nvSpPr>
        <p:spPr>
          <a:xfrm>
            <a:off x="5760720" y="4864680"/>
            <a:ext cx="1416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pc="111" strike="noStrike" u="none">
                <a:solidFill>
                  <a:srgbClr val="ff6b35"/>
                </a:solidFill>
                <a:effectLst/>
                <a:uFillTx/>
                <a:latin typeface="Aptos"/>
                <a:ea typeface="Aptos"/>
              </a:rPr>
              <a:t>Strategic implication</a:t>
            </a:r>
            <a:endParaRPr b="0" lang="ru-RU" sz="800" strike="noStrike" u="none">
              <a:solidFill>
                <a:srgbClr val="ffffff"/>
              </a:solidFill>
              <a:effectLst/>
              <a:uFillTx/>
              <a:latin typeface="Arial"/>
            </a:endParaRPr>
          </a:p>
        </p:txBody>
      </p:sp>
      <p:sp>
        <p:nvSpPr>
          <p:cNvPr id="147" name="Text 40"/>
          <p:cNvSpPr/>
          <p:nvPr/>
        </p:nvSpPr>
        <p:spPr>
          <a:xfrm>
            <a:off x="5760720" y="5139000"/>
            <a:ext cx="5074560" cy="36540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1520" strike="noStrike" u="none">
                <a:solidFill>
                  <a:srgbClr val="f5f7fa"/>
                </a:solidFill>
                <a:effectLst/>
                <a:uFillTx/>
                <a:latin typeface="Aptos"/>
                <a:ea typeface="Aptos"/>
              </a:rPr>
              <a:t>At this scale, security must be designed into the platform — not bolted onto the host.</a:t>
            </a:r>
            <a:endParaRPr b="0" lang="ru-RU" sz="1520" strike="noStrike" u="none">
              <a:solidFill>
                <a:srgbClr val="ffffff"/>
              </a:solidFill>
              <a:effectLst/>
              <a:uFillTx/>
              <a:latin typeface="Arial"/>
            </a:endParaRPr>
          </a:p>
        </p:txBody>
      </p:sp>
      <p:sp>
        <p:nvSpPr>
          <p:cNvPr id="148" name="Text 41"/>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Source: Cerebras, “Introducing Cerebras CS-4: The Fastest AI Just Got Faster” (Aug 18, 2026).</a:t>
            </a:r>
            <a:endParaRPr b="0" lang="ru-RU" sz="660" strike="noStrike" u="none">
              <a:solidFill>
                <a:srgbClr val="ffffff"/>
              </a:solidFill>
              <a:effectLst/>
              <a:uFillTx/>
              <a:latin typeface="Arial"/>
            </a:endParaRPr>
          </a:p>
        </p:txBody>
      </p:sp>
      <p:sp>
        <p:nvSpPr>
          <p:cNvPr id="149" name="PlaceHolder 1"/>
          <p:cNvSpPr>
            <a:spLocks noGrp="1"/>
          </p:cNvSpPr>
          <p:nvPr>
            <p:ph type="sldNum" idx="7"/>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577F713E-98C0-49D9-9776-AA275E547D17}"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3 • THE GAP</a:t>
            </a:r>
            <a:endParaRPr b="0" lang="ru-RU" sz="1000" strike="noStrike" u="none">
              <a:solidFill>
                <a:srgbClr val="ffffff"/>
              </a:solidFill>
              <a:effectLst/>
              <a:uFillTx/>
              <a:latin typeface="Arial"/>
            </a:endParaRPr>
          </a:p>
        </p:txBody>
      </p:sp>
      <p:sp>
        <p:nvSpPr>
          <p:cNvPr id="151"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fontScale="85000" lnSpcReduction="19999"/>
          </a:bodyPr>
          <a:p>
            <a:pPr defTabSz="914400">
              <a:lnSpc>
                <a:spcPct val="100000"/>
              </a:lnSpc>
              <a:tabLst>
                <a:tab algn="l" pos="0"/>
              </a:tabLst>
            </a:pPr>
            <a:r>
              <a:rPr b="1" lang="en-US" sz="2900" strike="noStrike" u="none">
                <a:solidFill>
                  <a:srgbClr val="f5f7fa"/>
                </a:solidFill>
                <a:effectLst/>
                <a:uFillTx/>
                <a:latin typeface="Aptos"/>
                <a:ea typeface="Aptos"/>
              </a:rPr>
              <a:t>A confidential VM protects the CPU — but the AI workload is larger than the CPU.</a:t>
            </a:r>
            <a:endParaRPr b="0" lang="ru-RU" sz="2900" strike="noStrike" u="none">
              <a:solidFill>
                <a:srgbClr val="ffffff"/>
              </a:solidFill>
              <a:effectLst/>
              <a:uFillTx/>
              <a:latin typeface="Arial"/>
            </a:endParaRPr>
          </a:p>
        </p:txBody>
      </p:sp>
      <p:sp>
        <p:nvSpPr>
          <p:cNvPr id="152"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The proposed architecture makes the accelerator part of the cryptographic trust boundary.</a:t>
            </a:r>
            <a:endParaRPr b="0" lang="ru-RU" sz="1250" strike="noStrike" u="none">
              <a:solidFill>
                <a:srgbClr val="ffffff"/>
              </a:solidFill>
              <a:effectLst/>
              <a:uFillTx/>
              <a:latin typeface="Arial"/>
            </a:endParaRPr>
          </a:p>
        </p:txBody>
      </p:sp>
      <p:sp>
        <p:nvSpPr>
          <p:cNvPr id="153"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04</a:t>
            </a:r>
            <a:endParaRPr b="0" lang="ru-RU" sz="1000" strike="noStrike" u="none">
              <a:solidFill>
                <a:srgbClr val="ffffff"/>
              </a:solidFill>
              <a:effectLst/>
              <a:uFillTx/>
              <a:latin typeface="Arial"/>
            </a:endParaRPr>
          </a:p>
        </p:txBody>
      </p:sp>
      <p:sp>
        <p:nvSpPr>
          <p:cNvPr id="154" name="Shape 4"/>
          <p:cNvSpPr/>
          <p:nvPr/>
        </p:nvSpPr>
        <p:spPr>
          <a:xfrm>
            <a:off x="567000" y="1874520"/>
            <a:ext cx="11018160" cy="3885840"/>
          </a:xfrm>
          <a:prstGeom prst="roundRect">
            <a:avLst>
              <a:gd name="adj" fmla="val 3765"/>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55" name="Text 5"/>
          <p:cNvSpPr/>
          <p:nvPr/>
        </p:nvSpPr>
        <p:spPr>
          <a:xfrm>
            <a:off x="868680" y="2139840"/>
            <a:ext cx="23770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30" strike="noStrike" u="none">
                <a:solidFill>
                  <a:srgbClr val="a9b6c8"/>
                </a:solidFill>
                <a:effectLst/>
                <a:uFillTx/>
                <a:latin typeface="Aptos"/>
                <a:ea typeface="Aptos"/>
              </a:rPr>
              <a:t>CURRENT / INTERIM MODEL</a:t>
            </a:r>
            <a:endParaRPr b="0" lang="ru-RU" sz="900" strike="noStrike" u="none">
              <a:solidFill>
                <a:srgbClr val="ffffff"/>
              </a:solidFill>
              <a:effectLst/>
              <a:uFillTx/>
              <a:latin typeface="Arial"/>
            </a:endParaRPr>
          </a:p>
        </p:txBody>
      </p:sp>
      <p:sp>
        <p:nvSpPr>
          <p:cNvPr id="156" name="Shape 6"/>
          <p:cNvSpPr/>
          <p:nvPr/>
        </p:nvSpPr>
        <p:spPr>
          <a:xfrm>
            <a:off x="914400" y="2651760"/>
            <a:ext cx="2148480" cy="1828440"/>
          </a:xfrm>
          <a:prstGeom prst="roundRect">
            <a:avLst>
              <a:gd name="adj" fmla="val 8000"/>
            </a:avLst>
          </a:prstGeom>
          <a:solidFill>
            <a:srgbClr val="17233a"/>
          </a:solidFill>
          <a:ln w="12700">
            <a:solidFill>
              <a:srgbClr val="3bd6e8"/>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57" name="Text 7"/>
          <p:cNvSpPr/>
          <p:nvPr/>
        </p:nvSpPr>
        <p:spPr>
          <a:xfrm>
            <a:off x="1143000" y="2889360"/>
            <a:ext cx="1096920" cy="2739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2100" strike="noStrike" u="none">
                <a:solidFill>
                  <a:srgbClr val="f5f7fa"/>
                </a:solidFill>
                <a:effectLst/>
                <a:uFillTx/>
                <a:latin typeface="Aptos"/>
                <a:ea typeface="Aptos"/>
              </a:rPr>
              <a:t>CPU CVM</a:t>
            </a:r>
            <a:endParaRPr b="0" lang="ru-RU" sz="2100" strike="noStrike" u="none">
              <a:solidFill>
                <a:srgbClr val="ffffff"/>
              </a:solidFill>
              <a:effectLst/>
              <a:uFillTx/>
              <a:latin typeface="Arial"/>
            </a:endParaRPr>
          </a:p>
        </p:txBody>
      </p:sp>
      <p:sp>
        <p:nvSpPr>
          <p:cNvPr id="158" name="Text 8"/>
          <p:cNvSpPr/>
          <p:nvPr/>
        </p:nvSpPr>
        <p:spPr>
          <a:xfrm>
            <a:off x="1143000" y="3310200"/>
            <a:ext cx="1416960" cy="77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d8e2ef"/>
                </a:solidFill>
                <a:effectLst/>
                <a:uFillTx/>
                <a:latin typeface="Aptos"/>
                <a:ea typeface="Aptos"/>
              </a:rPr>
              <a:t>Encrypted VM memory</a:t>
            </a:r>
            <a:endParaRPr b="0" lang="ru-RU" sz="1100" strike="noStrike" u="none">
              <a:solidFill>
                <a:srgbClr val="ffffff"/>
              </a:solidFill>
              <a:effectLst/>
              <a:uFillTx/>
              <a:latin typeface="Arial"/>
            </a:endParaRPr>
          </a:p>
          <a:p>
            <a:pPr defTabSz="914400">
              <a:lnSpc>
                <a:spcPct val="100000"/>
              </a:lnSpc>
              <a:tabLst>
                <a:tab algn="l" pos="0"/>
              </a:tabLst>
            </a:pPr>
            <a:r>
              <a:rPr b="0" lang="en-US" sz="1100" strike="noStrike" u="none">
                <a:solidFill>
                  <a:srgbClr val="d8e2ef"/>
                </a:solidFill>
                <a:effectLst/>
                <a:uFillTx/>
                <a:latin typeface="Aptos"/>
                <a:ea typeface="Aptos"/>
              </a:rPr>
              <a:t>Remote attestation</a:t>
            </a:r>
            <a:endParaRPr b="0" lang="ru-RU" sz="1100" strike="noStrike" u="none">
              <a:solidFill>
                <a:srgbClr val="ffffff"/>
              </a:solidFill>
              <a:effectLst/>
              <a:uFillTx/>
              <a:latin typeface="Arial"/>
            </a:endParaRPr>
          </a:p>
          <a:p>
            <a:pPr defTabSz="914400">
              <a:lnSpc>
                <a:spcPct val="100000"/>
              </a:lnSpc>
              <a:tabLst>
                <a:tab algn="l" pos="0"/>
              </a:tabLst>
            </a:pPr>
            <a:r>
              <a:rPr b="0" lang="en-US" sz="1100" strike="noStrike" u="none">
                <a:solidFill>
                  <a:srgbClr val="d8e2ef"/>
                </a:solidFill>
                <a:effectLst/>
                <a:uFillTx/>
                <a:latin typeface="Aptos"/>
                <a:ea typeface="Aptos"/>
              </a:rPr>
              <a:t>KMS key release</a:t>
            </a:r>
            <a:endParaRPr b="0" lang="ru-RU" sz="1100" strike="noStrike" u="none">
              <a:solidFill>
                <a:srgbClr val="ffffff"/>
              </a:solidFill>
              <a:effectLst/>
              <a:uFillTx/>
              <a:latin typeface="Arial"/>
            </a:endParaRPr>
          </a:p>
        </p:txBody>
      </p:sp>
      <p:sp>
        <p:nvSpPr>
          <p:cNvPr id="159" name="Shape 9"/>
          <p:cNvSpPr/>
          <p:nvPr/>
        </p:nvSpPr>
        <p:spPr>
          <a:xfrm>
            <a:off x="3182040" y="3584160"/>
            <a:ext cx="841320" cy="360"/>
          </a:xfrm>
          <a:prstGeom prst="line">
            <a:avLst/>
          </a:prstGeom>
          <a:ln w="25400">
            <a:solidFill>
              <a:srgbClr val="3bd6e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160" name="Shape 10"/>
          <p:cNvSpPr/>
          <p:nvPr/>
        </p:nvSpPr>
        <p:spPr>
          <a:xfrm>
            <a:off x="4133160" y="2651760"/>
            <a:ext cx="2148480" cy="1828440"/>
          </a:xfrm>
          <a:prstGeom prst="roundRect">
            <a:avLst>
              <a:gd name="adj" fmla="val 8000"/>
            </a:avLst>
          </a:prstGeom>
          <a:solidFill>
            <a:srgbClr val="2b2330"/>
          </a:solidFill>
          <a:ln w="12700">
            <a:solidFill>
              <a:srgbClr val="ff6b35"/>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61" name="Text 11"/>
          <p:cNvSpPr/>
          <p:nvPr/>
        </p:nvSpPr>
        <p:spPr>
          <a:xfrm>
            <a:off x="4370760" y="2889360"/>
            <a:ext cx="1096920" cy="2739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2100" strike="noStrike" u="none">
                <a:solidFill>
                  <a:srgbClr val="f5f7fa"/>
                </a:solidFill>
                <a:effectLst/>
                <a:uFillTx/>
                <a:latin typeface="Aptos"/>
                <a:ea typeface="Aptos"/>
              </a:rPr>
              <a:t>WSE / CS</a:t>
            </a:r>
            <a:endParaRPr b="0" lang="ru-RU" sz="2100" strike="noStrike" u="none">
              <a:solidFill>
                <a:srgbClr val="ffffff"/>
              </a:solidFill>
              <a:effectLst/>
              <a:uFillTx/>
              <a:latin typeface="Arial"/>
            </a:endParaRPr>
          </a:p>
        </p:txBody>
      </p:sp>
      <p:sp>
        <p:nvSpPr>
          <p:cNvPr id="162" name="Text 12"/>
          <p:cNvSpPr/>
          <p:nvPr/>
        </p:nvSpPr>
        <p:spPr>
          <a:xfrm>
            <a:off x="4370760" y="3310200"/>
            <a:ext cx="1416960" cy="77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d8e2ef"/>
                </a:solidFill>
                <a:effectLst/>
                <a:uFillTx/>
                <a:latin typeface="Aptos"/>
                <a:ea typeface="Aptos"/>
              </a:rPr>
              <a:t>Model execution</a:t>
            </a:r>
            <a:endParaRPr b="0" lang="ru-RU" sz="1100" strike="noStrike" u="none">
              <a:solidFill>
                <a:srgbClr val="ffffff"/>
              </a:solidFill>
              <a:effectLst/>
              <a:uFillTx/>
              <a:latin typeface="Arial"/>
            </a:endParaRPr>
          </a:p>
          <a:p>
            <a:pPr defTabSz="914400">
              <a:lnSpc>
                <a:spcPct val="100000"/>
              </a:lnSpc>
              <a:tabLst>
                <a:tab algn="l" pos="0"/>
              </a:tabLst>
            </a:pPr>
            <a:r>
              <a:rPr b="0" lang="en-US" sz="1100" strike="noStrike" u="none">
                <a:solidFill>
                  <a:srgbClr val="d8e2ef"/>
                </a:solidFill>
                <a:effectLst/>
                <a:uFillTx/>
                <a:latin typeface="Aptos"/>
                <a:ea typeface="Aptos"/>
              </a:rPr>
              <a:t>SRAM / fabric</a:t>
            </a:r>
            <a:endParaRPr b="0" lang="ru-RU" sz="1100" strike="noStrike" u="none">
              <a:solidFill>
                <a:srgbClr val="ffffff"/>
              </a:solidFill>
              <a:effectLst/>
              <a:uFillTx/>
              <a:latin typeface="Arial"/>
            </a:endParaRPr>
          </a:p>
          <a:p>
            <a:pPr defTabSz="914400">
              <a:lnSpc>
                <a:spcPct val="100000"/>
              </a:lnSpc>
              <a:tabLst>
                <a:tab algn="l" pos="0"/>
              </a:tabLst>
            </a:pPr>
            <a:r>
              <a:rPr b="0" lang="en-US" sz="1100" strike="noStrike" u="none">
                <a:solidFill>
                  <a:srgbClr val="d8e2ef"/>
                </a:solidFill>
                <a:effectLst/>
                <a:uFillTx/>
                <a:latin typeface="Aptos"/>
                <a:ea typeface="Aptos"/>
              </a:rPr>
              <a:t>I/O / queues</a:t>
            </a:r>
            <a:endParaRPr b="0" lang="ru-RU" sz="1100" strike="noStrike" u="none">
              <a:solidFill>
                <a:srgbClr val="ffffff"/>
              </a:solidFill>
              <a:effectLst/>
              <a:uFillTx/>
              <a:latin typeface="Arial"/>
            </a:endParaRPr>
          </a:p>
        </p:txBody>
      </p:sp>
      <p:sp>
        <p:nvSpPr>
          <p:cNvPr id="163" name="Text 13"/>
          <p:cNvSpPr/>
          <p:nvPr/>
        </p:nvSpPr>
        <p:spPr>
          <a:xfrm>
            <a:off x="6355080" y="3246120"/>
            <a:ext cx="31968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3100" strike="noStrike" u="none">
                <a:solidFill>
                  <a:srgbClr val="ff6b6b"/>
                </a:solidFill>
                <a:effectLst/>
                <a:uFillTx/>
                <a:latin typeface="Aptos"/>
                <a:ea typeface="Aptos"/>
              </a:rPr>
              <a:t>?</a:t>
            </a:r>
            <a:endParaRPr b="0" lang="ru-RU" sz="3100" strike="noStrike" u="none">
              <a:solidFill>
                <a:srgbClr val="ffffff"/>
              </a:solidFill>
              <a:effectLst/>
              <a:uFillTx/>
              <a:latin typeface="Arial"/>
            </a:endParaRPr>
          </a:p>
        </p:txBody>
      </p:sp>
      <p:sp>
        <p:nvSpPr>
          <p:cNvPr id="164" name="Text 14"/>
          <p:cNvSpPr/>
          <p:nvPr/>
        </p:nvSpPr>
        <p:spPr>
          <a:xfrm>
            <a:off x="6748200" y="2706480"/>
            <a:ext cx="4251600" cy="1234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d8e2ef"/>
                </a:solidFill>
                <a:effectLst/>
                <a:uFillTx/>
                <a:latin typeface="Aptos"/>
                <a:ea typeface="Aptos"/>
              </a:rPr>
              <a:t>Public Cerebras materials emphasize WSE/CS-4 performance and system architecture; they do not publicly establish a WSE-level TEE with remote attestation + protected execution memory.</a:t>
            </a:r>
            <a:endParaRPr b="0" lang="ru-RU" sz="1200" strike="noStrike" u="none">
              <a:solidFill>
                <a:srgbClr val="ffffff"/>
              </a:solidFill>
              <a:effectLst/>
              <a:uFillTx/>
              <a:latin typeface="Arial"/>
            </a:endParaRPr>
          </a:p>
        </p:txBody>
      </p:sp>
      <p:sp>
        <p:nvSpPr>
          <p:cNvPr id="165" name="Shape 15"/>
          <p:cNvSpPr/>
          <p:nvPr/>
        </p:nvSpPr>
        <p:spPr>
          <a:xfrm>
            <a:off x="6766560" y="4060080"/>
            <a:ext cx="959760" cy="273960"/>
          </a:xfrm>
          <a:prstGeom prst="roundRect">
            <a:avLst>
              <a:gd name="adj" fmla="val 50000"/>
            </a:avLst>
          </a:prstGeom>
          <a:solidFill>
            <a:srgbClr val="213046"/>
          </a:solidFill>
          <a:ln w="12700">
            <a:solidFill>
              <a:srgbClr val="ff6b35">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66" name="Text 16"/>
          <p:cNvSpPr/>
          <p:nvPr/>
        </p:nvSpPr>
        <p:spPr>
          <a:xfrm>
            <a:off x="6839640" y="4078080"/>
            <a:ext cx="8136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6b35"/>
                </a:solidFill>
                <a:effectLst/>
                <a:uFillTx/>
                <a:latin typeface="Aptos"/>
                <a:ea typeface="Aptos"/>
              </a:rPr>
              <a:t>PROPOSAL</a:t>
            </a:r>
            <a:endParaRPr b="0" lang="ru-RU" sz="850" strike="noStrike" u="none">
              <a:solidFill>
                <a:srgbClr val="ffffff"/>
              </a:solidFill>
              <a:effectLst/>
              <a:uFillTx/>
              <a:latin typeface="Arial"/>
            </a:endParaRPr>
          </a:p>
        </p:txBody>
      </p:sp>
      <p:sp>
        <p:nvSpPr>
          <p:cNvPr id="167" name="Text 17"/>
          <p:cNvSpPr/>
          <p:nvPr/>
        </p:nvSpPr>
        <p:spPr>
          <a:xfrm>
            <a:off x="6766560" y="4462200"/>
            <a:ext cx="4160160" cy="62136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1700" strike="noStrike" u="none">
                <a:solidFill>
                  <a:srgbClr val="f5f7fa"/>
                </a:solidFill>
                <a:effectLst/>
                <a:uFillTx/>
                <a:latin typeface="Aptos"/>
                <a:ea typeface="Aptos"/>
              </a:rPr>
              <a:t>Treat CPU CVM + WSE + model path + policy as one composite confidential workload.</a:t>
            </a:r>
            <a:endParaRPr b="0" lang="ru-RU" sz="1700" strike="noStrike" u="none">
              <a:solidFill>
                <a:srgbClr val="ffffff"/>
              </a:solidFill>
              <a:effectLst/>
              <a:uFillTx/>
              <a:latin typeface="Arial"/>
            </a:endParaRPr>
          </a:p>
        </p:txBody>
      </p:sp>
      <p:sp>
        <p:nvSpPr>
          <p:cNvPr id="168" name="Text 18"/>
          <p:cNvSpPr/>
          <p:nvPr/>
        </p:nvSpPr>
        <p:spPr>
          <a:xfrm>
            <a:off x="914400" y="5230440"/>
            <a:ext cx="384012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0" i="1" lang="en-US" sz="1000" strike="noStrike" u="none">
                <a:solidFill>
                  <a:srgbClr val="a9b6c8"/>
                </a:solidFill>
                <a:effectLst/>
                <a:uFillTx/>
                <a:latin typeface="Aptos"/>
                <a:ea typeface="Aptos"/>
              </a:rPr>
              <a:t>No claim that this exists today — this deck proposes the architecture.</a:t>
            </a:r>
            <a:endParaRPr b="0" lang="ru-RU" sz="1000" strike="noStrike" u="none">
              <a:solidFill>
                <a:srgbClr val="ffffff"/>
              </a:solidFill>
              <a:effectLst/>
              <a:uFillTx/>
              <a:latin typeface="Arial"/>
            </a:endParaRPr>
          </a:p>
        </p:txBody>
      </p:sp>
      <p:sp>
        <p:nvSpPr>
          <p:cNvPr id="169" name="Text 19"/>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Sources: Cerebras CS-4 / WSE-3 architecture; Intel TDX; NVIDIA confidential GPU attestation.</a:t>
            </a:r>
            <a:endParaRPr b="0" lang="ru-RU" sz="660" strike="noStrike" u="none">
              <a:solidFill>
                <a:srgbClr val="ffffff"/>
              </a:solidFill>
              <a:effectLst/>
              <a:uFillTx/>
              <a:latin typeface="Arial"/>
            </a:endParaRPr>
          </a:p>
        </p:txBody>
      </p:sp>
      <p:sp>
        <p:nvSpPr>
          <p:cNvPr id="170" name="PlaceHolder 1"/>
          <p:cNvSpPr>
            <a:spLocks noGrp="1"/>
          </p:cNvSpPr>
          <p:nvPr>
            <p:ph type="sldNum" idx="8"/>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0C614112-C75A-49B5-9F52-56AFB2B9AB2E}"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4 • THREAT MODEL</a:t>
            </a:r>
            <a:endParaRPr b="0" lang="ru-RU" sz="1000" strike="noStrike" u="none">
              <a:solidFill>
                <a:srgbClr val="ffffff"/>
              </a:solidFill>
              <a:effectLst/>
              <a:uFillTx/>
              <a:latin typeface="Arial"/>
            </a:endParaRPr>
          </a:p>
        </p:txBody>
      </p:sp>
      <p:sp>
        <p:nvSpPr>
          <p:cNvPr id="172"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f5f7fa"/>
                </a:solidFill>
                <a:effectLst/>
                <a:uFillTx/>
                <a:latin typeface="Aptos"/>
                <a:ea typeface="Aptos"/>
              </a:rPr>
              <a:t>Define the adversary before defining the TEE.</a:t>
            </a:r>
            <a:endParaRPr b="0" lang="ru-RU" sz="2900" strike="noStrike" u="none">
              <a:solidFill>
                <a:srgbClr val="ffffff"/>
              </a:solidFill>
              <a:effectLst/>
              <a:uFillTx/>
              <a:latin typeface="Arial"/>
            </a:endParaRPr>
          </a:p>
        </p:txBody>
      </p:sp>
      <p:sp>
        <p:nvSpPr>
          <p:cNvPr id="173"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C-CCA assumes the infrastructure is potentially hostile while the hardware security boundary remains trusted.</a:t>
            </a:r>
            <a:endParaRPr b="0" lang="ru-RU" sz="1250" strike="noStrike" u="none">
              <a:solidFill>
                <a:srgbClr val="ffffff"/>
              </a:solidFill>
              <a:effectLst/>
              <a:uFillTx/>
              <a:latin typeface="Arial"/>
            </a:endParaRPr>
          </a:p>
        </p:txBody>
      </p:sp>
      <p:sp>
        <p:nvSpPr>
          <p:cNvPr id="174"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05</a:t>
            </a:r>
            <a:endParaRPr b="0" lang="ru-RU" sz="1000" strike="noStrike" u="none">
              <a:solidFill>
                <a:srgbClr val="ffffff"/>
              </a:solidFill>
              <a:effectLst/>
              <a:uFillTx/>
              <a:latin typeface="Arial"/>
            </a:endParaRPr>
          </a:p>
        </p:txBody>
      </p:sp>
      <p:sp>
        <p:nvSpPr>
          <p:cNvPr id="175" name="Text 4"/>
          <p:cNvSpPr/>
          <p:nvPr/>
        </p:nvSpPr>
        <p:spPr>
          <a:xfrm>
            <a:off x="567000" y="1993320"/>
            <a:ext cx="224892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pc="79" strike="noStrike" u="none">
                <a:solidFill>
                  <a:srgbClr val="a9b6c8"/>
                </a:solidFill>
                <a:effectLst/>
                <a:uFillTx/>
                <a:latin typeface="Aptos"/>
                <a:ea typeface="Aptos"/>
              </a:rPr>
              <a:t>Adversary</a:t>
            </a:r>
            <a:endParaRPr b="0" lang="ru-RU" sz="850" strike="noStrike" u="none">
              <a:solidFill>
                <a:srgbClr val="ffffff"/>
              </a:solidFill>
              <a:effectLst/>
              <a:uFillTx/>
              <a:latin typeface="Arial"/>
            </a:endParaRPr>
          </a:p>
        </p:txBody>
      </p:sp>
      <p:sp>
        <p:nvSpPr>
          <p:cNvPr id="176" name="Text 5"/>
          <p:cNvSpPr/>
          <p:nvPr/>
        </p:nvSpPr>
        <p:spPr>
          <a:xfrm>
            <a:off x="2907720" y="1993320"/>
            <a:ext cx="336456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pc="79" strike="noStrike" u="none">
                <a:solidFill>
                  <a:srgbClr val="a9b6c8"/>
                </a:solidFill>
                <a:effectLst/>
                <a:uFillTx/>
                <a:latin typeface="Aptos"/>
                <a:ea typeface="Aptos"/>
              </a:rPr>
              <a:t>Attack</a:t>
            </a:r>
            <a:endParaRPr b="0" lang="ru-RU" sz="850" strike="noStrike" u="none">
              <a:solidFill>
                <a:srgbClr val="ffffff"/>
              </a:solidFill>
              <a:effectLst/>
              <a:uFillTx/>
              <a:latin typeface="Arial"/>
            </a:endParaRPr>
          </a:p>
        </p:txBody>
      </p:sp>
      <p:sp>
        <p:nvSpPr>
          <p:cNvPr id="177" name="Text 6"/>
          <p:cNvSpPr/>
          <p:nvPr/>
        </p:nvSpPr>
        <p:spPr>
          <a:xfrm>
            <a:off x="6428160" y="1993320"/>
            <a:ext cx="10054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pc="79" strike="noStrike" u="none">
                <a:solidFill>
                  <a:srgbClr val="a9b6c8"/>
                </a:solidFill>
                <a:effectLst/>
                <a:uFillTx/>
                <a:latin typeface="Aptos"/>
                <a:ea typeface="Aptos"/>
              </a:rPr>
              <a:t>C-CCA</a:t>
            </a:r>
            <a:endParaRPr b="0" lang="ru-RU" sz="850" strike="noStrike" u="none">
              <a:solidFill>
                <a:srgbClr val="ffffff"/>
              </a:solidFill>
              <a:effectLst/>
              <a:uFillTx/>
              <a:latin typeface="Arial"/>
            </a:endParaRPr>
          </a:p>
        </p:txBody>
      </p:sp>
      <p:sp>
        <p:nvSpPr>
          <p:cNvPr id="178" name="Text 7"/>
          <p:cNvSpPr/>
          <p:nvPr/>
        </p:nvSpPr>
        <p:spPr>
          <a:xfrm>
            <a:off x="7516440" y="1993320"/>
            <a:ext cx="21484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pc="79" strike="noStrike" u="none">
                <a:solidFill>
                  <a:srgbClr val="a9b6c8"/>
                </a:solidFill>
                <a:effectLst/>
                <a:uFillTx/>
                <a:latin typeface="Aptos"/>
                <a:ea typeface="Aptos"/>
              </a:rPr>
              <a:t>Primary control</a:t>
            </a:r>
            <a:endParaRPr b="0" lang="ru-RU" sz="850" strike="noStrike" u="none">
              <a:solidFill>
                <a:srgbClr val="ffffff"/>
              </a:solidFill>
              <a:effectLst/>
              <a:uFillTx/>
              <a:latin typeface="Arial"/>
            </a:endParaRPr>
          </a:p>
        </p:txBody>
      </p:sp>
      <p:sp>
        <p:nvSpPr>
          <p:cNvPr id="179" name="Text 8"/>
          <p:cNvSpPr/>
          <p:nvPr/>
        </p:nvSpPr>
        <p:spPr>
          <a:xfrm>
            <a:off x="9829800" y="1993320"/>
            <a:ext cx="1810080" cy="255600"/>
          </a:xfrm>
          <a:prstGeom prst="rect">
            <a:avLst/>
          </a:prstGeom>
          <a:noFill/>
          <a:ln w="0">
            <a:noFill/>
          </a:ln>
        </p:spPr>
        <p:style>
          <a:lnRef idx="0"/>
          <a:fillRef idx="0"/>
          <a:effectRef idx="0"/>
          <a:fontRef idx="minor"/>
        </p:style>
        <p:txBody>
          <a:bodyPr lIns="0" rIns="0" tIns="0" bIns="0" anchor="ctr">
            <a:normAutofit fontScale="62500" lnSpcReduction="19999"/>
          </a:bodyPr>
          <a:p>
            <a:pPr defTabSz="914400">
              <a:lnSpc>
                <a:spcPct val="100000"/>
              </a:lnSpc>
              <a:tabLst>
                <a:tab algn="l" pos="0"/>
              </a:tabLst>
            </a:pPr>
            <a:endParaRPr b="0" lang="en-US" sz="850" strike="noStrike" u="none">
              <a:solidFill>
                <a:schemeClr val="dk1"/>
              </a:solidFill>
              <a:effectLst/>
              <a:uFillTx/>
              <a:latin typeface="Aptos"/>
            </a:endParaRPr>
          </a:p>
        </p:txBody>
      </p:sp>
      <p:sp>
        <p:nvSpPr>
          <p:cNvPr id="180" name="Shape 9"/>
          <p:cNvSpPr/>
          <p:nvPr/>
        </p:nvSpPr>
        <p:spPr>
          <a:xfrm>
            <a:off x="567000" y="2359080"/>
            <a:ext cx="11018160" cy="438480"/>
          </a:xfrm>
          <a:prstGeom prst="roundRect">
            <a:avLst>
              <a:gd name="adj" fmla="val 33333"/>
            </a:avLst>
          </a:prstGeom>
          <a:solidFill>
            <a:srgbClr val="121c2e"/>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81" name="Text 10"/>
          <p:cNvSpPr/>
          <p:nvPr/>
        </p:nvSpPr>
        <p:spPr>
          <a:xfrm>
            <a:off x="749880" y="2441520"/>
            <a:ext cx="19746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f5f7fa"/>
                </a:solidFill>
                <a:effectLst/>
                <a:uFillTx/>
                <a:latin typeface="Aptos"/>
                <a:ea typeface="Aptos"/>
              </a:rPr>
              <a:t>Cloud / data-center operator</a:t>
            </a:r>
            <a:endParaRPr b="0" lang="ru-RU" sz="1050" strike="noStrike" u="none">
              <a:solidFill>
                <a:srgbClr val="ffffff"/>
              </a:solidFill>
              <a:effectLst/>
              <a:uFillTx/>
              <a:latin typeface="Arial"/>
            </a:endParaRPr>
          </a:p>
        </p:txBody>
      </p:sp>
      <p:sp>
        <p:nvSpPr>
          <p:cNvPr id="182" name="Text 11"/>
          <p:cNvSpPr/>
          <p:nvPr/>
        </p:nvSpPr>
        <p:spPr>
          <a:xfrm>
            <a:off x="3063240" y="2423160"/>
            <a:ext cx="30445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d8e2ef"/>
                </a:solidFill>
                <a:effectLst/>
                <a:uFillTx/>
                <a:latin typeface="Aptos"/>
                <a:ea typeface="Aptos"/>
              </a:rPr>
              <a:t>Read host memory, inspect workload</a:t>
            </a:r>
            <a:endParaRPr b="0" lang="ru-RU" sz="1000" strike="noStrike" u="none">
              <a:solidFill>
                <a:srgbClr val="ffffff"/>
              </a:solidFill>
              <a:effectLst/>
              <a:uFillTx/>
              <a:latin typeface="Arial"/>
            </a:endParaRPr>
          </a:p>
        </p:txBody>
      </p:sp>
      <p:sp>
        <p:nvSpPr>
          <p:cNvPr id="183" name="Text 12"/>
          <p:cNvSpPr/>
          <p:nvPr/>
        </p:nvSpPr>
        <p:spPr>
          <a:xfrm>
            <a:off x="6574680" y="2423160"/>
            <a:ext cx="65808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5fe1a0"/>
                </a:solidFill>
                <a:effectLst/>
                <a:uFillTx/>
                <a:latin typeface="Aptos"/>
                <a:ea typeface="Aptos"/>
              </a:rPr>
              <a:t>YES</a:t>
            </a:r>
            <a:endParaRPr b="0" lang="ru-RU" sz="950" strike="noStrike" u="none">
              <a:solidFill>
                <a:srgbClr val="ffffff"/>
              </a:solidFill>
              <a:effectLst/>
              <a:uFillTx/>
              <a:latin typeface="Arial"/>
            </a:endParaRPr>
          </a:p>
        </p:txBody>
      </p:sp>
      <p:sp>
        <p:nvSpPr>
          <p:cNvPr id="184" name="Text 13"/>
          <p:cNvSpPr/>
          <p:nvPr/>
        </p:nvSpPr>
        <p:spPr>
          <a:xfrm>
            <a:off x="7598520" y="2423160"/>
            <a:ext cx="19382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d8e2ef"/>
                </a:solidFill>
                <a:effectLst/>
                <a:uFillTx/>
                <a:latin typeface="Aptos"/>
                <a:ea typeface="Aptos"/>
              </a:rPr>
              <a:t>CVM + WSE isolation</a:t>
            </a:r>
            <a:endParaRPr b="0" lang="ru-RU" sz="1000" strike="noStrike" u="none">
              <a:solidFill>
                <a:srgbClr val="ffffff"/>
              </a:solidFill>
              <a:effectLst/>
              <a:uFillTx/>
              <a:latin typeface="Arial"/>
            </a:endParaRPr>
          </a:p>
        </p:txBody>
      </p:sp>
      <p:sp>
        <p:nvSpPr>
          <p:cNvPr id="185" name="Shape 14"/>
          <p:cNvSpPr/>
          <p:nvPr/>
        </p:nvSpPr>
        <p:spPr>
          <a:xfrm>
            <a:off x="567000" y="2889360"/>
            <a:ext cx="11018160" cy="438480"/>
          </a:xfrm>
          <a:prstGeom prst="roundRect">
            <a:avLst>
              <a:gd name="adj" fmla="val 33333"/>
            </a:avLst>
          </a:prstGeom>
          <a:solidFill>
            <a:srgbClr val="162337"/>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86" name="Text 15"/>
          <p:cNvSpPr/>
          <p:nvPr/>
        </p:nvSpPr>
        <p:spPr>
          <a:xfrm>
            <a:off x="749880" y="2971800"/>
            <a:ext cx="19746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f5f7fa"/>
                </a:solidFill>
                <a:effectLst/>
                <a:uFillTx/>
                <a:latin typeface="Aptos"/>
                <a:ea typeface="Aptos"/>
              </a:rPr>
              <a:t>Hypervisor / host OS</a:t>
            </a:r>
            <a:endParaRPr b="0" lang="ru-RU" sz="1050" strike="noStrike" u="none">
              <a:solidFill>
                <a:srgbClr val="ffffff"/>
              </a:solidFill>
              <a:effectLst/>
              <a:uFillTx/>
              <a:latin typeface="Arial"/>
            </a:endParaRPr>
          </a:p>
        </p:txBody>
      </p:sp>
      <p:sp>
        <p:nvSpPr>
          <p:cNvPr id="187" name="Text 16"/>
          <p:cNvSpPr/>
          <p:nvPr/>
        </p:nvSpPr>
        <p:spPr>
          <a:xfrm>
            <a:off x="3063240" y="2953440"/>
            <a:ext cx="30445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d8e2ef"/>
                </a:solidFill>
                <a:effectLst/>
                <a:uFillTx/>
                <a:latin typeface="Aptos"/>
                <a:ea typeface="Aptos"/>
              </a:rPr>
              <a:t>DMA, memory inspection, control-plane access</a:t>
            </a:r>
            <a:endParaRPr b="0" lang="ru-RU" sz="1000" strike="noStrike" u="none">
              <a:solidFill>
                <a:srgbClr val="ffffff"/>
              </a:solidFill>
              <a:effectLst/>
              <a:uFillTx/>
              <a:latin typeface="Arial"/>
            </a:endParaRPr>
          </a:p>
        </p:txBody>
      </p:sp>
      <p:sp>
        <p:nvSpPr>
          <p:cNvPr id="188" name="Text 17"/>
          <p:cNvSpPr/>
          <p:nvPr/>
        </p:nvSpPr>
        <p:spPr>
          <a:xfrm>
            <a:off x="6574680" y="2953440"/>
            <a:ext cx="65808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5fe1a0"/>
                </a:solidFill>
                <a:effectLst/>
                <a:uFillTx/>
                <a:latin typeface="Aptos"/>
                <a:ea typeface="Aptos"/>
              </a:rPr>
              <a:t>YES</a:t>
            </a:r>
            <a:endParaRPr b="0" lang="ru-RU" sz="950" strike="noStrike" u="none">
              <a:solidFill>
                <a:srgbClr val="ffffff"/>
              </a:solidFill>
              <a:effectLst/>
              <a:uFillTx/>
              <a:latin typeface="Arial"/>
            </a:endParaRPr>
          </a:p>
        </p:txBody>
      </p:sp>
      <p:sp>
        <p:nvSpPr>
          <p:cNvPr id="189" name="Text 18"/>
          <p:cNvSpPr/>
          <p:nvPr/>
        </p:nvSpPr>
        <p:spPr>
          <a:xfrm>
            <a:off x="7598520" y="2953440"/>
            <a:ext cx="1938240" cy="25560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00" strike="noStrike" u="none">
                <a:solidFill>
                  <a:srgbClr val="d8e2ef"/>
                </a:solidFill>
                <a:effectLst/>
                <a:uFillTx/>
                <a:latin typeface="Aptos"/>
                <a:ea typeface="Aptos"/>
              </a:rPr>
              <a:t>Encrypted private memory + I/O controls</a:t>
            </a:r>
            <a:endParaRPr b="0" lang="ru-RU" sz="1000" strike="noStrike" u="none">
              <a:solidFill>
                <a:srgbClr val="ffffff"/>
              </a:solidFill>
              <a:effectLst/>
              <a:uFillTx/>
              <a:latin typeface="Arial"/>
            </a:endParaRPr>
          </a:p>
        </p:txBody>
      </p:sp>
      <p:sp>
        <p:nvSpPr>
          <p:cNvPr id="190" name="Shape 19"/>
          <p:cNvSpPr/>
          <p:nvPr/>
        </p:nvSpPr>
        <p:spPr>
          <a:xfrm>
            <a:off x="567000" y="3420000"/>
            <a:ext cx="11018160" cy="438480"/>
          </a:xfrm>
          <a:prstGeom prst="roundRect">
            <a:avLst>
              <a:gd name="adj" fmla="val 33333"/>
            </a:avLst>
          </a:prstGeom>
          <a:solidFill>
            <a:srgbClr val="121c2e"/>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91" name="Text 20"/>
          <p:cNvSpPr/>
          <p:nvPr/>
        </p:nvSpPr>
        <p:spPr>
          <a:xfrm>
            <a:off x="749880" y="3502080"/>
            <a:ext cx="1974600" cy="20988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050" strike="noStrike" u="none">
                <a:solidFill>
                  <a:srgbClr val="f5f7fa"/>
                </a:solidFill>
                <a:effectLst/>
                <a:uFillTx/>
                <a:latin typeface="Aptos"/>
                <a:ea typeface="Aptos"/>
              </a:rPr>
              <a:t>Unauthorized firmware / debug</a:t>
            </a:r>
            <a:endParaRPr b="0" lang="ru-RU" sz="1050" strike="noStrike" u="none">
              <a:solidFill>
                <a:srgbClr val="ffffff"/>
              </a:solidFill>
              <a:effectLst/>
              <a:uFillTx/>
              <a:latin typeface="Arial"/>
            </a:endParaRPr>
          </a:p>
        </p:txBody>
      </p:sp>
      <p:sp>
        <p:nvSpPr>
          <p:cNvPr id="192" name="Text 21"/>
          <p:cNvSpPr/>
          <p:nvPr/>
        </p:nvSpPr>
        <p:spPr>
          <a:xfrm>
            <a:off x="3063240" y="3483720"/>
            <a:ext cx="30445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d8e2ef"/>
                </a:solidFill>
                <a:effectLst/>
                <a:uFillTx/>
                <a:latin typeface="Aptos"/>
                <a:ea typeface="Aptos"/>
              </a:rPr>
              <a:t>Load altered firmware, inspect state</a:t>
            </a:r>
            <a:endParaRPr b="0" lang="ru-RU" sz="1000" strike="noStrike" u="none">
              <a:solidFill>
                <a:srgbClr val="ffffff"/>
              </a:solidFill>
              <a:effectLst/>
              <a:uFillTx/>
              <a:latin typeface="Arial"/>
            </a:endParaRPr>
          </a:p>
        </p:txBody>
      </p:sp>
      <p:sp>
        <p:nvSpPr>
          <p:cNvPr id="193" name="Text 22"/>
          <p:cNvSpPr/>
          <p:nvPr/>
        </p:nvSpPr>
        <p:spPr>
          <a:xfrm>
            <a:off x="6574680" y="3483720"/>
            <a:ext cx="65808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5fe1a0"/>
                </a:solidFill>
                <a:effectLst/>
                <a:uFillTx/>
                <a:latin typeface="Aptos"/>
                <a:ea typeface="Aptos"/>
              </a:rPr>
              <a:t>YES</a:t>
            </a:r>
            <a:endParaRPr b="0" lang="ru-RU" sz="950" strike="noStrike" u="none">
              <a:solidFill>
                <a:srgbClr val="ffffff"/>
              </a:solidFill>
              <a:effectLst/>
              <a:uFillTx/>
              <a:latin typeface="Arial"/>
            </a:endParaRPr>
          </a:p>
        </p:txBody>
      </p:sp>
      <p:sp>
        <p:nvSpPr>
          <p:cNvPr id="194" name="Text 23"/>
          <p:cNvSpPr/>
          <p:nvPr/>
        </p:nvSpPr>
        <p:spPr>
          <a:xfrm>
            <a:off x="7598520" y="3483720"/>
            <a:ext cx="1938240" cy="25560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00" strike="noStrike" u="none">
                <a:solidFill>
                  <a:srgbClr val="d8e2ef"/>
                </a:solidFill>
                <a:effectLst/>
                <a:uFillTx/>
                <a:latin typeface="Aptos"/>
                <a:ea typeface="Aptos"/>
              </a:rPr>
              <a:t>Secure boot + measured boot + gated debug</a:t>
            </a:r>
            <a:endParaRPr b="0" lang="ru-RU" sz="1000" strike="noStrike" u="none">
              <a:solidFill>
                <a:srgbClr val="ffffff"/>
              </a:solidFill>
              <a:effectLst/>
              <a:uFillTx/>
              <a:latin typeface="Arial"/>
            </a:endParaRPr>
          </a:p>
        </p:txBody>
      </p:sp>
      <p:sp>
        <p:nvSpPr>
          <p:cNvPr id="195" name="Shape 24"/>
          <p:cNvSpPr/>
          <p:nvPr/>
        </p:nvSpPr>
        <p:spPr>
          <a:xfrm>
            <a:off x="567000" y="3950280"/>
            <a:ext cx="11018160" cy="438480"/>
          </a:xfrm>
          <a:prstGeom prst="roundRect">
            <a:avLst>
              <a:gd name="adj" fmla="val 33333"/>
            </a:avLst>
          </a:prstGeom>
          <a:solidFill>
            <a:srgbClr val="162337"/>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196" name="Text 25"/>
          <p:cNvSpPr/>
          <p:nvPr/>
        </p:nvSpPr>
        <p:spPr>
          <a:xfrm>
            <a:off x="749880" y="4032360"/>
            <a:ext cx="1974600" cy="20988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050" strike="noStrike" u="none">
                <a:solidFill>
                  <a:srgbClr val="f5f7fa"/>
                </a:solidFill>
                <a:effectLst/>
                <a:uFillTx/>
                <a:latin typeface="Aptos"/>
                <a:ea typeface="Aptos"/>
              </a:rPr>
              <a:t>Cross-tenant accelerator access</a:t>
            </a:r>
            <a:endParaRPr b="0" lang="ru-RU" sz="1050" strike="noStrike" u="none">
              <a:solidFill>
                <a:srgbClr val="ffffff"/>
              </a:solidFill>
              <a:effectLst/>
              <a:uFillTx/>
              <a:latin typeface="Arial"/>
            </a:endParaRPr>
          </a:p>
        </p:txBody>
      </p:sp>
      <p:sp>
        <p:nvSpPr>
          <p:cNvPr id="197" name="Text 26"/>
          <p:cNvSpPr/>
          <p:nvPr/>
        </p:nvSpPr>
        <p:spPr>
          <a:xfrm>
            <a:off x="3063240" y="4014360"/>
            <a:ext cx="30445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d8e2ef"/>
                </a:solidFill>
                <a:effectLst/>
                <a:uFillTx/>
                <a:latin typeface="Aptos"/>
                <a:ea typeface="Aptos"/>
              </a:rPr>
              <a:t>Read another domain’s SRAM/fabric traffic</a:t>
            </a:r>
            <a:endParaRPr b="0" lang="ru-RU" sz="1000" strike="noStrike" u="none">
              <a:solidFill>
                <a:srgbClr val="ffffff"/>
              </a:solidFill>
              <a:effectLst/>
              <a:uFillTx/>
              <a:latin typeface="Arial"/>
            </a:endParaRPr>
          </a:p>
        </p:txBody>
      </p:sp>
      <p:sp>
        <p:nvSpPr>
          <p:cNvPr id="198" name="Text 27"/>
          <p:cNvSpPr/>
          <p:nvPr/>
        </p:nvSpPr>
        <p:spPr>
          <a:xfrm>
            <a:off x="6574680" y="4014360"/>
            <a:ext cx="65808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5fe1a0"/>
                </a:solidFill>
                <a:effectLst/>
                <a:uFillTx/>
                <a:latin typeface="Aptos"/>
                <a:ea typeface="Aptos"/>
              </a:rPr>
              <a:t>YES</a:t>
            </a:r>
            <a:endParaRPr b="0" lang="ru-RU" sz="950" strike="noStrike" u="none">
              <a:solidFill>
                <a:srgbClr val="ffffff"/>
              </a:solidFill>
              <a:effectLst/>
              <a:uFillTx/>
              <a:latin typeface="Arial"/>
            </a:endParaRPr>
          </a:p>
        </p:txBody>
      </p:sp>
      <p:sp>
        <p:nvSpPr>
          <p:cNvPr id="199" name="Text 28"/>
          <p:cNvSpPr/>
          <p:nvPr/>
        </p:nvSpPr>
        <p:spPr>
          <a:xfrm>
            <a:off x="7598520" y="4014360"/>
            <a:ext cx="1938240" cy="25560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00" strike="noStrike" u="none">
                <a:solidFill>
                  <a:srgbClr val="d8e2ef"/>
                </a:solidFill>
                <a:effectLst/>
                <a:uFillTx/>
                <a:latin typeface="Aptos"/>
                <a:ea typeface="Aptos"/>
              </a:rPr>
              <a:t>Domain IDs + fabric ACL + protected DMA</a:t>
            </a:r>
            <a:endParaRPr b="0" lang="ru-RU" sz="1000" strike="noStrike" u="none">
              <a:solidFill>
                <a:srgbClr val="ffffff"/>
              </a:solidFill>
              <a:effectLst/>
              <a:uFillTx/>
              <a:latin typeface="Arial"/>
            </a:endParaRPr>
          </a:p>
        </p:txBody>
      </p:sp>
      <p:sp>
        <p:nvSpPr>
          <p:cNvPr id="200" name="Shape 29"/>
          <p:cNvSpPr/>
          <p:nvPr/>
        </p:nvSpPr>
        <p:spPr>
          <a:xfrm>
            <a:off x="567000" y="4480560"/>
            <a:ext cx="11018160" cy="438480"/>
          </a:xfrm>
          <a:prstGeom prst="roundRect">
            <a:avLst>
              <a:gd name="adj" fmla="val 33333"/>
            </a:avLst>
          </a:prstGeom>
          <a:solidFill>
            <a:srgbClr val="121c2e"/>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01" name="Text 30"/>
          <p:cNvSpPr/>
          <p:nvPr/>
        </p:nvSpPr>
        <p:spPr>
          <a:xfrm>
            <a:off x="749880" y="4563000"/>
            <a:ext cx="197460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f5f7fa"/>
                </a:solidFill>
                <a:effectLst/>
                <a:uFillTx/>
                <a:latin typeface="Aptos"/>
                <a:ea typeface="Aptos"/>
              </a:rPr>
              <a:t>Replay / rollback</a:t>
            </a:r>
            <a:endParaRPr b="0" lang="ru-RU" sz="1050" strike="noStrike" u="none">
              <a:solidFill>
                <a:srgbClr val="ffffff"/>
              </a:solidFill>
              <a:effectLst/>
              <a:uFillTx/>
              <a:latin typeface="Arial"/>
            </a:endParaRPr>
          </a:p>
        </p:txBody>
      </p:sp>
      <p:sp>
        <p:nvSpPr>
          <p:cNvPr id="202" name="Text 31"/>
          <p:cNvSpPr/>
          <p:nvPr/>
        </p:nvSpPr>
        <p:spPr>
          <a:xfrm>
            <a:off x="3063240" y="4544640"/>
            <a:ext cx="30445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d8e2ef"/>
                </a:solidFill>
                <a:effectLst/>
                <a:uFillTx/>
                <a:latin typeface="Aptos"/>
                <a:ea typeface="Aptos"/>
              </a:rPr>
              <a:t>Restore stale state / keys</a:t>
            </a:r>
            <a:endParaRPr b="0" lang="ru-RU" sz="1000" strike="noStrike" u="none">
              <a:solidFill>
                <a:srgbClr val="ffffff"/>
              </a:solidFill>
              <a:effectLst/>
              <a:uFillTx/>
              <a:latin typeface="Arial"/>
            </a:endParaRPr>
          </a:p>
        </p:txBody>
      </p:sp>
      <p:sp>
        <p:nvSpPr>
          <p:cNvPr id="203" name="Text 32"/>
          <p:cNvSpPr/>
          <p:nvPr/>
        </p:nvSpPr>
        <p:spPr>
          <a:xfrm>
            <a:off x="6574680" y="4544640"/>
            <a:ext cx="65808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5fe1a0"/>
                </a:solidFill>
                <a:effectLst/>
                <a:uFillTx/>
                <a:latin typeface="Aptos"/>
                <a:ea typeface="Aptos"/>
              </a:rPr>
              <a:t>YES</a:t>
            </a:r>
            <a:endParaRPr b="0" lang="ru-RU" sz="950" strike="noStrike" u="none">
              <a:solidFill>
                <a:srgbClr val="ffffff"/>
              </a:solidFill>
              <a:effectLst/>
              <a:uFillTx/>
              <a:latin typeface="Arial"/>
            </a:endParaRPr>
          </a:p>
        </p:txBody>
      </p:sp>
      <p:sp>
        <p:nvSpPr>
          <p:cNvPr id="204" name="Text 33"/>
          <p:cNvSpPr/>
          <p:nvPr/>
        </p:nvSpPr>
        <p:spPr>
          <a:xfrm>
            <a:off x="7598520" y="4544640"/>
            <a:ext cx="1938240" cy="25560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00" strike="noStrike" u="none">
                <a:solidFill>
                  <a:srgbClr val="d8e2ef"/>
                </a:solidFill>
                <a:effectLst/>
                <a:uFillTx/>
                <a:latin typeface="Aptos"/>
                <a:ea typeface="Aptos"/>
              </a:rPr>
              <a:t>Counters / freshness + sealed state policy</a:t>
            </a:r>
            <a:endParaRPr b="0" lang="ru-RU" sz="1000" strike="noStrike" u="none">
              <a:solidFill>
                <a:srgbClr val="ffffff"/>
              </a:solidFill>
              <a:effectLst/>
              <a:uFillTx/>
              <a:latin typeface="Arial"/>
            </a:endParaRPr>
          </a:p>
        </p:txBody>
      </p:sp>
      <p:sp>
        <p:nvSpPr>
          <p:cNvPr id="205" name="Shape 34"/>
          <p:cNvSpPr/>
          <p:nvPr/>
        </p:nvSpPr>
        <p:spPr>
          <a:xfrm>
            <a:off x="567000" y="5010840"/>
            <a:ext cx="11018160" cy="438480"/>
          </a:xfrm>
          <a:prstGeom prst="roundRect">
            <a:avLst>
              <a:gd name="adj" fmla="val 33333"/>
            </a:avLst>
          </a:prstGeom>
          <a:solidFill>
            <a:srgbClr val="162337"/>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06" name="Text 35"/>
          <p:cNvSpPr/>
          <p:nvPr/>
        </p:nvSpPr>
        <p:spPr>
          <a:xfrm>
            <a:off x="749880" y="5093280"/>
            <a:ext cx="1974600" cy="20988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050" strike="noStrike" u="none">
                <a:solidFill>
                  <a:srgbClr val="f5f7fa"/>
                </a:solidFill>
                <a:effectLst/>
                <a:uFillTx/>
                <a:latin typeface="Aptos"/>
                <a:ea typeface="Aptos"/>
              </a:rPr>
              <a:t>Advanced physical side channels</a:t>
            </a:r>
            <a:endParaRPr b="0" lang="ru-RU" sz="1050" strike="noStrike" u="none">
              <a:solidFill>
                <a:srgbClr val="ffffff"/>
              </a:solidFill>
              <a:effectLst/>
              <a:uFillTx/>
              <a:latin typeface="Arial"/>
            </a:endParaRPr>
          </a:p>
        </p:txBody>
      </p:sp>
      <p:sp>
        <p:nvSpPr>
          <p:cNvPr id="207" name="Text 36"/>
          <p:cNvSpPr/>
          <p:nvPr/>
        </p:nvSpPr>
        <p:spPr>
          <a:xfrm>
            <a:off x="3063240" y="5074920"/>
            <a:ext cx="30445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d8e2ef"/>
                </a:solidFill>
                <a:effectLst/>
                <a:uFillTx/>
                <a:latin typeface="Aptos"/>
                <a:ea typeface="Aptos"/>
              </a:rPr>
              <a:t>Power / EM / invasive probing</a:t>
            </a:r>
            <a:endParaRPr b="0" lang="ru-RU" sz="1000" strike="noStrike" u="none">
              <a:solidFill>
                <a:srgbClr val="ffffff"/>
              </a:solidFill>
              <a:effectLst/>
              <a:uFillTx/>
              <a:latin typeface="Arial"/>
            </a:endParaRPr>
          </a:p>
        </p:txBody>
      </p:sp>
      <p:sp>
        <p:nvSpPr>
          <p:cNvPr id="208" name="Text 37"/>
          <p:cNvSpPr/>
          <p:nvPr/>
        </p:nvSpPr>
        <p:spPr>
          <a:xfrm>
            <a:off x="6574680" y="5074920"/>
            <a:ext cx="65808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d166"/>
                </a:solidFill>
                <a:effectLst/>
                <a:uFillTx/>
                <a:latin typeface="Aptos"/>
                <a:ea typeface="Aptos"/>
              </a:rPr>
              <a:t>PARTIAL*</a:t>
            </a:r>
            <a:endParaRPr b="0" lang="ru-RU" sz="950" strike="noStrike" u="none">
              <a:solidFill>
                <a:srgbClr val="ffffff"/>
              </a:solidFill>
              <a:effectLst/>
              <a:uFillTx/>
              <a:latin typeface="Arial"/>
            </a:endParaRPr>
          </a:p>
        </p:txBody>
      </p:sp>
      <p:sp>
        <p:nvSpPr>
          <p:cNvPr id="209" name="Text 38"/>
          <p:cNvSpPr/>
          <p:nvPr/>
        </p:nvSpPr>
        <p:spPr>
          <a:xfrm>
            <a:off x="7598520" y="5074920"/>
            <a:ext cx="1938240" cy="25560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00" strike="noStrike" u="none">
                <a:solidFill>
                  <a:srgbClr val="d8e2ef"/>
                </a:solidFill>
                <a:effectLst/>
                <a:uFillTx/>
                <a:latin typeface="Aptos"/>
                <a:ea typeface="Aptos"/>
              </a:rPr>
              <a:t>High-assurance mode / packaging research</a:t>
            </a:r>
            <a:endParaRPr b="0" lang="ru-RU" sz="1000" strike="noStrike" u="none">
              <a:solidFill>
                <a:srgbClr val="ffffff"/>
              </a:solidFill>
              <a:effectLst/>
              <a:uFillTx/>
              <a:latin typeface="Arial"/>
            </a:endParaRPr>
          </a:p>
        </p:txBody>
      </p:sp>
      <p:sp>
        <p:nvSpPr>
          <p:cNvPr id="210" name="Text 39"/>
          <p:cNvSpPr/>
          <p:nvPr/>
        </p:nvSpPr>
        <p:spPr>
          <a:xfrm>
            <a:off x="658440" y="5742360"/>
            <a:ext cx="1033236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939" strike="noStrike" u="none">
                <a:solidFill>
                  <a:srgbClr val="a9b6c8"/>
                </a:solidFill>
                <a:effectLst/>
                <a:uFillTx/>
                <a:latin typeface="Aptos"/>
                <a:ea typeface="Aptos"/>
              </a:rPr>
              <a:t>* Side-channel resistance should be an explicit tier, not an implicit promise. Confidentiality against privileged software is the first product target.</a:t>
            </a:r>
            <a:endParaRPr b="0" lang="ru-RU" sz="939" strike="noStrike" u="none">
              <a:solidFill>
                <a:srgbClr val="ffffff"/>
              </a:solidFill>
              <a:effectLst/>
              <a:uFillTx/>
              <a:latin typeface="Arial"/>
            </a:endParaRPr>
          </a:p>
        </p:txBody>
      </p:sp>
      <p:sp>
        <p:nvSpPr>
          <p:cNvPr id="211" name="Text 40"/>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Conceptual threat model. Rooted in standard confidential-computing properties: memory confidentiality/integrity, hardware isolation, and remote attestation.</a:t>
            </a:r>
            <a:endParaRPr b="0" lang="ru-RU" sz="660" strike="noStrike" u="none">
              <a:solidFill>
                <a:srgbClr val="ffffff"/>
              </a:solidFill>
              <a:effectLst/>
              <a:uFillTx/>
              <a:latin typeface="Arial"/>
            </a:endParaRPr>
          </a:p>
        </p:txBody>
      </p:sp>
      <p:sp>
        <p:nvSpPr>
          <p:cNvPr id="212" name="PlaceHolder 1"/>
          <p:cNvSpPr>
            <a:spLocks noGrp="1"/>
          </p:cNvSpPr>
          <p:nvPr>
            <p:ph type="sldNum" idx="9"/>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71F244A9-E1BE-4C90-96D8-EA13949E66AA}"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5 • C-CCA ARCHITECTURE</a:t>
            </a:r>
            <a:endParaRPr b="0" lang="ru-RU" sz="1000" strike="noStrike" u="none">
              <a:solidFill>
                <a:srgbClr val="ffffff"/>
              </a:solidFill>
              <a:effectLst/>
              <a:uFillTx/>
              <a:latin typeface="Arial"/>
            </a:endParaRPr>
          </a:p>
        </p:txBody>
      </p:sp>
      <p:sp>
        <p:nvSpPr>
          <p:cNvPr id="214"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2900" strike="noStrike" u="none">
                <a:solidFill>
                  <a:srgbClr val="f5f7fa"/>
                </a:solidFill>
                <a:effectLst/>
                <a:uFillTx/>
                <a:latin typeface="Aptos"/>
                <a:ea typeface="Aptos"/>
              </a:rPr>
              <a:t>Composite TEE: CPU CVM + Confidential WSE + protected model path.</a:t>
            </a:r>
            <a:endParaRPr b="0" lang="ru-RU" sz="2900" strike="noStrike" u="none">
              <a:solidFill>
                <a:srgbClr val="ffffff"/>
              </a:solidFill>
              <a:effectLst/>
              <a:uFillTx/>
              <a:latin typeface="Arial"/>
            </a:endParaRPr>
          </a:p>
        </p:txBody>
      </p:sp>
      <p:sp>
        <p:nvSpPr>
          <p:cNvPr id="215"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The unit of trust becomes the workload, not the server.</a:t>
            </a:r>
            <a:endParaRPr b="0" lang="ru-RU" sz="1250" strike="noStrike" u="none">
              <a:solidFill>
                <a:srgbClr val="ffffff"/>
              </a:solidFill>
              <a:effectLst/>
              <a:uFillTx/>
              <a:latin typeface="Arial"/>
            </a:endParaRPr>
          </a:p>
        </p:txBody>
      </p:sp>
      <p:sp>
        <p:nvSpPr>
          <p:cNvPr id="216"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06</a:t>
            </a:r>
            <a:endParaRPr b="0" lang="ru-RU" sz="1000" strike="noStrike" u="none">
              <a:solidFill>
                <a:srgbClr val="ffffff"/>
              </a:solidFill>
              <a:effectLst/>
              <a:uFillTx/>
              <a:latin typeface="Arial"/>
            </a:endParaRPr>
          </a:p>
        </p:txBody>
      </p:sp>
      <p:sp>
        <p:nvSpPr>
          <p:cNvPr id="217" name="Shape 4"/>
          <p:cNvSpPr/>
          <p:nvPr/>
        </p:nvSpPr>
        <p:spPr>
          <a:xfrm>
            <a:off x="640080" y="1828800"/>
            <a:ext cx="10926720" cy="3977280"/>
          </a:xfrm>
          <a:prstGeom prst="roundRect">
            <a:avLst>
              <a:gd name="adj" fmla="val 4138"/>
            </a:avLst>
          </a:prstGeom>
          <a:solidFill>
            <a:srgbClr val="0e1828"/>
          </a:solidFill>
          <a:ln w="19050">
            <a:solidFill>
              <a:srgbClr val="ff6b35"/>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18" name="Text 5"/>
          <p:cNvSpPr/>
          <p:nvPr/>
        </p:nvSpPr>
        <p:spPr>
          <a:xfrm>
            <a:off x="896040" y="2020680"/>
            <a:ext cx="292572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9" strike="noStrike" u="none">
                <a:solidFill>
                  <a:srgbClr val="ff6b35"/>
                </a:solidFill>
                <a:effectLst/>
                <a:uFillTx/>
                <a:latin typeface="Aptos"/>
                <a:ea typeface="Aptos"/>
              </a:rPr>
              <a:t>COMPOSITE CONFIDENTIAL DOMAIN</a:t>
            </a:r>
            <a:endParaRPr b="0" lang="ru-RU" sz="900" strike="noStrike" u="none">
              <a:solidFill>
                <a:srgbClr val="ffffff"/>
              </a:solidFill>
              <a:effectLst/>
              <a:uFillTx/>
              <a:latin typeface="Arial"/>
            </a:endParaRPr>
          </a:p>
        </p:txBody>
      </p:sp>
      <p:sp>
        <p:nvSpPr>
          <p:cNvPr id="219" name="Shape 6"/>
          <p:cNvSpPr/>
          <p:nvPr/>
        </p:nvSpPr>
        <p:spPr>
          <a:xfrm>
            <a:off x="4526280" y="1417320"/>
            <a:ext cx="3154320" cy="585000"/>
          </a:xfrm>
          <a:prstGeom prst="roundRect">
            <a:avLst>
              <a:gd name="adj" fmla="val 25000"/>
            </a:avLst>
          </a:prstGeom>
          <a:solidFill>
            <a:srgbClr val="17233a"/>
          </a:solidFill>
          <a:ln w="12700">
            <a:solidFill>
              <a:srgbClr val="5fe1a0"/>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20" name="Text 7"/>
          <p:cNvSpPr/>
          <p:nvPr/>
        </p:nvSpPr>
        <p:spPr>
          <a:xfrm>
            <a:off x="4745880" y="1600200"/>
            <a:ext cx="2697120" cy="219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5f7fa"/>
                </a:solidFill>
                <a:effectLst/>
                <a:uFillTx/>
                <a:latin typeface="Aptos"/>
                <a:ea typeface="Aptos"/>
              </a:rPr>
              <a:t>Attestation + Policy + KMS/HSM</a:t>
            </a:r>
            <a:endParaRPr b="0" lang="ru-RU" sz="1100" strike="noStrike" u="none">
              <a:solidFill>
                <a:srgbClr val="ffffff"/>
              </a:solidFill>
              <a:effectLst/>
              <a:uFillTx/>
              <a:latin typeface="Arial"/>
            </a:endParaRPr>
          </a:p>
        </p:txBody>
      </p:sp>
      <p:sp>
        <p:nvSpPr>
          <p:cNvPr id="221" name="Shape 8"/>
          <p:cNvSpPr/>
          <p:nvPr/>
        </p:nvSpPr>
        <p:spPr>
          <a:xfrm flipV="1">
            <a:off x="6080760" y="1828800"/>
            <a:ext cx="360" cy="164520"/>
          </a:xfrm>
          <a:prstGeom prst="line">
            <a:avLst/>
          </a:prstGeom>
          <a:ln w="25400">
            <a:solidFill>
              <a:srgbClr val="5fe1a0"/>
            </a:solidFill>
            <a:round/>
            <a:tailEnd len="med" type="triangle" w="med"/>
          </a:ln>
        </p:spPr>
        <p:style>
          <a:lnRef idx="0"/>
          <a:fillRef idx="0"/>
          <a:effectRef idx="0"/>
          <a:fontRef idx="minor"/>
        </p:style>
        <p:txBody>
          <a:bodyPr lIns="90000" rIns="90000" tIns="45000" bIns="45000" anchor="t" anchorCtr="1">
            <a:noAutofit/>
          </a:bodyPr>
          <a:p>
            <a:endParaRPr b="0" lang="ru-RU" sz="1800" strike="noStrike" u="none">
              <a:solidFill>
                <a:srgbClr val="ffffff"/>
              </a:solidFill>
              <a:effectLst/>
              <a:uFillTx/>
              <a:latin typeface="Arial"/>
            </a:endParaRPr>
          </a:p>
        </p:txBody>
      </p:sp>
      <p:sp>
        <p:nvSpPr>
          <p:cNvPr id="222" name="Shape 9"/>
          <p:cNvSpPr/>
          <p:nvPr/>
        </p:nvSpPr>
        <p:spPr>
          <a:xfrm>
            <a:off x="960120" y="2487240"/>
            <a:ext cx="2834280" cy="2514240"/>
          </a:xfrm>
          <a:prstGeom prst="roundRect">
            <a:avLst>
              <a:gd name="adj" fmla="val 5818"/>
            </a:avLst>
          </a:prstGeom>
          <a:solidFill>
            <a:srgbClr val="121c2e"/>
          </a:solidFill>
          <a:ln w="12700">
            <a:solidFill>
              <a:srgbClr val="3bd6e8"/>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23" name="Text 10"/>
          <p:cNvSpPr/>
          <p:nvPr/>
        </p:nvSpPr>
        <p:spPr>
          <a:xfrm>
            <a:off x="1207080" y="2724840"/>
            <a:ext cx="21484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3bd6e8"/>
                </a:solidFill>
                <a:effectLst/>
                <a:uFillTx/>
                <a:latin typeface="Aptos"/>
                <a:ea typeface="Aptos"/>
              </a:rPr>
              <a:t>CPU CONFIDENTIAL VM</a:t>
            </a:r>
            <a:endParaRPr b="0" lang="ru-RU" sz="1300" strike="noStrike" u="none">
              <a:solidFill>
                <a:srgbClr val="ffffff"/>
              </a:solidFill>
              <a:effectLst/>
              <a:uFillTx/>
              <a:latin typeface="Arial"/>
            </a:endParaRPr>
          </a:p>
        </p:txBody>
      </p:sp>
      <p:sp>
        <p:nvSpPr>
          <p:cNvPr id="224" name="Shape 11"/>
          <p:cNvSpPr/>
          <p:nvPr/>
        </p:nvSpPr>
        <p:spPr>
          <a:xfrm>
            <a:off x="1170360" y="3182040"/>
            <a:ext cx="2331360" cy="273960"/>
          </a:xfrm>
          <a:prstGeom prst="roundRect">
            <a:avLst>
              <a:gd name="adj" fmla="val 50000"/>
            </a:avLst>
          </a:prstGeom>
          <a:solidFill>
            <a:srgbClr val="17233a"/>
          </a:solidFill>
          <a:ln w="12700">
            <a:solidFill>
              <a:srgbClr val="3bd6e8">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25" name="Text 12"/>
          <p:cNvSpPr/>
          <p:nvPr/>
        </p:nvSpPr>
        <p:spPr>
          <a:xfrm>
            <a:off x="1243440" y="3200400"/>
            <a:ext cx="21852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3bd6e8"/>
                </a:solidFill>
                <a:effectLst/>
                <a:uFillTx/>
                <a:latin typeface="Aptos"/>
                <a:ea typeface="Aptos"/>
              </a:rPr>
              <a:t>Inference controller</a:t>
            </a:r>
            <a:endParaRPr b="0" lang="ru-RU" sz="850" strike="noStrike" u="none">
              <a:solidFill>
                <a:srgbClr val="ffffff"/>
              </a:solidFill>
              <a:effectLst/>
              <a:uFillTx/>
              <a:latin typeface="Arial"/>
            </a:endParaRPr>
          </a:p>
        </p:txBody>
      </p:sp>
      <p:sp>
        <p:nvSpPr>
          <p:cNvPr id="226" name="Shape 13"/>
          <p:cNvSpPr/>
          <p:nvPr/>
        </p:nvSpPr>
        <p:spPr>
          <a:xfrm>
            <a:off x="1170360" y="3611880"/>
            <a:ext cx="2331360" cy="273960"/>
          </a:xfrm>
          <a:prstGeom prst="roundRect">
            <a:avLst>
              <a:gd name="adj" fmla="val 50000"/>
            </a:avLst>
          </a:prstGeom>
          <a:solidFill>
            <a:srgbClr val="17233a"/>
          </a:solidFill>
          <a:ln w="12700">
            <a:solidFill>
              <a:srgbClr val="3bd6e8">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27" name="Text 14"/>
          <p:cNvSpPr/>
          <p:nvPr/>
        </p:nvSpPr>
        <p:spPr>
          <a:xfrm>
            <a:off x="1243440" y="3630240"/>
            <a:ext cx="21852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3bd6e8"/>
                </a:solidFill>
                <a:effectLst/>
                <a:uFillTx/>
                <a:latin typeface="Aptos"/>
                <a:ea typeface="Aptos"/>
              </a:rPr>
              <a:t>Crypto service</a:t>
            </a:r>
            <a:endParaRPr b="0" lang="ru-RU" sz="850" strike="noStrike" u="none">
              <a:solidFill>
                <a:srgbClr val="ffffff"/>
              </a:solidFill>
              <a:effectLst/>
              <a:uFillTx/>
              <a:latin typeface="Arial"/>
            </a:endParaRPr>
          </a:p>
        </p:txBody>
      </p:sp>
      <p:sp>
        <p:nvSpPr>
          <p:cNvPr id="228" name="Shape 15"/>
          <p:cNvSpPr/>
          <p:nvPr/>
        </p:nvSpPr>
        <p:spPr>
          <a:xfrm>
            <a:off x="1170360" y="4041720"/>
            <a:ext cx="2331360" cy="273960"/>
          </a:xfrm>
          <a:prstGeom prst="roundRect">
            <a:avLst>
              <a:gd name="adj" fmla="val 50000"/>
            </a:avLst>
          </a:prstGeom>
          <a:solidFill>
            <a:srgbClr val="17233a"/>
          </a:solidFill>
          <a:ln w="12700">
            <a:solidFill>
              <a:srgbClr val="3bd6e8">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29" name="Text 16"/>
          <p:cNvSpPr/>
          <p:nvPr/>
        </p:nvSpPr>
        <p:spPr>
          <a:xfrm>
            <a:off x="1243440" y="4060080"/>
            <a:ext cx="21852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3bd6e8"/>
                </a:solidFill>
                <a:effectLst/>
                <a:uFillTx/>
                <a:latin typeface="Aptos"/>
                <a:ea typeface="Aptos"/>
              </a:rPr>
              <a:t>Secret broker</a:t>
            </a:r>
            <a:endParaRPr b="0" lang="ru-RU" sz="850" strike="noStrike" u="none">
              <a:solidFill>
                <a:srgbClr val="ffffff"/>
              </a:solidFill>
              <a:effectLst/>
              <a:uFillTx/>
              <a:latin typeface="Arial"/>
            </a:endParaRPr>
          </a:p>
        </p:txBody>
      </p:sp>
      <p:sp>
        <p:nvSpPr>
          <p:cNvPr id="230" name="Shape 17"/>
          <p:cNvSpPr/>
          <p:nvPr/>
        </p:nvSpPr>
        <p:spPr>
          <a:xfrm>
            <a:off x="1170360" y="4471560"/>
            <a:ext cx="2331360" cy="273960"/>
          </a:xfrm>
          <a:prstGeom prst="roundRect">
            <a:avLst>
              <a:gd name="adj" fmla="val 50000"/>
            </a:avLst>
          </a:prstGeom>
          <a:solidFill>
            <a:srgbClr val="17233a"/>
          </a:solidFill>
          <a:ln w="12700">
            <a:solidFill>
              <a:srgbClr val="3bd6e8">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31" name="Text 18"/>
          <p:cNvSpPr/>
          <p:nvPr/>
        </p:nvSpPr>
        <p:spPr>
          <a:xfrm>
            <a:off x="1243440" y="4489560"/>
            <a:ext cx="21852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3bd6e8"/>
                </a:solidFill>
                <a:effectLst/>
                <a:uFillTx/>
                <a:latin typeface="Aptos"/>
                <a:ea typeface="Aptos"/>
              </a:rPr>
              <a:t>Policy / attestation agent</a:t>
            </a:r>
            <a:endParaRPr b="0" lang="ru-RU" sz="850" strike="noStrike" u="none">
              <a:solidFill>
                <a:srgbClr val="ffffff"/>
              </a:solidFill>
              <a:effectLst/>
              <a:uFillTx/>
              <a:latin typeface="Arial"/>
            </a:endParaRPr>
          </a:p>
        </p:txBody>
      </p:sp>
      <p:sp>
        <p:nvSpPr>
          <p:cNvPr id="232" name="Text 19"/>
          <p:cNvSpPr/>
          <p:nvPr/>
        </p:nvSpPr>
        <p:spPr>
          <a:xfrm>
            <a:off x="3913560" y="3273480"/>
            <a:ext cx="1078560" cy="5299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6b35"/>
                </a:solidFill>
                <a:effectLst/>
                <a:uFillTx/>
                <a:latin typeface="Aptos"/>
                <a:ea typeface="Aptos"/>
              </a:rPr>
              <a:t>authenticated</a:t>
            </a:r>
            <a:endParaRPr b="0" lang="ru-RU" sz="950" strike="noStrike" u="none">
              <a:solidFill>
                <a:srgbClr val="ffffff"/>
              </a:solidFill>
              <a:effectLst/>
              <a:uFillTx/>
              <a:latin typeface="Arial"/>
            </a:endParaRPr>
          </a:p>
          <a:p>
            <a:pPr algn="ctr" defTabSz="914400">
              <a:lnSpc>
                <a:spcPct val="100000"/>
              </a:lnSpc>
              <a:tabLst>
                <a:tab algn="l" pos="0"/>
              </a:tabLst>
            </a:pPr>
            <a:r>
              <a:rPr b="1" lang="en-US" sz="950" strike="noStrike" u="none">
                <a:solidFill>
                  <a:srgbClr val="ff6b35"/>
                </a:solidFill>
                <a:effectLst/>
                <a:uFillTx/>
                <a:latin typeface="Aptos"/>
                <a:ea typeface="Aptos"/>
              </a:rPr>
              <a:t>secure channel</a:t>
            </a:r>
            <a:endParaRPr b="0" lang="ru-RU" sz="950" strike="noStrike" u="none">
              <a:solidFill>
                <a:srgbClr val="ffffff"/>
              </a:solidFill>
              <a:effectLst/>
              <a:uFillTx/>
              <a:latin typeface="Arial"/>
            </a:endParaRPr>
          </a:p>
        </p:txBody>
      </p:sp>
      <p:sp>
        <p:nvSpPr>
          <p:cNvPr id="233" name="Shape 20"/>
          <p:cNvSpPr/>
          <p:nvPr/>
        </p:nvSpPr>
        <p:spPr>
          <a:xfrm>
            <a:off x="3767040" y="3703320"/>
            <a:ext cx="749880" cy="360"/>
          </a:xfrm>
          <a:prstGeom prst="line">
            <a:avLst/>
          </a:prstGeom>
          <a:ln w="25400">
            <a:solidFill>
              <a:srgbClr val="ff6b35"/>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234" name="Shape 21"/>
          <p:cNvSpPr/>
          <p:nvPr/>
        </p:nvSpPr>
        <p:spPr>
          <a:xfrm>
            <a:off x="5440680" y="3703320"/>
            <a:ext cx="548640" cy="360"/>
          </a:xfrm>
          <a:prstGeom prst="line">
            <a:avLst/>
          </a:prstGeom>
          <a:ln w="25400">
            <a:solidFill>
              <a:srgbClr val="ff6b35"/>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235" name="Shape 22"/>
          <p:cNvSpPr/>
          <p:nvPr/>
        </p:nvSpPr>
        <p:spPr>
          <a:xfrm>
            <a:off x="5541120" y="2487240"/>
            <a:ext cx="4571640" cy="2514240"/>
          </a:xfrm>
          <a:prstGeom prst="roundRect">
            <a:avLst>
              <a:gd name="adj" fmla="val 5818"/>
            </a:avLst>
          </a:prstGeom>
          <a:solidFill>
            <a:srgbClr val="1a2133"/>
          </a:solidFill>
          <a:ln w="12700">
            <a:solidFill>
              <a:srgbClr val="ff6b35"/>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36" name="Text 23"/>
          <p:cNvSpPr/>
          <p:nvPr/>
        </p:nvSpPr>
        <p:spPr>
          <a:xfrm>
            <a:off x="5797440" y="2724840"/>
            <a:ext cx="292572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ff6b35"/>
                </a:solidFill>
                <a:effectLst/>
                <a:uFillTx/>
                <a:latin typeface="Aptos"/>
                <a:ea typeface="Aptos"/>
              </a:rPr>
              <a:t>WSE CONFIDENTIAL DOMAIN</a:t>
            </a:r>
            <a:endParaRPr b="0" lang="ru-RU" sz="1300" strike="noStrike" u="none">
              <a:solidFill>
                <a:srgbClr val="ffffff"/>
              </a:solidFill>
              <a:effectLst/>
              <a:uFillTx/>
              <a:latin typeface="Arial"/>
            </a:endParaRPr>
          </a:p>
        </p:txBody>
      </p:sp>
      <p:sp>
        <p:nvSpPr>
          <p:cNvPr id="237" name="Shape 24"/>
          <p:cNvSpPr/>
          <p:nvPr/>
        </p:nvSpPr>
        <p:spPr>
          <a:xfrm>
            <a:off x="5797440" y="318204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38" name="Shape 25"/>
          <p:cNvSpPr/>
          <p:nvPr/>
        </p:nvSpPr>
        <p:spPr>
          <a:xfrm>
            <a:off x="5797440" y="356616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39" name="Shape 26"/>
          <p:cNvSpPr/>
          <p:nvPr/>
        </p:nvSpPr>
        <p:spPr>
          <a:xfrm>
            <a:off x="5797440" y="395028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40" name="Shape 27"/>
          <p:cNvSpPr/>
          <p:nvPr/>
        </p:nvSpPr>
        <p:spPr>
          <a:xfrm>
            <a:off x="5797440" y="4334400"/>
            <a:ext cx="520920" cy="255600"/>
          </a:xfrm>
          <a:prstGeom prst="rect">
            <a:avLst/>
          </a:prstGeom>
          <a:solidFill>
            <a:srgbClr val="3bd6e8">
              <a:alpha val="18000"/>
            </a:srgbClr>
          </a:solidFill>
          <a:ln w="889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41" name="Shape 28"/>
          <p:cNvSpPr/>
          <p:nvPr/>
        </p:nvSpPr>
        <p:spPr>
          <a:xfrm>
            <a:off x="6473880" y="318204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42" name="Shape 29"/>
          <p:cNvSpPr/>
          <p:nvPr/>
        </p:nvSpPr>
        <p:spPr>
          <a:xfrm>
            <a:off x="6473880" y="356616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43" name="Shape 30"/>
          <p:cNvSpPr/>
          <p:nvPr/>
        </p:nvSpPr>
        <p:spPr>
          <a:xfrm>
            <a:off x="6473880" y="395028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44" name="Shape 31"/>
          <p:cNvSpPr/>
          <p:nvPr/>
        </p:nvSpPr>
        <p:spPr>
          <a:xfrm>
            <a:off x="6473880" y="4334400"/>
            <a:ext cx="520920" cy="255600"/>
          </a:xfrm>
          <a:prstGeom prst="rect">
            <a:avLst/>
          </a:prstGeom>
          <a:solidFill>
            <a:srgbClr val="3bd6e8">
              <a:alpha val="18000"/>
            </a:srgbClr>
          </a:solidFill>
          <a:ln w="889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45" name="Shape 32"/>
          <p:cNvSpPr/>
          <p:nvPr/>
        </p:nvSpPr>
        <p:spPr>
          <a:xfrm>
            <a:off x="7150680" y="318204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46" name="Shape 33"/>
          <p:cNvSpPr/>
          <p:nvPr/>
        </p:nvSpPr>
        <p:spPr>
          <a:xfrm>
            <a:off x="7150680" y="356616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47" name="Shape 34"/>
          <p:cNvSpPr/>
          <p:nvPr/>
        </p:nvSpPr>
        <p:spPr>
          <a:xfrm>
            <a:off x="7150680" y="395028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48" name="Shape 35"/>
          <p:cNvSpPr/>
          <p:nvPr/>
        </p:nvSpPr>
        <p:spPr>
          <a:xfrm>
            <a:off x="7150680" y="4334400"/>
            <a:ext cx="520920" cy="255600"/>
          </a:xfrm>
          <a:prstGeom prst="rect">
            <a:avLst/>
          </a:prstGeom>
          <a:solidFill>
            <a:srgbClr val="3bd6e8">
              <a:alpha val="18000"/>
            </a:srgbClr>
          </a:solidFill>
          <a:ln w="889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49" name="Shape 36"/>
          <p:cNvSpPr/>
          <p:nvPr/>
        </p:nvSpPr>
        <p:spPr>
          <a:xfrm>
            <a:off x="7827120" y="318204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50" name="Shape 37"/>
          <p:cNvSpPr/>
          <p:nvPr/>
        </p:nvSpPr>
        <p:spPr>
          <a:xfrm>
            <a:off x="7827120" y="356616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51" name="Shape 38"/>
          <p:cNvSpPr/>
          <p:nvPr/>
        </p:nvSpPr>
        <p:spPr>
          <a:xfrm>
            <a:off x="7827120" y="3950280"/>
            <a:ext cx="520920" cy="255600"/>
          </a:xfrm>
          <a:prstGeom prst="rect">
            <a:avLst/>
          </a:prstGeom>
          <a:solidFill>
            <a:srgbClr val="ff6b35">
              <a:alpha val="18000"/>
            </a:srgbClr>
          </a:solidFill>
          <a:ln w="889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52" name="Shape 39"/>
          <p:cNvSpPr/>
          <p:nvPr/>
        </p:nvSpPr>
        <p:spPr>
          <a:xfrm>
            <a:off x="7827120" y="4334400"/>
            <a:ext cx="520920" cy="255600"/>
          </a:xfrm>
          <a:prstGeom prst="rect">
            <a:avLst/>
          </a:prstGeom>
          <a:solidFill>
            <a:srgbClr val="3bd6e8">
              <a:alpha val="18000"/>
            </a:srgbClr>
          </a:solidFill>
          <a:ln w="889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53" name="Shape 40"/>
          <p:cNvSpPr/>
          <p:nvPr/>
        </p:nvSpPr>
        <p:spPr>
          <a:xfrm>
            <a:off x="8503920" y="3182040"/>
            <a:ext cx="520920" cy="255600"/>
          </a:xfrm>
          <a:prstGeom prst="rect">
            <a:avLst/>
          </a:prstGeom>
          <a:solidFill>
            <a:srgbClr val="3bd6e8">
              <a:alpha val="18000"/>
            </a:srgbClr>
          </a:solidFill>
          <a:ln w="889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54" name="Shape 41"/>
          <p:cNvSpPr/>
          <p:nvPr/>
        </p:nvSpPr>
        <p:spPr>
          <a:xfrm>
            <a:off x="8503920" y="3566160"/>
            <a:ext cx="520920" cy="255600"/>
          </a:xfrm>
          <a:prstGeom prst="rect">
            <a:avLst/>
          </a:prstGeom>
          <a:solidFill>
            <a:srgbClr val="3bd6e8">
              <a:alpha val="18000"/>
            </a:srgbClr>
          </a:solidFill>
          <a:ln w="889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55" name="Shape 42"/>
          <p:cNvSpPr/>
          <p:nvPr/>
        </p:nvSpPr>
        <p:spPr>
          <a:xfrm>
            <a:off x="8503920" y="3950280"/>
            <a:ext cx="520920" cy="255600"/>
          </a:xfrm>
          <a:prstGeom prst="rect">
            <a:avLst/>
          </a:prstGeom>
          <a:solidFill>
            <a:srgbClr val="3bd6e8">
              <a:alpha val="18000"/>
            </a:srgbClr>
          </a:solidFill>
          <a:ln w="889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56" name="Shape 43"/>
          <p:cNvSpPr/>
          <p:nvPr/>
        </p:nvSpPr>
        <p:spPr>
          <a:xfrm>
            <a:off x="8503920" y="4334400"/>
            <a:ext cx="520920" cy="255600"/>
          </a:xfrm>
          <a:prstGeom prst="rect">
            <a:avLst/>
          </a:prstGeom>
          <a:solidFill>
            <a:srgbClr val="3bd6e8">
              <a:alpha val="18000"/>
            </a:srgbClr>
          </a:solidFill>
          <a:ln w="889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57" name="Text 44"/>
          <p:cNvSpPr/>
          <p:nvPr/>
        </p:nvSpPr>
        <p:spPr>
          <a:xfrm>
            <a:off x="5797440" y="4480560"/>
            <a:ext cx="39682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Domain-tagged PE/SRAM  •  Fabric ACL  •  Secure DMA  •  Memory integrity</a:t>
            </a:r>
            <a:endParaRPr b="0" lang="ru-RU" sz="980" strike="noStrike" u="none">
              <a:solidFill>
                <a:srgbClr val="ffffff"/>
              </a:solidFill>
              <a:effectLst/>
              <a:uFillTx/>
              <a:latin typeface="Arial"/>
            </a:endParaRPr>
          </a:p>
        </p:txBody>
      </p:sp>
      <p:sp>
        <p:nvSpPr>
          <p:cNvPr id="258" name="Shape 45"/>
          <p:cNvSpPr/>
          <p:nvPr/>
        </p:nvSpPr>
        <p:spPr>
          <a:xfrm>
            <a:off x="3822120" y="5257800"/>
            <a:ext cx="4525920" cy="420120"/>
          </a:xfrm>
          <a:prstGeom prst="roundRect">
            <a:avLst>
              <a:gd name="adj" fmla="val 34783"/>
            </a:avLst>
          </a:prstGeom>
          <a:solidFill>
            <a:srgbClr val="1b2940"/>
          </a:solidFill>
          <a:ln w="12700">
            <a:solidFill>
              <a:srgbClr val="ffd166"/>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59" name="Text 46"/>
          <p:cNvSpPr/>
          <p:nvPr/>
        </p:nvSpPr>
        <p:spPr>
          <a:xfrm>
            <a:off x="4005000" y="5367600"/>
            <a:ext cx="41601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20" strike="noStrike" u="none">
                <a:solidFill>
                  <a:srgbClr val="ffd166"/>
                </a:solidFill>
                <a:effectLst/>
                <a:uFillTx/>
                <a:latin typeface="Aptos"/>
                <a:ea typeface="Aptos"/>
              </a:rPr>
              <a:t>Protected model / KV-cache path  →  MemoryX / I/O</a:t>
            </a:r>
            <a:endParaRPr b="0" lang="ru-RU" sz="1020" strike="noStrike" u="none">
              <a:solidFill>
                <a:srgbClr val="ffffff"/>
              </a:solidFill>
              <a:effectLst/>
              <a:uFillTx/>
              <a:latin typeface="Arial"/>
            </a:endParaRPr>
          </a:p>
        </p:txBody>
      </p:sp>
      <p:sp>
        <p:nvSpPr>
          <p:cNvPr id="260" name="Text 47"/>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Reference points: Intel TDX protected VM + attestation; NVIDIA GPU confidential computing + attestation; Cerebras WSE/CS-4 wafer-scale architecture.</a:t>
            </a:r>
            <a:endParaRPr b="0" lang="ru-RU" sz="660" strike="noStrike" u="none">
              <a:solidFill>
                <a:srgbClr val="ffffff"/>
              </a:solidFill>
              <a:effectLst/>
              <a:uFillTx/>
              <a:latin typeface="Arial"/>
            </a:endParaRPr>
          </a:p>
        </p:txBody>
      </p:sp>
      <p:sp>
        <p:nvSpPr>
          <p:cNvPr id="261" name="PlaceHolder 1"/>
          <p:cNvSpPr>
            <a:spLocks noGrp="1"/>
          </p:cNvSpPr>
          <p:nvPr>
            <p:ph type="sldNum" idx="10"/>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1FCF3A50-FE84-48B0-A903-9B1C50665FF2}"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6 • WSE CONFIDENTIAL DOMAIN</a:t>
            </a:r>
            <a:endParaRPr b="0" lang="ru-RU" sz="1000" strike="noStrike" u="none">
              <a:solidFill>
                <a:srgbClr val="ffffff"/>
              </a:solidFill>
              <a:effectLst/>
              <a:uFillTx/>
              <a:latin typeface="Arial"/>
            </a:endParaRPr>
          </a:p>
        </p:txBody>
      </p:sp>
      <p:sp>
        <p:nvSpPr>
          <p:cNvPr id="263"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f5f7fa"/>
                </a:solidFill>
                <a:effectLst/>
                <a:uFillTx/>
                <a:latin typeface="Aptos"/>
                <a:ea typeface="Aptos"/>
              </a:rPr>
              <a:t>Apply enclave semantics to wafer-scale execution.</a:t>
            </a:r>
            <a:endParaRPr b="0" lang="ru-RU" sz="2900" strike="noStrike" u="none">
              <a:solidFill>
                <a:srgbClr val="ffffff"/>
              </a:solidFill>
              <a:effectLst/>
              <a:uFillTx/>
              <a:latin typeface="Arial"/>
            </a:endParaRPr>
          </a:p>
        </p:txBody>
      </p:sp>
      <p:sp>
        <p:nvSpPr>
          <p:cNvPr id="264"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Use spatial security domains rather than attempting hundreds of thousands of tiny enclaves.</a:t>
            </a:r>
            <a:endParaRPr b="0" lang="ru-RU" sz="1250" strike="noStrike" u="none">
              <a:solidFill>
                <a:srgbClr val="ffffff"/>
              </a:solidFill>
              <a:effectLst/>
              <a:uFillTx/>
              <a:latin typeface="Arial"/>
            </a:endParaRPr>
          </a:p>
        </p:txBody>
      </p:sp>
      <p:sp>
        <p:nvSpPr>
          <p:cNvPr id="265"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07</a:t>
            </a:r>
            <a:endParaRPr b="0" lang="ru-RU" sz="1000" strike="noStrike" u="none">
              <a:solidFill>
                <a:srgbClr val="ffffff"/>
              </a:solidFill>
              <a:effectLst/>
              <a:uFillTx/>
              <a:latin typeface="Arial"/>
            </a:endParaRPr>
          </a:p>
        </p:txBody>
      </p:sp>
      <p:sp>
        <p:nvSpPr>
          <p:cNvPr id="266" name="Shape 4"/>
          <p:cNvSpPr/>
          <p:nvPr/>
        </p:nvSpPr>
        <p:spPr>
          <a:xfrm>
            <a:off x="567000" y="1847160"/>
            <a:ext cx="6446160" cy="3931560"/>
          </a:xfrm>
          <a:prstGeom prst="roundRect">
            <a:avLst>
              <a:gd name="adj" fmla="val 3721"/>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67" name="Text 5"/>
          <p:cNvSpPr/>
          <p:nvPr/>
        </p:nvSpPr>
        <p:spPr>
          <a:xfrm>
            <a:off x="831960" y="2121480"/>
            <a:ext cx="3382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25" strike="noStrike" u="none">
                <a:solidFill>
                  <a:srgbClr val="ff6b35"/>
                </a:solidFill>
                <a:effectLst/>
                <a:uFillTx/>
                <a:latin typeface="Aptos"/>
                <a:ea typeface="Aptos"/>
              </a:rPr>
              <a:t>PROPOSED WSE SECURITY PRIMITIVES</a:t>
            </a:r>
            <a:endParaRPr b="0" lang="ru-RU" sz="900" strike="noStrike" u="none">
              <a:solidFill>
                <a:srgbClr val="ffffff"/>
              </a:solidFill>
              <a:effectLst/>
              <a:uFillTx/>
              <a:latin typeface="Arial"/>
            </a:endParaRPr>
          </a:p>
        </p:txBody>
      </p:sp>
      <p:sp>
        <p:nvSpPr>
          <p:cNvPr id="268" name="Shape 6"/>
          <p:cNvSpPr/>
          <p:nvPr/>
        </p:nvSpPr>
        <p:spPr>
          <a:xfrm>
            <a:off x="822960" y="2615040"/>
            <a:ext cx="749520" cy="273960"/>
          </a:xfrm>
          <a:prstGeom prst="roundRect">
            <a:avLst>
              <a:gd name="adj" fmla="val 50000"/>
            </a:avLst>
          </a:prstGeom>
          <a:solidFill>
            <a:srgbClr val="17233a"/>
          </a:solidFill>
          <a:ln w="12700">
            <a:solidFill>
              <a:srgbClr val="ff6b35">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69" name="Text 7"/>
          <p:cNvSpPr/>
          <p:nvPr/>
        </p:nvSpPr>
        <p:spPr>
          <a:xfrm>
            <a:off x="896040" y="2633400"/>
            <a:ext cx="6030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6b35"/>
                </a:solidFill>
                <a:effectLst/>
                <a:uFillTx/>
                <a:latin typeface="Aptos"/>
                <a:ea typeface="Aptos"/>
              </a:rPr>
              <a:t>CDID</a:t>
            </a:r>
            <a:endParaRPr b="0" lang="ru-RU" sz="850" strike="noStrike" u="none">
              <a:solidFill>
                <a:srgbClr val="ffffff"/>
              </a:solidFill>
              <a:effectLst/>
              <a:uFillTx/>
              <a:latin typeface="Arial"/>
            </a:endParaRPr>
          </a:p>
        </p:txBody>
      </p:sp>
      <p:sp>
        <p:nvSpPr>
          <p:cNvPr id="270" name="Text 8"/>
          <p:cNvSpPr/>
          <p:nvPr/>
        </p:nvSpPr>
        <p:spPr>
          <a:xfrm>
            <a:off x="1691640" y="2642760"/>
            <a:ext cx="49374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Confidential Domain ID on PE / SRAM / router / DMA</a:t>
            </a:r>
            <a:endParaRPr b="0" lang="ru-RU" sz="1050" strike="noStrike" u="none">
              <a:solidFill>
                <a:srgbClr val="ffffff"/>
              </a:solidFill>
              <a:effectLst/>
              <a:uFillTx/>
              <a:latin typeface="Arial"/>
            </a:endParaRPr>
          </a:p>
        </p:txBody>
      </p:sp>
      <p:sp>
        <p:nvSpPr>
          <p:cNvPr id="271" name="Shape 9"/>
          <p:cNvSpPr/>
          <p:nvPr/>
        </p:nvSpPr>
        <p:spPr>
          <a:xfrm>
            <a:off x="822960" y="3090600"/>
            <a:ext cx="749520" cy="273960"/>
          </a:xfrm>
          <a:prstGeom prst="roundRect">
            <a:avLst>
              <a:gd name="adj" fmla="val 50000"/>
            </a:avLst>
          </a:prstGeom>
          <a:solidFill>
            <a:srgbClr val="17233a"/>
          </a:solidFill>
          <a:ln w="12700">
            <a:solidFill>
              <a:srgbClr val="ff6b35">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72" name="Text 10"/>
          <p:cNvSpPr/>
          <p:nvPr/>
        </p:nvSpPr>
        <p:spPr>
          <a:xfrm>
            <a:off x="896040" y="3108960"/>
            <a:ext cx="6030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6b35"/>
                </a:solidFill>
                <a:effectLst/>
                <a:uFillTx/>
                <a:latin typeface="Aptos"/>
                <a:ea typeface="Aptos"/>
              </a:rPr>
              <a:t>MemEnc</a:t>
            </a:r>
            <a:endParaRPr b="0" lang="ru-RU" sz="850" strike="noStrike" u="none">
              <a:solidFill>
                <a:srgbClr val="ffffff"/>
              </a:solidFill>
              <a:effectLst/>
              <a:uFillTx/>
              <a:latin typeface="Arial"/>
            </a:endParaRPr>
          </a:p>
        </p:txBody>
      </p:sp>
      <p:sp>
        <p:nvSpPr>
          <p:cNvPr id="273" name="Text 11"/>
          <p:cNvSpPr/>
          <p:nvPr/>
        </p:nvSpPr>
        <p:spPr>
          <a:xfrm>
            <a:off x="1691640" y="3117960"/>
            <a:ext cx="49374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Per-domain memory encryption + integrity metadata</a:t>
            </a:r>
            <a:endParaRPr b="0" lang="ru-RU" sz="1050" strike="noStrike" u="none">
              <a:solidFill>
                <a:srgbClr val="ffffff"/>
              </a:solidFill>
              <a:effectLst/>
              <a:uFillTx/>
              <a:latin typeface="Arial"/>
            </a:endParaRPr>
          </a:p>
        </p:txBody>
      </p:sp>
      <p:sp>
        <p:nvSpPr>
          <p:cNvPr id="274" name="Shape 12"/>
          <p:cNvSpPr/>
          <p:nvPr/>
        </p:nvSpPr>
        <p:spPr>
          <a:xfrm>
            <a:off x="822960" y="3566160"/>
            <a:ext cx="749520" cy="273960"/>
          </a:xfrm>
          <a:prstGeom prst="roundRect">
            <a:avLst>
              <a:gd name="adj" fmla="val 50000"/>
            </a:avLst>
          </a:prstGeom>
          <a:solidFill>
            <a:srgbClr val="17233a"/>
          </a:solidFill>
          <a:ln w="12700">
            <a:solidFill>
              <a:srgbClr val="3bd6e8">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75" name="Text 13"/>
          <p:cNvSpPr/>
          <p:nvPr/>
        </p:nvSpPr>
        <p:spPr>
          <a:xfrm>
            <a:off x="896040" y="3584520"/>
            <a:ext cx="6030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3bd6e8"/>
                </a:solidFill>
                <a:effectLst/>
                <a:uFillTx/>
                <a:latin typeface="Aptos"/>
                <a:ea typeface="Aptos"/>
              </a:rPr>
              <a:t>Fabric ACL</a:t>
            </a:r>
            <a:endParaRPr b="0" lang="ru-RU" sz="850" strike="noStrike" u="none">
              <a:solidFill>
                <a:srgbClr val="ffffff"/>
              </a:solidFill>
              <a:effectLst/>
              <a:uFillTx/>
              <a:latin typeface="Arial"/>
            </a:endParaRPr>
          </a:p>
        </p:txBody>
      </p:sp>
      <p:sp>
        <p:nvSpPr>
          <p:cNvPr id="276" name="Text 14"/>
          <p:cNvSpPr/>
          <p:nvPr/>
        </p:nvSpPr>
        <p:spPr>
          <a:xfrm>
            <a:off x="1691640" y="3593520"/>
            <a:ext cx="49374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Domain-aware packet authorization + replay protection</a:t>
            </a:r>
            <a:endParaRPr b="0" lang="ru-RU" sz="1050" strike="noStrike" u="none">
              <a:solidFill>
                <a:srgbClr val="ffffff"/>
              </a:solidFill>
              <a:effectLst/>
              <a:uFillTx/>
              <a:latin typeface="Arial"/>
            </a:endParaRPr>
          </a:p>
        </p:txBody>
      </p:sp>
      <p:sp>
        <p:nvSpPr>
          <p:cNvPr id="277" name="Shape 15"/>
          <p:cNvSpPr/>
          <p:nvPr/>
        </p:nvSpPr>
        <p:spPr>
          <a:xfrm>
            <a:off x="822960" y="4041720"/>
            <a:ext cx="749520" cy="273960"/>
          </a:xfrm>
          <a:prstGeom prst="roundRect">
            <a:avLst>
              <a:gd name="adj" fmla="val 50000"/>
            </a:avLst>
          </a:prstGeom>
          <a:solidFill>
            <a:srgbClr val="17233a"/>
          </a:solidFill>
          <a:ln w="12700">
            <a:solidFill>
              <a:srgbClr val="3bd6e8">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78" name="Text 16"/>
          <p:cNvSpPr/>
          <p:nvPr/>
        </p:nvSpPr>
        <p:spPr>
          <a:xfrm>
            <a:off x="896040" y="4060080"/>
            <a:ext cx="6030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3bd6e8"/>
                </a:solidFill>
                <a:effectLst/>
                <a:uFillTx/>
                <a:latin typeface="Aptos"/>
                <a:ea typeface="Aptos"/>
              </a:rPr>
              <a:t>SecDMA</a:t>
            </a:r>
            <a:endParaRPr b="0" lang="ru-RU" sz="850" strike="noStrike" u="none">
              <a:solidFill>
                <a:srgbClr val="ffffff"/>
              </a:solidFill>
              <a:effectLst/>
              <a:uFillTx/>
              <a:latin typeface="Arial"/>
            </a:endParaRPr>
          </a:p>
        </p:txBody>
      </p:sp>
      <p:sp>
        <p:nvSpPr>
          <p:cNvPr id="279" name="Text 17"/>
          <p:cNvSpPr/>
          <p:nvPr/>
        </p:nvSpPr>
        <p:spPr>
          <a:xfrm>
            <a:off x="1691640" y="4069080"/>
            <a:ext cx="49374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Only attested domains can issue protected transfers</a:t>
            </a:r>
            <a:endParaRPr b="0" lang="ru-RU" sz="1050" strike="noStrike" u="none">
              <a:solidFill>
                <a:srgbClr val="ffffff"/>
              </a:solidFill>
              <a:effectLst/>
              <a:uFillTx/>
              <a:latin typeface="Arial"/>
            </a:endParaRPr>
          </a:p>
        </p:txBody>
      </p:sp>
      <p:sp>
        <p:nvSpPr>
          <p:cNvPr id="280" name="Shape 18"/>
          <p:cNvSpPr/>
          <p:nvPr/>
        </p:nvSpPr>
        <p:spPr>
          <a:xfrm>
            <a:off x="822960" y="4517280"/>
            <a:ext cx="749520" cy="273960"/>
          </a:xfrm>
          <a:prstGeom prst="roundRect">
            <a:avLst>
              <a:gd name="adj" fmla="val 50000"/>
            </a:avLst>
          </a:prstGeom>
          <a:solidFill>
            <a:srgbClr val="17233a"/>
          </a:solidFill>
          <a:ln w="12700">
            <a:solidFill>
              <a:srgbClr val="5fe1a0">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81" name="Text 19"/>
          <p:cNvSpPr/>
          <p:nvPr/>
        </p:nvSpPr>
        <p:spPr>
          <a:xfrm>
            <a:off x="896040" y="4535280"/>
            <a:ext cx="603000" cy="2192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850" strike="noStrike" u="none">
                <a:solidFill>
                  <a:srgbClr val="5fe1a0"/>
                </a:solidFill>
                <a:effectLst/>
                <a:uFillTx/>
                <a:latin typeface="Aptos"/>
                <a:ea typeface="Aptos"/>
              </a:rPr>
              <a:t>Secure Boot</a:t>
            </a:r>
            <a:endParaRPr b="0" lang="ru-RU" sz="850" strike="noStrike" u="none">
              <a:solidFill>
                <a:srgbClr val="ffffff"/>
              </a:solidFill>
              <a:effectLst/>
              <a:uFillTx/>
              <a:latin typeface="Arial"/>
            </a:endParaRPr>
          </a:p>
        </p:txBody>
      </p:sp>
      <p:sp>
        <p:nvSpPr>
          <p:cNvPr id="282" name="Text 20"/>
          <p:cNvSpPr/>
          <p:nvPr/>
        </p:nvSpPr>
        <p:spPr>
          <a:xfrm>
            <a:off x="1691640" y="4544640"/>
            <a:ext cx="49374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Measured WSE firmware / runtime chain</a:t>
            </a:r>
            <a:endParaRPr b="0" lang="ru-RU" sz="1050" strike="noStrike" u="none">
              <a:solidFill>
                <a:srgbClr val="ffffff"/>
              </a:solidFill>
              <a:effectLst/>
              <a:uFillTx/>
              <a:latin typeface="Arial"/>
            </a:endParaRPr>
          </a:p>
        </p:txBody>
      </p:sp>
      <p:sp>
        <p:nvSpPr>
          <p:cNvPr id="283" name="Shape 21"/>
          <p:cNvSpPr/>
          <p:nvPr/>
        </p:nvSpPr>
        <p:spPr>
          <a:xfrm>
            <a:off x="822960" y="4992480"/>
            <a:ext cx="749520" cy="273960"/>
          </a:xfrm>
          <a:prstGeom prst="roundRect">
            <a:avLst>
              <a:gd name="adj" fmla="val 50000"/>
            </a:avLst>
          </a:prstGeom>
          <a:solidFill>
            <a:srgbClr val="17233a"/>
          </a:solidFill>
          <a:ln w="12700">
            <a:solidFill>
              <a:srgbClr val="5fe1a0">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84" name="Text 22"/>
          <p:cNvSpPr/>
          <p:nvPr/>
        </p:nvSpPr>
        <p:spPr>
          <a:xfrm>
            <a:off x="896040" y="5010840"/>
            <a:ext cx="603000" cy="2192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850" strike="noStrike" u="none">
                <a:solidFill>
                  <a:srgbClr val="5fe1a0"/>
                </a:solidFill>
                <a:effectLst/>
                <a:uFillTx/>
                <a:latin typeface="Aptos"/>
                <a:ea typeface="Aptos"/>
              </a:rPr>
              <a:t>Debug Gate</a:t>
            </a:r>
            <a:endParaRPr b="0" lang="ru-RU" sz="850" strike="noStrike" u="none">
              <a:solidFill>
                <a:srgbClr val="ffffff"/>
              </a:solidFill>
              <a:effectLst/>
              <a:uFillTx/>
              <a:latin typeface="Arial"/>
            </a:endParaRPr>
          </a:p>
        </p:txBody>
      </p:sp>
      <p:sp>
        <p:nvSpPr>
          <p:cNvPr id="285" name="Text 23"/>
          <p:cNvSpPr/>
          <p:nvPr/>
        </p:nvSpPr>
        <p:spPr>
          <a:xfrm>
            <a:off x="1691640" y="5020200"/>
            <a:ext cx="49374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Production debug access requires attested authorization</a:t>
            </a:r>
            <a:endParaRPr b="0" lang="ru-RU" sz="1050" strike="noStrike" u="none">
              <a:solidFill>
                <a:srgbClr val="ffffff"/>
              </a:solidFill>
              <a:effectLst/>
              <a:uFillTx/>
              <a:latin typeface="Arial"/>
            </a:endParaRPr>
          </a:p>
        </p:txBody>
      </p:sp>
      <p:sp>
        <p:nvSpPr>
          <p:cNvPr id="286" name="Shape 24"/>
          <p:cNvSpPr/>
          <p:nvPr/>
        </p:nvSpPr>
        <p:spPr>
          <a:xfrm>
            <a:off x="7260480" y="1847160"/>
            <a:ext cx="4324680" cy="3931560"/>
          </a:xfrm>
          <a:prstGeom prst="roundRect">
            <a:avLst>
              <a:gd name="adj" fmla="val 3721"/>
            </a:avLst>
          </a:prstGeom>
          <a:solidFill>
            <a:srgbClr val="101a2a"/>
          </a:solidFill>
          <a:ln w="12700">
            <a:solidFill>
              <a:srgbClr val="ff6b35"/>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87" name="Text 25"/>
          <p:cNvSpPr/>
          <p:nvPr/>
        </p:nvSpPr>
        <p:spPr>
          <a:xfrm>
            <a:off x="7516440" y="2121480"/>
            <a:ext cx="20113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9" strike="noStrike" u="none">
                <a:solidFill>
                  <a:srgbClr val="3bd6e8"/>
                </a:solidFill>
                <a:effectLst/>
                <a:uFillTx/>
                <a:latin typeface="Aptos"/>
                <a:ea typeface="Aptos"/>
              </a:rPr>
              <a:t>SPATIAL ISOLATION</a:t>
            </a:r>
            <a:endParaRPr b="0" lang="ru-RU" sz="900" strike="noStrike" u="none">
              <a:solidFill>
                <a:srgbClr val="ffffff"/>
              </a:solidFill>
              <a:effectLst/>
              <a:uFillTx/>
              <a:latin typeface="Arial"/>
            </a:endParaRPr>
          </a:p>
        </p:txBody>
      </p:sp>
      <p:sp>
        <p:nvSpPr>
          <p:cNvPr id="288" name="Shape 26"/>
          <p:cNvSpPr/>
          <p:nvPr/>
        </p:nvSpPr>
        <p:spPr>
          <a:xfrm>
            <a:off x="7543800" y="26334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89" name="Shape 27"/>
          <p:cNvSpPr/>
          <p:nvPr/>
        </p:nvSpPr>
        <p:spPr>
          <a:xfrm>
            <a:off x="8147160" y="26334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90" name="Shape 28"/>
          <p:cNvSpPr/>
          <p:nvPr/>
        </p:nvSpPr>
        <p:spPr>
          <a:xfrm>
            <a:off x="8750880" y="26334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91" name="Shape 29"/>
          <p:cNvSpPr/>
          <p:nvPr/>
        </p:nvSpPr>
        <p:spPr>
          <a:xfrm>
            <a:off x="9354240" y="26334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92" name="Shape 30"/>
          <p:cNvSpPr/>
          <p:nvPr/>
        </p:nvSpPr>
        <p:spPr>
          <a:xfrm>
            <a:off x="9957960" y="26334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93" name="Shape 31"/>
          <p:cNvSpPr/>
          <p:nvPr/>
        </p:nvSpPr>
        <p:spPr>
          <a:xfrm>
            <a:off x="7543800" y="30906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94" name="Shape 32"/>
          <p:cNvSpPr/>
          <p:nvPr/>
        </p:nvSpPr>
        <p:spPr>
          <a:xfrm>
            <a:off x="8147160" y="30906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95" name="Shape 33"/>
          <p:cNvSpPr/>
          <p:nvPr/>
        </p:nvSpPr>
        <p:spPr>
          <a:xfrm>
            <a:off x="8750880" y="30906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96" name="Shape 34"/>
          <p:cNvSpPr/>
          <p:nvPr/>
        </p:nvSpPr>
        <p:spPr>
          <a:xfrm>
            <a:off x="9354240" y="30906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97" name="Shape 35"/>
          <p:cNvSpPr/>
          <p:nvPr/>
        </p:nvSpPr>
        <p:spPr>
          <a:xfrm>
            <a:off x="9957960" y="30906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298" name="Shape 36"/>
          <p:cNvSpPr/>
          <p:nvPr/>
        </p:nvSpPr>
        <p:spPr>
          <a:xfrm>
            <a:off x="7543800" y="35478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299" name="Shape 37"/>
          <p:cNvSpPr/>
          <p:nvPr/>
        </p:nvSpPr>
        <p:spPr>
          <a:xfrm>
            <a:off x="8147160" y="35478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00" name="Shape 38"/>
          <p:cNvSpPr/>
          <p:nvPr/>
        </p:nvSpPr>
        <p:spPr>
          <a:xfrm>
            <a:off x="8750880" y="35478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01" name="Shape 39"/>
          <p:cNvSpPr/>
          <p:nvPr/>
        </p:nvSpPr>
        <p:spPr>
          <a:xfrm>
            <a:off x="9354240" y="3547800"/>
            <a:ext cx="475200" cy="310680"/>
          </a:xfrm>
          <a:prstGeom prst="rect">
            <a:avLst/>
          </a:prstGeom>
          <a:solidFill>
            <a:srgbClr val="ff6b35">
              <a:alpha val="28000"/>
            </a:srgbClr>
          </a:solidFill>
          <a:ln w="12700">
            <a:solidFill>
              <a:srgbClr val="ff6b35">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02" name="Shape 40"/>
          <p:cNvSpPr/>
          <p:nvPr/>
        </p:nvSpPr>
        <p:spPr>
          <a:xfrm>
            <a:off x="9957960" y="35478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03" name="Shape 41"/>
          <p:cNvSpPr/>
          <p:nvPr/>
        </p:nvSpPr>
        <p:spPr>
          <a:xfrm>
            <a:off x="7543800" y="40050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04" name="Shape 42"/>
          <p:cNvSpPr/>
          <p:nvPr/>
        </p:nvSpPr>
        <p:spPr>
          <a:xfrm>
            <a:off x="8147160" y="40050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05" name="Shape 43"/>
          <p:cNvSpPr/>
          <p:nvPr/>
        </p:nvSpPr>
        <p:spPr>
          <a:xfrm>
            <a:off x="8750880" y="40050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06" name="Shape 44"/>
          <p:cNvSpPr/>
          <p:nvPr/>
        </p:nvSpPr>
        <p:spPr>
          <a:xfrm>
            <a:off x="9354240" y="40050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07" name="Shape 45"/>
          <p:cNvSpPr/>
          <p:nvPr/>
        </p:nvSpPr>
        <p:spPr>
          <a:xfrm>
            <a:off x="9957960" y="40050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08" name="Shape 46"/>
          <p:cNvSpPr/>
          <p:nvPr/>
        </p:nvSpPr>
        <p:spPr>
          <a:xfrm>
            <a:off x="7543800" y="44622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09" name="Shape 47"/>
          <p:cNvSpPr/>
          <p:nvPr/>
        </p:nvSpPr>
        <p:spPr>
          <a:xfrm>
            <a:off x="8147160" y="44622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10" name="Shape 48"/>
          <p:cNvSpPr/>
          <p:nvPr/>
        </p:nvSpPr>
        <p:spPr>
          <a:xfrm>
            <a:off x="8750880" y="44622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11" name="Shape 49"/>
          <p:cNvSpPr/>
          <p:nvPr/>
        </p:nvSpPr>
        <p:spPr>
          <a:xfrm>
            <a:off x="9354240" y="44622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12" name="Shape 50"/>
          <p:cNvSpPr/>
          <p:nvPr/>
        </p:nvSpPr>
        <p:spPr>
          <a:xfrm>
            <a:off x="9957960" y="4462200"/>
            <a:ext cx="475200" cy="310680"/>
          </a:xfrm>
          <a:prstGeom prst="rect">
            <a:avLst/>
          </a:prstGeom>
          <a:solidFill>
            <a:srgbClr val="3bd6e8">
              <a:alpha val="18000"/>
            </a:srgbClr>
          </a:solidFill>
          <a:ln w="12700">
            <a:solidFill>
              <a:srgbClr val="3bd6e8">
                <a:alpha val="65000"/>
              </a:srgbClr>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13" name="Text 51"/>
          <p:cNvSpPr/>
          <p:nvPr/>
        </p:nvSpPr>
        <p:spPr>
          <a:xfrm>
            <a:off x="7735680" y="4069080"/>
            <a:ext cx="1641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6b35"/>
                </a:solidFill>
                <a:effectLst/>
                <a:uFillTx/>
                <a:latin typeface="Aptos"/>
                <a:ea typeface="Aptos"/>
              </a:rPr>
              <a:t>A</a:t>
            </a:r>
            <a:endParaRPr b="0" lang="ru-RU" sz="1000" strike="noStrike" u="none">
              <a:solidFill>
                <a:srgbClr val="ffffff"/>
              </a:solidFill>
              <a:effectLst/>
              <a:uFillTx/>
              <a:latin typeface="Arial"/>
            </a:endParaRPr>
          </a:p>
        </p:txBody>
      </p:sp>
      <p:sp>
        <p:nvSpPr>
          <p:cNvPr id="314" name="Text 52"/>
          <p:cNvSpPr/>
          <p:nvPr/>
        </p:nvSpPr>
        <p:spPr>
          <a:xfrm>
            <a:off x="8942760" y="4983480"/>
            <a:ext cx="1641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3bd6e8"/>
                </a:solidFill>
                <a:effectLst/>
                <a:uFillTx/>
                <a:latin typeface="Aptos"/>
                <a:ea typeface="Aptos"/>
              </a:rPr>
              <a:t>B</a:t>
            </a:r>
            <a:endParaRPr b="0" lang="ru-RU" sz="1000" strike="noStrike" u="none">
              <a:solidFill>
                <a:srgbClr val="ffffff"/>
              </a:solidFill>
              <a:effectLst/>
              <a:uFillTx/>
              <a:latin typeface="Arial"/>
            </a:endParaRPr>
          </a:p>
        </p:txBody>
      </p:sp>
      <p:sp>
        <p:nvSpPr>
          <p:cNvPr id="315" name="Text 53"/>
          <p:cNvSpPr/>
          <p:nvPr/>
        </p:nvSpPr>
        <p:spPr>
          <a:xfrm>
            <a:off x="7543800" y="5239440"/>
            <a:ext cx="365724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20" strike="noStrike" u="none">
                <a:solidFill>
                  <a:srgbClr val="d8e2ef"/>
                </a:solidFill>
                <a:effectLst/>
                <a:uFillTx/>
                <a:latin typeface="Aptos"/>
                <a:ea typeface="Aptos"/>
              </a:rPr>
              <a:t>Every memory region and fabric endpoint carries a security domain context.</a:t>
            </a:r>
            <a:endParaRPr b="0" lang="ru-RU" sz="1020" strike="noStrike" u="none">
              <a:solidFill>
                <a:srgbClr val="ffffff"/>
              </a:solidFill>
              <a:effectLst/>
              <a:uFillTx/>
              <a:latin typeface="Arial"/>
            </a:endParaRPr>
          </a:p>
        </p:txBody>
      </p:sp>
      <p:sp>
        <p:nvSpPr>
          <p:cNvPr id="316" name="Text 54"/>
          <p:cNvSpPr/>
          <p:nvPr/>
        </p:nvSpPr>
        <p:spPr>
          <a:xfrm>
            <a:off x="567000" y="5961960"/>
            <a:ext cx="84096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780" spc="99" strike="noStrike" u="none">
                <a:solidFill>
                  <a:srgbClr val="ff6b35"/>
                </a:solidFill>
                <a:effectLst/>
                <a:uFillTx/>
                <a:latin typeface="Aptos"/>
                <a:ea typeface="Aptos"/>
              </a:rPr>
              <a:t>Design goal</a:t>
            </a:r>
            <a:endParaRPr b="0" lang="ru-RU" sz="780" strike="noStrike" u="none">
              <a:solidFill>
                <a:srgbClr val="ffffff"/>
              </a:solidFill>
              <a:effectLst/>
              <a:uFillTx/>
              <a:latin typeface="Arial"/>
            </a:endParaRPr>
          </a:p>
        </p:txBody>
      </p:sp>
      <p:sp>
        <p:nvSpPr>
          <p:cNvPr id="317" name="Text 55"/>
          <p:cNvSpPr/>
          <p:nvPr/>
        </p:nvSpPr>
        <p:spPr>
          <a:xfrm>
            <a:off x="1426320" y="5925240"/>
            <a:ext cx="98751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70" strike="noStrike" u="none">
                <a:solidFill>
                  <a:srgbClr val="f5f7fa"/>
                </a:solidFill>
                <a:effectLst/>
                <a:uFillTx/>
                <a:latin typeface="Aptos"/>
                <a:ea typeface="Aptos"/>
              </a:rPr>
              <a:t>A malicious host may control scheduling; it must not gain a valid capability to read or alter another domain’s state.</a:t>
            </a:r>
            <a:endParaRPr b="0" lang="ru-RU" sz="1170" strike="noStrike" u="none">
              <a:solidFill>
                <a:srgbClr val="ffffff"/>
              </a:solidFill>
              <a:effectLst/>
              <a:uFillTx/>
              <a:latin typeface="Arial"/>
            </a:endParaRPr>
          </a:p>
        </p:txBody>
      </p:sp>
      <p:sp>
        <p:nvSpPr>
          <p:cNvPr id="318" name="Text 56"/>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Conceptual hardware design proposal. WSE-3/CS-4 architecture is from Cerebras public materials; the security mechanisms shown here are proposed.</a:t>
            </a:r>
            <a:endParaRPr b="0" lang="ru-RU" sz="660" strike="noStrike" u="none">
              <a:solidFill>
                <a:srgbClr val="ffffff"/>
              </a:solidFill>
              <a:effectLst/>
              <a:uFillTx/>
              <a:latin typeface="Arial"/>
            </a:endParaRPr>
          </a:p>
        </p:txBody>
      </p:sp>
      <p:sp>
        <p:nvSpPr>
          <p:cNvPr id="319" name="PlaceHolder 1"/>
          <p:cNvSpPr>
            <a:spLocks noGrp="1"/>
          </p:cNvSpPr>
          <p:nvPr>
            <p:ph type="sldNum" idx="11"/>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4AE6A7E0-EFA8-4ACC-84F3-C3D432357FDB}"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7 • CONFIDENTIAL INFERENCE</a:t>
            </a:r>
            <a:endParaRPr b="0" lang="ru-RU" sz="1000" strike="noStrike" u="none">
              <a:solidFill>
                <a:srgbClr val="ffffff"/>
              </a:solidFill>
              <a:effectLst/>
              <a:uFillTx/>
              <a:latin typeface="Arial"/>
            </a:endParaRPr>
          </a:p>
        </p:txBody>
      </p:sp>
      <p:sp>
        <p:nvSpPr>
          <p:cNvPr id="321"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2900" strike="noStrike" u="none">
                <a:solidFill>
                  <a:srgbClr val="f5f7fa"/>
                </a:solidFill>
                <a:effectLst/>
                <a:uFillTx/>
                <a:latin typeface="Aptos"/>
                <a:ea typeface="Aptos"/>
              </a:rPr>
              <a:t>Protect the model, prompt, KV cache, activations, and output.</a:t>
            </a:r>
            <a:endParaRPr b="0" lang="ru-RU" sz="2900" strike="noStrike" u="none">
              <a:solidFill>
                <a:srgbClr val="ffffff"/>
              </a:solidFill>
              <a:effectLst/>
              <a:uFillTx/>
              <a:latin typeface="Arial"/>
            </a:endParaRPr>
          </a:p>
        </p:txBody>
      </p:sp>
      <p:sp>
        <p:nvSpPr>
          <p:cNvPr id="322"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Encryption at rest and TLS are not substitutes for confidentiality during execution.</a:t>
            </a:r>
            <a:endParaRPr b="0" lang="ru-RU" sz="1250" strike="noStrike" u="none">
              <a:solidFill>
                <a:srgbClr val="ffffff"/>
              </a:solidFill>
              <a:effectLst/>
              <a:uFillTx/>
              <a:latin typeface="Arial"/>
            </a:endParaRPr>
          </a:p>
        </p:txBody>
      </p:sp>
      <p:sp>
        <p:nvSpPr>
          <p:cNvPr id="323"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08</a:t>
            </a:r>
            <a:endParaRPr b="0" lang="ru-RU" sz="1000" strike="noStrike" u="none">
              <a:solidFill>
                <a:srgbClr val="ffffff"/>
              </a:solidFill>
              <a:effectLst/>
              <a:uFillTx/>
              <a:latin typeface="Arial"/>
            </a:endParaRPr>
          </a:p>
        </p:txBody>
      </p:sp>
      <p:sp>
        <p:nvSpPr>
          <p:cNvPr id="324" name="Shape 4"/>
          <p:cNvSpPr/>
          <p:nvPr/>
        </p:nvSpPr>
        <p:spPr>
          <a:xfrm>
            <a:off x="548640" y="2030040"/>
            <a:ext cx="2011320" cy="1444320"/>
          </a:xfrm>
          <a:prstGeom prst="roundRect">
            <a:avLst>
              <a:gd name="adj" fmla="val 10127"/>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25" name="Shape 5"/>
          <p:cNvSpPr/>
          <p:nvPr/>
        </p:nvSpPr>
        <p:spPr>
          <a:xfrm>
            <a:off x="713160" y="2240280"/>
            <a:ext cx="347040" cy="347040"/>
          </a:xfrm>
          <a:prstGeom prst="ellipse">
            <a:avLst/>
          </a:prstGeom>
          <a:solidFill>
            <a:srgbClr val="ffd166">
              <a:alpha val="18000"/>
            </a:srgbClr>
          </a:solidFill>
          <a:ln w="15240">
            <a:solidFill>
              <a:srgbClr val="ffd166"/>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26" name="Text 6"/>
          <p:cNvSpPr/>
          <p:nvPr/>
        </p:nvSpPr>
        <p:spPr>
          <a:xfrm>
            <a:off x="713160" y="2249280"/>
            <a:ext cx="347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d166"/>
                </a:solidFill>
                <a:effectLst/>
                <a:uFillTx/>
                <a:latin typeface="Aptos"/>
                <a:ea typeface="Aptos"/>
              </a:rPr>
              <a:t>1</a:t>
            </a:r>
            <a:endParaRPr b="0" lang="ru-RU" sz="1500" strike="noStrike" u="none">
              <a:solidFill>
                <a:srgbClr val="ffffff"/>
              </a:solidFill>
              <a:effectLst/>
              <a:uFillTx/>
              <a:latin typeface="Arial"/>
            </a:endParaRPr>
          </a:p>
        </p:txBody>
      </p:sp>
      <p:sp>
        <p:nvSpPr>
          <p:cNvPr id="327" name="Text 7"/>
          <p:cNvSpPr/>
          <p:nvPr/>
        </p:nvSpPr>
        <p:spPr>
          <a:xfrm>
            <a:off x="1188720" y="2194560"/>
            <a:ext cx="1151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ffd166"/>
                </a:solidFill>
                <a:effectLst/>
                <a:uFillTx/>
                <a:latin typeface="Aptos"/>
                <a:ea typeface="Aptos"/>
              </a:rPr>
              <a:t>Model owner</a:t>
            </a:r>
            <a:endParaRPr b="0" lang="ru-RU" sz="1050" strike="noStrike" u="none">
              <a:solidFill>
                <a:srgbClr val="ffffff"/>
              </a:solidFill>
              <a:effectLst/>
              <a:uFillTx/>
              <a:latin typeface="Arial"/>
            </a:endParaRPr>
          </a:p>
        </p:txBody>
      </p:sp>
      <p:sp>
        <p:nvSpPr>
          <p:cNvPr id="328" name="Text 8"/>
          <p:cNvSpPr/>
          <p:nvPr/>
        </p:nvSpPr>
        <p:spPr>
          <a:xfrm>
            <a:off x="713160" y="2679120"/>
            <a:ext cx="166392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f5f7fa"/>
                </a:solidFill>
                <a:effectLst/>
                <a:uFillTx/>
                <a:latin typeface="Aptos"/>
                <a:ea typeface="Aptos"/>
              </a:rPr>
              <a:t>Encrypted model image</a:t>
            </a:r>
            <a:endParaRPr b="0" lang="ru-RU" sz="1120" strike="noStrike" u="none">
              <a:solidFill>
                <a:srgbClr val="ffffff"/>
              </a:solidFill>
              <a:effectLst/>
              <a:uFillTx/>
              <a:latin typeface="Arial"/>
            </a:endParaRPr>
          </a:p>
        </p:txBody>
      </p:sp>
      <p:sp>
        <p:nvSpPr>
          <p:cNvPr id="329" name="Shape 9"/>
          <p:cNvSpPr/>
          <p:nvPr/>
        </p:nvSpPr>
        <p:spPr>
          <a:xfrm>
            <a:off x="2560320" y="2752200"/>
            <a:ext cx="219240" cy="360"/>
          </a:xfrm>
          <a:prstGeom prst="line">
            <a:avLst/>
          </a:prstGeom>
          <a:ln w="2032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330" name="Shape 10"/>
          <p:cNvSpPr/>
          <p:nvPr/>
        </p:nvSpPr>
        <p:spPr>
          <a:xfrm>
            <a:off x="2816280" y="2030040"/>
            <a:ext cx="2011320" cy="1444320"/>
          </a:xfrm>
          <a:prstGeom prst="roundRect">
            <a:avLst>
              <a:gd name="adj" fmla="val 10127"/>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31" name="Shape 11"/>
          <p:cNvSpPr/>
          <p:nvPr/>
        </p:nvSpPr>
        <p:spPr>
          <a:xfrm>
            <a:off x="2980800" y="2240280"/>
            <a:ext cx="347040" cy="34704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32" name="Text 12"/>
          <p:cNvSpPr/>
          <p:nvPr/>
        </p:nvSpPr>
        <p:spPr>
          <a:xfrm>
            <a:off x="2980800" y="2249280"/>
            <a:ext cx="347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2</a:t>
            </a:r>
            <a:endParaRPr b="0" lang="ru-RU" sz="1500" strike="noStrike" u="none">
              <a:solidFill>
                <a:srgbClr val="ffffff"/>
              </a:solidFill>
              <a:effectLst/>
              <a:uFillTx/>
              <a:latin typeface="Arial"/>
            </a:endParaRPr>
          </a:p>
        </p:txBody>
      </p:sp>
      <p:sp>
        <p:nvSpPr>
          <p:cNvPr id="333" name="Text 13"/>
          <p:cNvSpPr/>
          <p:nvPr/>
        </p:nvSpPr>
        <p:spPr>
          <a:xfrm>
            <a:off x="3456360" y="2194560"/>
            <a:ext cx="1151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5fe1a0"/>
                </a:solidFill>
                <a:effectLst/>
                <a:uFillTx/>
                <a:latin typeface="Aptos"/>
                <a:ea typeface="Aptos"/>
              </a:rPr>
              <a:t>Attestation</a:t>
            </a:r>
            <a:endParaRPr b="0" lang="ru-RU" sz="1050" strike="noStrike" u="none">
              <a:solidFill>
                <a:srgbClr val="ffffff"/>
              </a:solidFill>
              <a:effectLst/>
              <a:uFillTx/>
              <a:latin typeface="Arial"/>
            </a:endParaRPr>
          </a:p>
        </p:txBody>
      </p:sp>
      <p:sp>
        <p:nvSpPr>
          <p:cNvPr id="334" name="Text 14"/>
          <p:cNvSpPr/>
          <p:nvPr/>
        </p:nvSpPr>
        <p:spPr>
          <a:xfrm>
            <a:off x="2980800" y="2679120"/>
            <a:ext cx="166392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f5f7fa"/>
                </a:solidFill>
                <a:effectLst/>
                <a:uFillTx/>
                <a:latin typeface="Aptos"/>
                <a:ea typeface="Aptos"/>
              </a:rPr>
              <a:t>Verify CVM + WSE + workload</a:t>
            </a:r>
            <a:endParaRPr b="0" lang="ru-RU" sz="1120" strike="noStrike" u="none">
              <a:solidFill>
                <a:srgbClr val="ffffff"/>
              </a:solidFill>
              <a:effectLst/>
              <a:uFillTx/>
              <a:latin typeface="Arial"/>
            </a:endParaRPr>
          </a:p>
        </p:txBody>
      </p:sp>
      <p:sp>
        <p:nvSpPr>
          <p:cNvPr id="335" name="Shape 15"/>
          <p:cNvSpPr/>
          <p:nvPr/>
        </p:nvSpPr>
        <p:spPr>
          <a:xfrm>
            <a:off x="4827960" y="2752200"/>
            <a:ext cx="219240" cy="360"/>
          </a:xfrm>
          <a:prstGeom prst="line">
            <a:avLst/>
          </a:prstGeom>
          <a:ln w="2032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336" name="Shape 16"/>
          <p:cNvSpPr/>
          <p:nvPr/>
        </p:nvSpPr>
        <p:spPr>
          <a:xfrm>
            <a:off x="5083920" y="2030040"/>
            <a:ext cx="2011320" cy="1444320"/>
          </a:xfrm>
          <a:prstGeom prst="roundRect">
            <a:avLst>
              <a:gd name="adj" fmla="val 10127"/>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37" name="Shape 17"/>
          <p:cNvSpPr/>
          <p:nvPr/>
        </p:nvSpPr>
        <p:spPr>
          <a:xfrm>
            <a:off x="5248800" y="2240280"/>
            <a:ext cx="347040" cy="347040"/>
          </a:xfrm>
          <a:prstGeom prst="ellipse">
            <a:avLst/>
          </a:prstGeom>
          <a:solidFill>
            <a:srgbClr val="ff6b35">
              <a:alpha val="18000"/>
            </a:srgbClr>
          </a:solidFill>
          <a:ln w="15240">
            <a:solidFill>
              <a:srgbClr val="ff6b35"/>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38" name="Text 18"/>
          <p:cNvSpPr/>
          <p:nvPr/>
        </p:nvSpPr>
        <p:spPr>
          <a:xfrm>
            <a:off x="5248800" y="2249280"/>
            <a:ext cx="347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6b35"/>
                </a:solidFill>
                <a:effectLst/>
                <a:uFillTx/>
                <a:latin typeface="Aptos"/>
                <a:ea typeface="Aptos"/>
              </a:rPr>
              <a:t>3</a:t>
            </a:r>
            <a:endParaRPr b="0" lang="ru-RU" sz="1500" strike="noStrike" u="none">
              <a:solidFill>
                <a:srgbClr val="ffffff"/>
              </a:solidFill>
              <a:effectLst/>
              <a:uFillTx/>
              <a:latin typeface="Arial"/>
            </a:endParaRPr>
          </a:p>
        </p:txBody>
      </p:sp>
      <p:sp>
        <p:nvSpPr>
          <p:cNvPr id="339" name="Text 19"/>
          <p:cNvSpPr/>
          <p:nvPr/>
        </p:nvSpPr>
        <p:spPr>
          <a:xfrm>
            <a:off x="5724000" y="2194560"/>
            <a:ext cx="1151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ff6b35"/>
                </a:solidFill>
                <a:effectLst/>
                <a:uFillTx/>
                <a:latin typeface="Aptos"/>
                <a:ea typeface="Aptos"/>
              </a:rPr>
              <a:t>Key release</a:t>
            </a:r>
            <a:endParaRPr b="0" lang="ru-RU" sz="1050" strike="noStrike" u="none">
              <a:solidFill>
                <a:srgbClr val="ffffff"/>
              </a:solidFill>
              <a:effectLst/>
              <a:uFillTx/>
              <a:latin typeface="Arial"/>
            </a:endParaRPr>
          </a:p>
        </p:txBody>
      </p:sp>
      <p:sp>
        <p:nvSpPr>
          <p:cNvPr id="340" name="Text 20"/>
          <p:cNvSpPr/>
          <p:nvPr/>
        </p:nvSpPr>
        <p:spPr>
          <a:xfrm>
            <a:off x="5248800" y="2679120"/>
            <a:ext cx="166392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f5f7fa"/>
                </a:solidFill>
                <a:effectLst/>
                <a:uFillTx/>
                <a:latin typeface="Aptos"/>
                <a:ea typeface="Aptos"/>
              </a:rPr>
              <a:t>Decrypt only inside C-CCA</a:t>
            </a:r>
            <a:endParaRPr b="0" lang="ru-RU" sz="1120" strike="noStrike" u="none">
              <a:solidFill>
                <a:srgbClr val="ffffff"/>
              </a:solidFill>
              <a:effectLst/>
              <a:uFillTx/>
              <a:latin typeface="Arial"/>
            </a:endParaRPr>
          </a:p>
        </p:txBody>
      </p:sp>
      <p:sp>
        <p:nvSpPr>
          <p:cNvPr id="341" name="Shape 21"/>
          <p:cNvSpPr/>
          <p:nvPr/>
        </p:nvSpPr>
        <p:spPr>
          <a:xfrm>
            <a:off x="7095600" y="2752200"/>
            <a:ext cx="219600" cy="360"/>
          </a:xfrm>
          <a:prstGeom prst="line">
            <a:avLst/>
          </a:prstGeom>
          <a:ln w="2032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342" name="Shape 22"/>
          <p:cNvSpPr/>
          <p:nvPr/>
        </p:nvSpPr>
        <p:spPr>
          <a:xfrm>
            <a:off x="7351920" y="2030040"/>
            <a:ext cx="2011320" cy="1444320"/>
          </a:xfrm>
          <a:prstGeom prst="roundRect">
            <a:avLst>
              <a:gd name="adj" fmla="val 10127"/>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43" name="Shape 23"/>
          <p:cNvSpPr/>
          <p:nvPr/>
        </p:nvSpPr>
        <p:spPr>
          <a:xfrm>
            <a:off x="7516440" y="2240280"/>
            <a:ext cx="347040" cy="347040"/>
          </a:xfrm>
          <a:prstGeom prst="ellipse">
            <a:avLst/>
          </a:prstGeom>
          <a:solidFill>
            <a:srgbClr val="3bd6e8">
              <a:alpha val="18000"/>
            </a:srgbClr>
          </a:solidFill>
          <a:ln w="15240">
            <a:solidFill>
              <a:srgbClr val="3bd6e8"/>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44" name="Text 24"/>
          <p:cNvSpPr/>
          <p:nvPr/>
        </p:nvSpPr>
        <p:spPr>
          <a:xfrm>
            <a:off x="7516440" y="2249280"/>
            <a:ext cx="347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3bd6e8"/>
                </a:solidFill>
                <a:effectLst/>
                <a:uFillTx/>
                <a:latin typeface="Aptos"/>
                <a:ea typeface="Aptos"/>
              </a:rPr>
              <a:t>4</a:t>
            </a:r>
            <a:endParaRPr b="0" lang="ru-RU" sz="1500" strike="noStrike" u="none">
              <a:solidFill>
                <a:srgbClr val="ffffff"/>
              </a:solidFill>
              <a:effectLst/>
              <a:uFillTx/>
              <a:latin typeface="Arial"/>
            </a:endParaRPr>
          </a:p>
        </p:txBody>
      </p:sp>
      <p:sp>
        <p:nvSpPr>
          <p:cNvPr id="345" name="Text 25"/>
          <p:cNvSpPr/>
          <p:nvPr/>
        </p:nvSpPr>
        <p:spPr>
          <a:xfrm>
            <a:off x="7992000" y="2194560"/>
            <a:ext cx="1151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3bd6e8"/>
                </a:solidFill>
                <a:effectLst/>
                <a:uFillTx/>
                <a:latin typeface="Aptos"/>
                <a:ea typeface="Aptos"/>
              </a:rPr>
              <a:t>Inference</a:t>
            </a:r>
            <a:endParaRPr b="0" lang="ru-RU" sz="1050" strike="noStrike" u="none">
              <a:solidFill>
                <a:srgbClr val="ffffff"/>
              </a:solidFill>
              <a:effectLst/>
              <a:uFillTx/>
              <a:latin typeface="Arial"/>
            </a:endParaRPr>
          </a:p>
        </p:txBody>
      </p:sp>
      <p:sp>
        <p:nvSpPr>
          <p:cNvPr id="346" name="Text 26"/>
          <p:cNvSpPr/>
          <p:nvPr/>
        </p:nvSpPr>
        <p:spPr>
          <a:xfrm>
            <a:off x="7516440" y="2679120"/>
            <a:ext cx="166392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f5f7fa"/>
                </a:solidFill>
                <a:effectLst/>
                <a:uFillTx/>
                <a:latin typeface="Aptos"/>
                <a:ea typeface="Aptos"/>
              </a:rPr>
              <a:t>Plaintext exists only in protected domain</a:t>
            </a:r>
            <a:endParaRPr b="0" lang="ru-RU" sz="1120" strike="noStrike" u="none">
              <a:solidFill>
                <a:srgbClr val="ffffff"/>
              </a:solidFill>
              <a:effectLst/>
              <a:uFillTx/>
              <a:latin typeface="Arial"/>
            </a:endParaRPr>
          </a:p>
        </p:txBody>
      </p:sp>
      <p:sp>
        <p:nvSpPr>
          <p:cNvPr id="347" name="Shape 27"/>
          <p:cNvSpPr/>
          <p:nvPr/>
        </p:nvSpPr>
        <p:spPr>
          <a:xfrm>
            <a:off x="9363240" y="2752200"/>
            <a:ext cx="219600" cy="360"/>
          </a:xfrm>
          <a:prstGeom prst="line">
            <a:avLst/>
          </a:prstGeom>
          <a:ln w="2032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348" name="Shape 28"/>
          <p:cNvSpPr/>
          <p:nvPr/>
        </p:nvSpPr>
        <p:spPr>
          <a:xfrm>
            <a:off x="9619560" y="2030040"/>
            <a:ext cx="2011320" cy="1444320"/>
          </a:xfrm>
          <a:prstGeom prst="roundRect">
            <a:avLst>
              <a:gd name="adj" fmla="val 10127"/>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49" name="Shape 29"/>
          <p:cNvSpPr/>
          <p:nvPr/>
        </p:nvSpPr>
        <p:spPr>
          <a:xfrm>
            <a:off x="9784080" y="2240280"/>
            <a:ext cx="347040" cy="34704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50" name="Text 30"/>
          <p:cNvSpPr/>
          <p:nvPr/>
        </p:nvSpPr>
        <p:spPr>
          <a:xfrm>
            <a:off x="9784080" y="2249280"/>
            <a:ext cx="3470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5</a:t>
            </a:r>
            <a:endParaRPr b="0" lang="ru-RU" sz="1500" strike="noStrike" u="none">
              <a:solidFill>
                <a:srgbClr val="ffffff"/>
              </a:solidFill>
              <a:effectLst/>
              <a:uFillTx/>
              <a:latin typeface="Arial"/>
            </a:endParaRPr>
          </a:p>
        </p:txBody>
      </p:sp>
      <p:sp>
        <p:nvSpPr>
          <p:cNvPr id="351" name="Text 31"/>
          <p:cNvSpPr/>
          <p:nvPr/>
        </p:nvSpPr>
        <p:spPr>
          <a:xfrm>
            <a:off x="10259640" y="2194560"/>
            <a:ext cx="1151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5fe1a0"/>
                </a:solidFill>
                <a:effectLst/>
                <a:uFillTx/>
                <a:latin typeface="Aptos"/>
                <a:ea typeface="Aptos"/>
              </a:rPr>
              <a:t>Response</a:t>
            </a:r>
            <a:endParaRPr b="0" lang="ru-RU" sz="1050" strike="noStrike" u="none">
              <a:solidFill>
                <a:srgbClr val="ffffff"/>
              </a:solidFill>
              <a:effectLst/>
              <a:uFillTx/>
              <a:latin typeface="Arial"/>
            </a:endParaRPr>
          </a:p>
        </p:txBody>
      </p:sp>
      <p:sp>
        <p:nvSpPr>
          <p:cNvPr id="352" name="Text 32"/>
          <p:cNvSpPr/>
          <p:nvPr/>
        </p:nvSpPr>
        <p:spPr>
          <a:xfrm>
            <a:off x="9784080" y="2679120"/>
            <a:ext cx="166392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f5f7fa"/>
                </a:solidFill>
                <a:effectLst/>
                <a:uFillTx/>
                <a:latin typeface="Aptos"/>
                <a:ea typeface="Aptos"/>
              </a:rPr>
              <a:t>Encrypted result leaves domain</a:t>
            </a:r>
            <a:endParaRPr b="0" lang="ru-RU" sz="1120" strike="noStrike" u="none">
              <a:solidFill>
                <a:srgbClr val="ffffff"/>
              </a:solidFill>
              <a:effectLst/>
              <a:uFillTx/>
              <a:latin typeface="Arial"/>
            </a:endParaRPr>
          </a:p>
        </p:txBody>
      </p:sp>
      <p:sp>
        <p:nvSpPr>
          <p:cNvPr id="353" name="Text 33"/>
          <p:cNvSpPr/>
          <p:nvPr/>
        </p:nvSpPr>
        <p:spPr>
          <a:xfrm>
            <a:off x="567000" y="3977640"/>
            <a:ext cx="23770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9" strike="noStrike" u="none">
                <a:solidFill>
                  <a:srgbClr val="ff6b35"/>
                </a:solidFill>
                <a:effectLst/>
                <a:uFillTx/>
                <a:latin typeface="Aptos"/>
                <a:ea typeface="Aptos"/>
              </a:rPr>
              <a:t>WHAT STAYS CONFIDENTIAL</a:t>
            </a:r>
            <a:endParaRPr b="0" lang="ru-RU" sz="900" strike="noStrike" u="none">
              <a:solidFill>
                <a:srgbClr val="ffffff"/>
              </a:solidFill>
              <a:effectLst/>
              <a:uFillTx/>
              <a:latin typeface="Arial"/>
            </a:endParaRPr>
          </a:p>
        </p:txBody>
      </p:sp>
      <p:sp>
        <p:nvSpPr>
          <p:cNvPr id="354" name="Shape 34"/>
          <p:cNvSpPr/>
          <p:nvPr/>
        </p:nvSpPr>
        <p:spPr>
          <a:xfrm>
            <a:off x="567000" y="4370760"/>
            <a:ext cx="3428640" cy="529920"/>
          </a:xfrm>
          <a:prstGeom prst="roundRect">
            <a:avLst>
              <a:gd name="adj" fmla="val 27586"/>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55" name="Text 35"/>
          <p:cNvSpPr/>
          <p:nvPr/>
        </p:nvSpPr>
        <p:spPr>
          <a:xfrm>
            <a:off x="731520" y="4462200"/>
            <a:ext cx="1142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ff6b35"/>
                </a:solidFill>
                <a:effectLst/>
                <a:uFillTx/>
                <a:latin typeface="Aptos"/>
                <a:ea typeface="Aptos"/>
              </a:rPr>
              <a:t>Weights</a:t>
            </a:r>
            <a:endParaRPr b="0" lang="ru-RU" sz="1050" strike="noStrike" u="none">
              <a:solidFill>
                <a:srgbClr val="ffffff"/>
              </a:solidFill>
              <a:effectLst/>
              <a:uFillTx/>
              <a:latin typeface="Arial"/>
            </a:endParaRPr>
          </a:p>
        </p:txBody>
      </p:sp>
      <p:sp>
        <p:nvSpPr>
          <p:cNvPr id="356" name="Text 36"/>
          <p:cNvSpPr/>
          <p:nvPr/>
        </p:nvSpPr>
        <p:spPr>
          <a:xfrm>
            <a:off x="1892880" y="4462200"/>
            <a:ext cx="18468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Model IP</a:t>
            </a:r>
            <a:endParaRPr b="0" lang="ru-RU" sz="980" strike="noStrike" u="none">
              <a:solidFill>
                <a:srgbClr val="ffffff"/>
              </a:solidFill>
              <a:effectLst/>
              <a:uFillTx/>
              <a:latin typeface="Arial"/>
            </a:endParaRPr>
          </a:p>
        </p:txBody>
      </p:sp>
      <p:sp>
        <p:nvSpPr>
          <p:cNvPr id="357" name="Shape 37"/>
          <p:cNvSpPr/>
          <p:nvPr/>
        </p:nvSpPr>
        <p:spPr>
          <a:xfrm>
            <a:off x="4270320" y="4370760"/>
            <a:ext cx="3428640" cy="529920"/>
          </a:xfrm>
          <a:prstGeom prst="roundRect">
            <a:avLst>
              <a:gd name="adj" fmla="val 27586"/>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58" name="Text 38"/>
          <p:cNvSpPr/>
          <p:nvPr/>
        </p:nvSpPr>
        <p:spPr>
          <a:xfrm>
            <a:off x="4434840" y="4462200"/>
            <a:ext cx="1142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3bd6e8"/>
                </a:solidFill>
                <a:effectLst/>
                <a:uFillTx/>
                <a:latin typeface="Aptos"/>
                <a:ea typeface="Aptos"/>
              </a:rPr>
              <a:t>Prompt</a:t>
            </a:r>
            <a:endParaRPr b="0" lang="ru-RU" sz="1050" strike="noStrike" u="none">
              <a:solidFill>
                <a:srgbClr val="ffffff"/>
              </a:solidFill>
              <a:effectLst/>
              <a:uFillTx/>
              <a:latin typeface="Arial"/>
            </a:endParaRPr>
          </a:p>
        </p:txBody>
      </p:sp>
      <p:sp>
        <p:nvSpPr>
          <p:cNvPr id="359" name="Text 39"/>
          <p:cNvSpPr/>
          <p:nvPr/>
        </p:nvSpPr>
        <p:spPr>
          <a:xfrm>
            <a:off x="5596200" y="4462200"/>
            <a:ext cx="18468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User / enterprise data</a:t>
            </a:r>
            <a:endParaRPr b="0" lang="ru-RU" sz="980" strike="noStrike" u="none">
              <a:solidFill>
                <a:srgbClr val="ffffff"/>
              </a:solidFill>
              <a:effectLst/>
              <a:uFillTx/>
              <a:latin typeface="Arial"/>
            </a:endParaRPr>
          </a:p>
        </p:txBody>
      </p:sp>
      <p:sp>
        <p:nvSpPr>
          <p:cNvPr id="360" name="Shape 40"/>
          <p:cNvSpPr/>
          <p:nvPr/>
        </p:nvSpPr>
        <p:spPr>
          <a:xfrm>
            <a:off x="7973640" y="4370760"/>
            <a:ext cx="3428640" cy="529920"/>
          </a:xfrm>
          <a:prstGeom prst="roundRect">
            <a:avLst>
              <a:gd name="adj" fmla="val 27586"/>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61" name="Text 41"/>
          <p:cNvSpPr/>
          <p:nvPr/>
        </p:nvSpPr>
        <p:spPr>
          <a:xfrm>
            <a:off x="8138160" y="4462200"/>
            <a:ext cx="1142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71a7ff"/>
                </a:solidFill>
                <a:effectLst/>
                <a:uFillTx/>
                <a:latin typeface="Aptos"/>
                <a:ea typeface="Aptos"/>
              </a:rPr>
              <a:t>KV cache</a:t>
            </a:r>
            <a:endParaRPr b="0" lang="ru-RU" sz="1050" strike="noStrike" u="none">
              <a:solidFill>
                <a:srgbClr val="ffffff"/>
              </a:solidFill>
              <a:effectLst/>
              <a:uFillTx/>
              <a:latin typeface="Arial"/>
            </a:endParaRPr>
          </a:p>
        </p:txBody>
      </p:sp>
      <p:sp>
        <p:nvSpPr>
          <p:cNvPr id="362" name="Text 42"/>
          <p:cNvSpPr/>
          <p:nvPr/>
        </p:nvSpPr>
        <p:spPr>
          <a:xfrm>
            <a:off x="9299520" y="4462200"/>
            <a:ext cx="18468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Conversation state</a:t>
            </a:r>
            <a:endParaRPr b="0" lang="ru-RU" sz="980" strike="noStrike" u="none">
              <a:solidFill>
                <a:srgbClr val="ffffff"/>
              </a:solidFill>
              <a:effectLst/>
              <a:uFillTx/>
              <a:latin typeface="Arial"/>
            </a:endParaRPr>
          </a:p>
        </p:txBody>
      </p:sp>
      <p:sp>
        <p:nvSpPr>
          <p:cNvPr id="363" name="Shape 43"/>
          <p:cNvSpPr/>
          <p:nvPr/>
        </p:nvSpPr>
        <p:spPr>
          <a:xfrm>
            <a:off x="567000" y="5056560"/>
            <a:ext cx="3428640" cy="529920"/>
          </a:xfrm>
          <a:prstGeom prst="roundRect">
            <a:avLst>
              <a:gd name="adj" fmla="val 27586"/>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64" name="Text 44"/>
          <p:cNvSpPr/>
          <p:nvPr/>
        </p:nvSpPr>
        <p:spPr>
          <a:xfrm>
            <a:off x="731520" y="5148000"/>
            <a:ext cx="1142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5fe1a0"/>
                </a:solidFill>
                <a:effectLst/>
                <a:uFillTx/>
                <a:latin typeface="Aptos"/>
                <a:ea typeface="Aptos"/>
              </a:rPr>
              <a:t>Activations</a:t>
            </a:r>
            <a:endParaRPr b="0" lang="ru-RU" sz="1050" strike="noStrike" u="none">
              <a:solidFill>
                <a:srgbClr val="ffffff"/>
              </a:solidFill>
              <a:effectLst/>
              <a:uFillTx/>
              <a:latin typeface="Arial"/>
            </a:endParaRPr>
          </a:p>
        </p:txBody>
      </p:sp>
      <p:sp>
        <p:nvSpPr>
          <p:cNvPr id="365" name="Text 45"/>
          <p:cNvSpPr/>
          <p:nvPr/>
        </p:nvSpPr>
        <p:spPr>
          <a:xfrm>
            <a:off x="1892880" y="5148000"/>
            <a:ext cx="18468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Intermediate tensors</a:t>
            </a:r>
            <a:endParaRPr b="0" lang="ru-RU" sz="980" strike="noStrike" u="none">
              <a:solidFill>
                <a:srgbClr val="ffffff"/>
              </a:solidFill>
              <a:effectLst/>
              <a:uFillTx/>
              <a:latin typeface="Arial"/>
            </a:endParaRPr>
          </a:p>
        </p:txBody>
      </p:sp>
      <p:sp>
        <p:nvSpPr>
          <p:cNvPr id="366" name="Shape 46"/>
          <p:cNvSpPr/>
          <p:nvPr/>
        </p:nvSpPr>
        <p:spPr>
          <a:xfrm>
            <a:off x="4270320" y="5056560"/>
            <a:ext cx="3428640" cy="529920"/>
          </a:xfrm>
          <a:prstGeom prst="roundRect">
            <a:avLst>
              <a:gd name="adj" fmla="val 27586"/>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67" name="Text 47"/>
          <p:cNvSpPr/>
          <p:nvPr/>
        </p:nvSpPr>
        <p:spPr>
          <a:xfrm>
            <a:off x="4434840" y="5148000"/>
            <a:ext cx="1142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ffd166"/>
                </a:solidFill>
                <a:effectLst/>
                <a:uFillTx/>
                <a:latin typeface="Aptos"/>
                <a:ea typeface="Aptos"/>
              </a:rPr>
              <a:t>RAG context</a:t>
            </a:r>
            <a:endParaRPr b="0" lang="ru-RU" sz="1050" strike="noStrike" u="none">
              <a:solidFill>
                <a:srgbClr val="ffffff"/>
              </a:solidFill>
              <a:effectLst/>
              <a:uFillTx/>
              <a:latin typeface="Arial"/>
            </a:endParaRPr>
          </a:p>
        </p:txBody>
      </p:sp>
      <p:sp>
        <p:nvSpPr>
          <p:cNvPr id="368" name="Text 48"/>
          <p:cNvSpPr/>
          <p:nvPr/>
        </p:nvSpPr>
        <p:spPr>
          <a:xfrm>
            <a:off x="5596200" y="5148000"/>
            <a:ext cx="18468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Retrieved private data</a:t>
            </a:r>
            <a:endParaRPr b="0" lang="ru-RU" sz="980" strike="noStrike" u="none">
              <a:solidFill>
                <a:srgbClr val="ffffff"/>
              </a:solidFill>
              <a:effectLst/>
              <a:uFillTx/>
              <a:latin typeface="Arial"/>
            </a:endParaRPr>
          </a:p>
        </p:txBody>
      </p:sp>
      <p:sp>
        <p:nvSpPr>
          <p:cNvPr id="369" name="Shape 49"/>
          <p:cNvSpPr/>
          <p:nvPr/>
        </p:nvSpPr>
        <p:spPr>
          <a:xfrm>
            <a:off x="7973640" y="5056560"/>
            <a:ext cx="3428640" cy="529920"/>
          </a:xfrm>
          <a:prstGeom prst="roundRect">
            <a:avLst>
              <a:gd name="adj" fmla="val 27586"/>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70" name="Text 50"/>
          <p:cNvSpPr/>
          <p:nvPr/>
        </p:nvSpPr>
        <p:spPr>
          <a:xfrm>
            <a:off x="8138160" y="5148000"/>
            <a:ext cx="1142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50" strike="noStrike" u="none">
                <a:solidFill>
                  <a:srgbClr val="ff6b35"/>
                </a:solidFill>
                <a:effectLst/>
                <a:uFillTx/>
                <a:latin typeface="Aptos"/>
                <a:ea typeface="Aptos"/>
              </a:rPr>
              <a:t>Agent state</a:t>
            </a:r>
            <a:endParaRPr b="0" lang="ru-RU" sz="1050" strike="noStrike" u="none">
              <a:solidFill>
                <a:srgbClr val="ffffff"/>
              </a:solidFill>
              <a:effectLst/>
              <a:uFillTx/>
              <a:latin typeface="Arial"/>
            </a:endParaRPr>
          </a:p>
        </p:txBody>
      </p:sp>
      <p:sp>
        <p:nvSpPr>
          <p:cNvPr id="371" name="Text 51"/>
          <p:cNvSpPr/>
          <p:nvPr/>
        </p:nvSpPr>
        <p:spPr>
          <a:xfrm>
            <a:off x="9299520" y="5148000"/>
            <a:ext cx="18468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Plans + memory</a:t>
            </a:r>
            <a:endParaRPr b="0" lang="ru-RU" sz="980" strike="noStrike" u="none">
              <a:solidFill>
                <a:srgbClr val="ffffff"/>
              </a:solidFill>
              <a:effectLst/>
              <a:uFillTx/>
              <a:latin typeface="Arial"/>
            </a:endParaRPr>
          </a:p>
        </p:txBody>
      </p:sp>
      <p:sp>
        <p:nvSpPr>
          <p:cNvPr id="372" name="Text 52"/>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Cerebras: WSE-3 on-chip SRAM and high-bandwidth inference; NVIDIA/Intel: confidential computing uses hardware isolation + attestation to protect data-in-use.</a:t>
            </a:r>
            <a:endParaRPr b="0" lang="ru-RU" sz="660" strike="noStrike" u="none">
              <a:solidFill>
                <a:srgbClr val="ffffff"/>
              </a:solidFill>
              <a:effectLst/>
              <a:uFillTx/>
              <a:latin typeface="Arial"/>
            </a:endParaRPr>
          </a:p>
        </p:txBody>
      </p:sp>
      <p:sp>
        <p:nvSpPr>
          <p:cNvPr id="373" name="PlaceHolder 1"/>
          <p:cNvSpPr>
            <a:spLocks noGrp="1"/>
          </p:cNvSpPr>
          <p:nvPr>
            <p:ph type="sldNum" idx="12"/>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483C4C25-AC59-4960-9D4A-7E4C22EF08BC}"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8 • CRYPTOGRAPHIC PROTECTION</a:t>
            </a:r>
            <a:endParaRPr b="0" lang="ru-RU" sz="1000" strike="noStrike" u="none">
              <a:solidFill>
                <a:srgbClr val="ffffff"/>
              </a:solidFill>
              <a:effectLst/>
              <a:uFillTx/>
              <a:latin typeface="Arial"/>
            </a:endParaRPr>
          </a:p>
        </p:txBody>
      </p:sp>
      <p:sp>
        <p:nvSpPr>
          <p:cNvPr id="375"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2900" strike="noStrike" u="none">
                <a:solidFill>
                  <a:srgbClr val="f5f7fa"/>
                </a:solidFill>
                <a:effectLst/>
                <a:uFillTx/>
                <a:latin typeface="Aptos"/>
                <a:ea typeface="Aptos"/>
              </a:rPr>
              <a:t>Make plaintext private keys a last-resort resident of the TEE.</a:t>
            </a:r>
            <a:endParaRPr b="0" lang="ru-RU" sz="2900" strike="noStrike" u="none">
              <a:solidFill>
                <a:srgbClr val="ffffff"/>
              </a:solidFill>
              <a:effectLst/>
              <a:uFillTx/>
              <a:latin typeface="Arial"/>
            </a:endParaRPr>
          </a:p>
        </p:txBody>
      </p:sp>
      <p:sp>
        <p:nvSpPr>
          <p:cNvPr id="376"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Keys should be released to attested code — not to the host, process environment, or operator.</a:t>
            </a:r>
            <a:endParaRPr b="0" lang="ru-RU" sz="1250" strike="noStrike" u="none">
              <a:solidFill>
                <a:srgbClr val="ffffff"/>
              </a:solidFill>
              <a:effectLst/>
              <a:uFillTx/>
              <a:latin typeface="Arial"/>
            </a:endParaRPr>
          </a:p>
        </p:txBody>
      </p:sp>
      <p:sp>
        <p:nvSpPr>
          <p:cNvPr id="377"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09</a:t>
            </a:r>
            <a:endParaRPr b="0" lang="ru-RU" sz="1000" strike="noStrike" u="none">
              <a:solidFill>
                <a:srgbClr val="ffffff"/>
              </a:solidFill>
              <a:effectLst/>
              <a:uFillTx/>
              <a:latin typeface="Arial"/>
            </a:endParaRPr>
          </a:p>
        </p:txBody>
      </p:sp>
      <p:sp>
        <p:nvSpPr>
          <p:cNvPr id="378" name="Shape 4"/>
          <p:cNvSpPr/>
          <p:nvPr/>
        </p:nvSpPr>
        <p:spPr>
          <a:xfrm>
            <a:off x="567000" y="1847160"/>
            <a:ext cx="5028840" cy="3977280"/>
          </a:xfrm>
          <a:prstGeom prst="roundRect">
            <a:avLst>
              <a:gd name="adj" fmla="val 3678"/>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79" name="Text 5"/>
          <p:cNvSpPr/>
          <p:nvPr/>
        </p:nvSpPr>
        <p:spPr>
          <a:xfrm>
            <a:off x="822960" y="2103120"/>
            <a:ext cx="1919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9" strike="noStrike" u="none">
                <a:solidFill>
                  <a:srgbClr val="ffd166"/>
                </a:solidFill>
                <a:effectLst/>
                <a:uFillTx/>
                <a:latin typeface="Aptos"/>
                <a:ea typeface="Aptos"/>
              </a:rPr>
              <a:t>KEY HIERARCHY</a:t>
            </a:r>
            <a:endParaRPr b="0" lang="ru-RU" sz="900" strike="noStrike" u="none">
              <a:solidFill>
                <a:srgbClr val="ffffff"/>
              </a:solidFill>
              <a:effectLst/>
              <a:uFillTx/>
              <a:latin typeface="Arial"/>
            </a:endParaRPr>
          </a:p>
        </p:txBody>
      </p:sp>
      <p:sp>
        <p:nvSpPr>
          <p:cNvPr id="380" name="Shape 6"/>
          <p:cNvSpPr/>
          <p:nvPr/>
        </p:nvSpPr>
        <p:spPr>
          <a:xfrm>
            <a:off x="877680" y="2615040"/>
            <a:ext cx="4388760" cy="475200"/>
          </a:xfrm>
          <a:prstGeom prst="roundRect">
            <a:avLst>
              <a:gd name="adj" fmla="val 30769"/>
            </a:avLst>
          </a:prstGeom>
          <a:solidFill>
            <a:srgbClr val="172b3b"/>
          </a:solidFill>
          <a:ln w="12700">
            <a:solidFill>
              <a:srgbClr val="3bd6e8"/>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81" name="Text 7"/>
          <p:cNvSpPr/>
          <p:nvPr/>
        </p:nvSpPr>
        <p:spPr>
          <a:xfrm>
            <a:off x="1078920" y="2706480"/>
            <a:ext cx="13255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3bd6e8"/>
                </a:solidFill>
                <a:effectLst/>
                <a:uFillTx/>
                <a:latin typeface="Aptos"/>
                <a:ea typeface="Aptos"/>
              </a:rPr>
              <a:t>Hardware Root</a:t>
            </a:r>
            <a:endParaRPr b="0" lang="ru-RU" sz="1100" strike="noStrike" u="none">
              <a:solidFill>
                <a:srgbClr val="ffffff"/>
              </a:solidFill>
              <a:effectLst/>
              <a:uFillTx/>
              <a:latin typeface="Arial"/>
            </a:endParaRPr>
          </a:p>
        </p:txBody>
      </p:sp>
      <p:sp>
        <p:nvSpPr>
          <p:cNvPr id="382" name="Text 8"/>
          <p:cNvSpPr/>
          <p:nvPr/>
        </p:nvSpPr>
        <p:spPr>
          <a:xfrm>
            <a:off x="2487240" y="2706480"/>
            <a:ext cx="23954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Attestation / device identity</a:t>
            </a:r>
            <a:endParaRPr b="0" lang="ru-RU" sz="980" strike="noStrike" u="none">
              <a:solidFill>
                <a:srgbClr val="ffffff"/>
              </a:solidFill>
              <a:effectLst/>
              <a:uFillTx/>
              <a:latin typeface="Arial"/>
            </a:endParaRPr>
          </a:p>
        </p:txBody>
      </p:sp>
      <p:sp>
        <p:nvSpPr>
          <p:cNvPr id="383" name="Shape 9"/>
          <p:cNvSpPr/>
          <p:nvPr/>
        </p:nvSpPr>
        <p:spPr>
          <a:xfrm>
            <a:off x="3017520" y="3090600"/>
            <a:ext cx="360" cy="146160"/>
          </a:xfrm>
          <a:prstGeom prst="line">
            <a:avLst/>
          </a:prstGeom>
          <a:ln w="16510">
            <a:solidFill>
              <a:srgbClr val="a9b6c8"/>
            </a:solidFill>
            <a:round/>
            <a:tailEnd len="med" type="triangle" w="med"/>
          </a:ln>
        </p:spPr>
        <p:style>
          <a:lnRef idx="0"/>
          <a:fillRef idx="0"/>
          <a:effectRef idx="0"/>
          <a:fontRef idx="minor"/>
        </p:style>
        <p:txBody>
          <a:bodyPr lIns="90000" rIns="90000" tIns="45000" bIns="45000" anchor="t" anchorCtr="1">
            <a:noAutofit/>
          </a:bodyPr>
          <a:p>
            <a:endParaRPr b="0" lang="ru-RU" sz="1800" strike="noStrike" u="none">
              <a:solidFill>
                <a:srgbClr val="ffffff"/>
              </a:solidFill>
              <a:effectLst/>
              <a:uFillTx/>
              <a:latin typeface="Arial"/>
            </a:endParaRPr>
          </a:p>
        </p:txBody>
      </p:sp>
      <p:sp>
        <p:nvSpPr>
          <p:cNvPr id="384" name="Shape 10"/>
          <p:cNvSpPr/>
          <p:nvPr/>
        </p:nvSpPr>
        <p:spPr>
          <a:xfrm>
            <a:off x="877680" y="3255120"/>
            <a:ext cx="4388760" cy="475200"/>
          </a:xfrm>
          <a:prstGeom prst="roundRect">
            <a:avLst>
              <a:gd name="adj" fmla="val 30769"/>
            </a:avLst>
          </a:prstGeom>
          <a:solidFill>
            <a:srgbClr val="162337"/>
          </a:solidFill>
          <a:ln w="12700">
            <a:solidFill>
              <a:srgbClr val="ff6b35"/>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85" name="Text 11"/>
          <p:cNvSpPr/>
          <p:nvPr/>
        </p:nvSpPr>
        <p:spPr>
          <a:xfrm>
            <a:off x="1078920" y="3346560"/>
            <a:ext cx="13255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ff6b35"/>
                </a:solidFill>
                <a:effectLst/>
                <a:uFillTx/>
                <a:latin typeface="Aptos"/>
                <a:ea typeface="Aptos"/>
              </a:rPr>
              <a:t>Domain Key</a:t>
            </a:r>
            <a:endParaRPr b="0" lang="ru-RU" sz="1100" strike="noStrike" u="none">
              <a:solidFill>
                <a:srgbClr val="ffffff"/>
              </a:solidFill>
              <a:effectLst/>
              <a:uFillTx/>
              <a:latin typeface="Arial"/>
            </a:endParaRPr>
          </a:p>
        </p:txBody>
      </p:sp>
      <p:sp>
        <p:nvSpPr>
          <p:cNvPr id="386" name="Text 12"/>
          <p:cNvSpPr/>
          <p:nvPr/>
        </p:nvSpPr>
        <p:spPr>
          <a:xfrm>
            <a:off x="2487240" y="3346560"/>
            <a:ext cx="23954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Memory + fabric protection</a:t>
            </a:r>
            <a:endParaRPr b="0" lang="ru-RU" sz="980" strike="noStrike" u="none">
              <a:solidFill>
                <a:srgbClr val="ffffff"/>
              </a:solidFill>
              <a:effectLst/>
              <a:uFillTx/>
              <a:latin typeface="Arial"/>
            </a:endParaRPr>
          </a:p>
        </p:txBody>
      </p:sp>
      <p:sp>
        <p:nvSpPr>
          <p:cNvPr id="387" name="Shape 13"/>
          <p:cNvSpPr/>
          <p:nvPr/>
        </p:nvSpPr>
        <p:spPr>
          <a:xfrm>
            <a:off x="3017520" y="3730680"/>
            <a:ext cx="360" cy="146160"/>
          </a:xfrm>
          <a:prstGeom prst="line">
            <a:avLst/>
          </a:prstGeom>
          <a:ln w="16510">
            <a:solidFill>
              <a:srgbClr val="a9b6c8"/>
            </a:solidFill>
            <a:round/>
            <a:tailEnd len="med" type="triangle" w="med"/>
          </a:ln>
        </p:spPr>
        <p:style>
          <a:lnRef idx="0"/>
          <a:fillRef idx="0"/>
          <a:effectRef idx="0"/>
          <a:fontRef idx="minor"/>
        </p:style>
        <p:txBody>
          <a:bodyPr lIns="90000" rIns="90000" tIns="45000" bIns="45000" anchor="t" anchorCtr="1">
            <a:noAutofit/>
          </a:bodyPr>
          <a:p>
            <a:endParaRPr b="0" lang="ru-RU" sz="1800" strike="noStrike" u="none">
              <a:solidFill>
                <a:srgbClr val="ffffff"/>
              </a:solidFill>
              <a:effectLst/>
              <a:uFillTx/>
              <a:latin typeface="Arial"/>
            </a:endParaRPr>
          </a:p>
        </p:txBody>
      </p:sp>
      <p:sp>
        <p:nvSpPr>
          <p:cNvPr id="388" name="Shape 14"/>
          <p:cNvSpPr/>
          <p:nvPr/>
        </p:nvSpPr>
        <p:spPr>
          <a:xfrm>
            <a:off x="877680" y="3895200"/>
            <a:ext cx="4388760" cy="475200"/>
          </a:xfrm>
          <a:prstGeom prst="roundRect">
            <a:avLst>
              <a:gd name="adj" fmla="val 30769"/>
            </a:avLst>
          </a:prstGeom>
          <a:solidFill>
            <a:srgbClr val="162337"/>
          </a:solidFill>
          <a:ln w="12700">
            <a:solidFill>
              <a:srgbClr val="5fe1a0"/>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89" name="Text 15"/>
          <p:cNvSpPr/>
          <p:nvPr/>
        </p:nvSpPr>
        <p:spPr>
          <a:xfrm>
            <a:off x="1078920" y="3986640"/>
            <a:ext cx="13255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5fe1a0"/>
                </a:solidFill>
                <a:effectLst/>
                <a:uFillTx/>
                <a:latin typeface="Aptos"/>
                <a:ea typeface="Aptos"/>
              </a:rPr>
              <a:t>Workload DEK</a:t>
            </a:r>
            <a:endParaRPr b="0" lang="ru-RU" sz="1100" strike="noStrike" u="none">
              <a:solidFill>
                <a:srgbClr val="ffffff"/>
              </a:solidFill>
              <a:effectLst/>
              <a:uFillTx/>
              <a:latin typeface="Arial"/>
            </a:endParaRPr>
          </a:p>
        </p:txBody>
      </p:sp>
      <p:sp>
        <p:nvSpPr>
          <p:cNvPr id="390" name="Text 16"/>
          <p:cNvSpPr/>
          <p:nvPr/>
        </p:nvSpPr>
        <p:spPr>
          <a:xfrm>
            <a:off x="2487240" y="3986640"/>
            <a:ext cx="23954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Model / data encryption</a:t>
            </a:r>
            <a:endParaRPr b="0" lang="ru-RU" sz="980" strike="noStrike" u="none">
              <a:solidFill>
                <a:srgbClr val="ffffff"/>
              </a:solidFill>
              <a:effectLst/>
              <a:uFillTx/>
              <a:latin typeface="Arial"/>
            </a:endParaRPr>
          </a:p>
        </p:txBody>
      </p:sp>
      <p:sp>
        <p:nvSpPr>
          <p:cNvPr id="391" name="Shape 17"/>
          <p:cNvSpPr/>
          <p:nvPr/>
        </p:nvSpPr>
        <p:spPr>
          <a:xfrm>
            <a:off x="3017520" y="4370760"/>
            <a:ext cx="360" cy="146160"/>
          </a:xfrm>
          <a:prstGeom prst="line">
            <a:avLst/>
          </a:prstGeom>
          <a:ln w="16510">
            <a:solidFill>
              <a:srgbClr val="a9b6c8"/>
            </a:solidFill>
            <a:round/>
            <a:tailEnd len="med" type="triangle" w="med"/>
          </a:ln>
        </p:spPr>
        <p:style>
          <a:lnRef idx="0"/>
          <a:fillRef idx="0"/>
          <a:effectRef idx="0"/>
          <a:fontRef idx="minor"/>
        </p:style>
        <p:txBody>
          <a:bodyPr lIns="90000" rIns="90000" tIns="45000" bIns="45000" anchor="t" anchorCtr="1">
            <a:noAutofit/>
          </a:bodyPr>
          <a:p>
            <a:endParaRPr b="0" lang="ru-RU" sz="1800" strike="noStrike" u="none">
              <a:solidFill>
                <a:srgbClr val="ffffff"/>
              </a:solidFill>
              <a:effectLst/>
              <a:uFillTx/>
              <a:latin typeface="Arial"/>
            </a:endParaRPr>
          </a:p>
        </p:txBody>
      </p:sp>
      <p:sp>
        <p:nvSpPr>
          <p:cNvPr id="392" name="Shape 18"/>
          <p:cNvSpPr/>
          <p:nvPr/>
        </p:nvSpPr>
        <p:spPr>
          <a:xfrm>
            <a:off x="877680" y="4535280"/>
            <a:ext cx="4388760" cy="475200"/>
          </a:xfrm>
          <a:prstGeom prst="roundRect">
            <a:avLst>
              <a:gd name="adj" fmla="val 30769"/>
            </a:avLst>
          </a:prstGeom>
          <a:solidFill>
            <a:srgbClr val="162337"/>
          </a:solidFill>
          <a:ln w="12700">
            <a:solidFill>
              <a:srgbClr val="ffd166"/>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93" name="Text 19"/>
          <p:cNvSpPr/>
          <p:nvPr/>
        </p:nvSpPr>
        <p:spPr>
          <a:xfrm>
            <a:off x="1078920" y="4626720"/>
            <a:ext cx="13255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ffd166"/>
                </a:solidFill>
                <a:effectLst/>
                <a:uFillTx/>
                <a:latin typeface="Aptos"/>
                <a:ea typeface="Aptos"/>
              </a:rPr>
              <a:t>Operation Key</a:t>
            </a:r>
            <a:endParaRPr b="0" lang="ru-RU" sz="1100" strike="noStrike" u="none">
              <a:solidFill>
                <a:srgbClr val="ffffff"/>
              </a:solidFill>
              <a:effectLst/>
              <a:uFillTx/>
              <a:latin typeface="Arial"/>
            </a:endParaRPr>
          </a:p>
        </p:txBody>
      </p:sp>
      <p:sp>
        <p:nvSpPr>
          <p:cNvPr id="394" name="Text 20"/>
          <p:cNvSpPr/>
          <p:nvPr/>
        </p:nvSpPr>
        <p:spPr>
          <a:xfrm>
            <a:off x="2487240" y="4626720"/>
            <a:ext cx="23954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Signing / decryption / derivation</a:t>
            </a:r>
            <a:endParaRPr b="0" lang="ru-RU" sz="980" strike="noStrike" u="none">
              <a:solidFill>
                <a:srgbClr val="ffffff"/>
              </a:solidFill>
              <a:effectLst/>
              <a:uFillTx/>
              <a:latin typeface="Arial"/>
            </a:endParaRPr>
          </a:p>
        </p:txBody>
      </p:sp>
      <p:sp>
        <p:nvSpPr>
          <p:cNvPr id="395" name="Shape 21"/>
          <p:cNvSpPr/>
          <p:nvPr/>
        </p:nvSpPr>
        <p:spPr>
          <a:xfrm>
            <a:off x="5824800" y="1847160"/>
            <a:ext cx="5760360" cy="3977280"/>
          </a:xfrm>
          <a:prstGeom prst="roundRect">
            <a:avLst>
              <a:gd name="adj" fmla="val 3678"/>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396" name="Text 22"/>
          <p:cNvSpPr/>
          <p:nvPr/>
        </p:nvSpPr>
        <p:spPr>
          <a:xfrm>
            <a:off x="6099120" y="2103120"/>
            <a:ext cx="34743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6" strike="noStrike" u="none">
                <a:solidFill>
                  <a:srgbClr val="ff6b35"/>
                </a:solidFill>
                <a:effectLst/>
                <a:uFillTx/>
                <a:latin typeface="Aptos"/>
                <a:ea typeface="Aptos"/>
              </a:rPr>
              <a:t>CRYPTO SERVICE: NON-EXPORTABLE HANDLES</a:t>
            </a:r>
            <a:endParaRPr b="0" lang="ru-RU" sz="900" strike="noStrike" u="none">
              <a:solidFill>
                <a:srgbClr val="ffffff"/>
              </a:solidFill>
              <a:effectLst/>
              <a:uFillTx/>
              <a:latin typeface="Arial"/>
            </a:endParaRPr>
          </a:p>
        </p:txBody>
      </p:sp>
      <p:sp>
        <p:nvSpPr>
          <p:cNvPr id="397" name="Shape 23"/>
          <p:cNvSpPr/>
          <p:nvPr/>
        </p:nvSpPr>
        <p:spPr>
          <a:xfrm>
            <a:off x="6108120" y="2624400"/>
            <a:ext cx="383760" cy="383760"/>
          </a:xfrm>
          <a:prstGeom prst="ellipse">
            <a:avLst/>
          </a:prstGeom>
          <a:solidFill>
            <a:srgbClr val="3bd6e8">
              <a:alpha val="18000"/>
            </a:srgbClr>
          </a:solidFill>
          <a:ln w="15240">
            <a:solidFill>
              <a:srgbClr val="3bd6e8"/>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398" name="Text 24"/>
          <p:cNvSpPr/>
          <p:nvPr/>
        </p:nvSpPr>
        <p:spPr>
          <a:xfrm>
            <a:off x="6108120" y="263340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3bd6e8"/>
                </a:solidFill>
                <a:effectLst/>
                <a:uFillTx/>
                <a:latin typeface="Aptos"/>
                <a:ea typeface="Aptos"/>
              </a:rPr>
              <a:t>1</a:t>
            </a:r>
            <a:endParaRPr b="0" lang="ru-RU" sz="1500" strike="noStrike" u="none">
              <a:solidFill>
                <a:srgbClr val="ffffff"/>
              </a:solidFill>
              <a:effectLst/>
              <a:uFillTx/>
              <a:latin typeface="Arial"/>
            </a:endParaRPr>
          </a:p>
        </p:txBody>
      </p:sp>
      <p:sp>
        <p:nvSpPr>
          <p:cNvPr id="399" name="Text 25"/>
          <p:cNvSpPr/>
          <p:nvPr/>
        </p:nvSpPr>
        <p:spPr>
          <a:xfrm>
            <a:off x="6611040" y="2606040"/>
            <a:ext cx="10054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f5f7fa"/>
                </a:solidFill>
                <a:effectLst/>
                <a:uFillTx/>
                <a:latin typeface="Aptos"/>
                <a:ea typeface="Aptos"/>
              </a:rPr>
              <a:t>Symmetric</a:t>
            </a:r>
            <a:endParaRPr b="0" lang="ru-RU" sz="1100" strike="noStrike" u="none">
              <a:solidFill>
                <a:srgbClr val="ffffff"/>
              </a:solidFill>
              <a:effectLst/>
              <a:uFillTx/>
              <a:latin typeface="Arial"/>
            </a:endParaRPr>
          </a:p>
        </p:txBody>
      </p:sp>
      <p:sp>
        <p:nvSpPr>
          <p:cNvPr id="400" name="Text 26"/>
          <p:cNvSpPr/>
          <p:nvPr/>
        </p:nvSpPr>
        <p:spPr>
          <a:xfrm>
            <a:off x="7635240" y="2606040"/>
            <a:ext cx="33372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d8e2ef"/>
                </a:solidFill>
                <a:effectLst/>
                <a:uFillTx/>
                <a:latin typeface="Aptos"/>
                <a:ea typeface="Aptos"/>
              </a:rPr>
              <a:t>AES-GCM • ChaCha20-Poly1305</a:t>
            </a:r>
            <a:endParaRPr b="0" lang="ru-RU" sz="1020" strike="noStrike" u="none">
              <a:solidFill>
                <a:srgbClr val="ffffff"/>
              </a:solidFill>
              <a:effectLst/>
              <a:uFillTx/>
              <a:latin typeface="Arial"/>
            </a:endParaRPr>
          </a:p>
        </p:txBody>
      </p:sp>
      <p:sp>
        <p:nvSpPr>
          <p:cNvPr id="401" name="Text 27"/>
          <p:cNvSpPr/>
          <p:nvPr/>
        </p:nvSpPr>
        <p:spPr>
          <a:xfrm>
            <a:off x="6611040" y="2907720"/>
            <a:ext cx="4023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trike="noStrike" u="none">
                <a:solidFill>
                  <a:srgbClr val="a9b6c8"/>
                </a:solidFill>
                <a:effectLst/>
                <a:uFillTx/>
                <a:latin typeface="Aptos"/>
                <a:ea typeface="Aptos"/>
              </a:rPr>
              <a:t>decrypt() / encrypt()</a:t>
            </a:r>
            <a:endParaRPr b="0" lang="ru-RU" sz="950" strike="noStrike" u="none">
              <a:solidFill>
                <a:srgbClr val="ffffff"/>
              </a:solidFill>
              <a:effectLst/>
              <a:uFillTx/>
              <a:latin typeface="Arial"/>
            </a:endParaRPr>
          </a:p>
        </p:txBody>
      </p:sp>
      <p:sp>
        <p:nvSpPr>
          <p:cNvPr id="402" name="Shape 28"/>
          <p:cNvSpPr/>
          <p:nvPr/>
        </p:nvSpPr>
        <p:spPr>
          <a:xfrm>
            <a:off x="6108120" y="3429000"/>
            <a:ext cx="383760" cy="383760"/>
          </a:xfrm>
          <a:prstGeom prst="ellipse">
            <a:avLst/>
          </a:prstGeom>
          <a:solidFill>
            <a:srgbClr val="ff6b35">
              <a:alpha val="18000"/>
            </a:srgbClr>
          </a:solidFill>
          <a:ln w="15240">
            <a:solidFill>
              <a:srgbClr val="ff6b35"/>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03" name="Text 29"/>
          <p:cNvSpPr/>
          <p:nvPr/>
        </p:nvSpPr>
        <p:spPr>
          <a:xfrm>
            <a:off x="6108120" y="343800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6b35"/>
                </a:solidFill>
                <a:effectLst/>
                <a:uFillTx/>
                <a:latin typeface="Aptos"/>
                <a:ea typeface="Aptos"/>
              </a:rPr>
              <a:t>2</a:t>
            </a:r>
            <a:endParaRPr b="0" lang="ru-RU" sz="1500" strike="noStrike" u="none">
              <a:solidFill>
                <a:srgbClr val="ffffff"/>
              </a:solidFill>
              <a:effectLst/>
              <a:uFillTx/>
              <a:latin typeface="Arial"/>
            </a:endParaRPr>
          </a:p>
        </p:txBody>
      </p:sp>
      <p:sp>
        <p:nvSpPr>
          <p:cNvPr id="404" name="Text 30"/>
          <p:cNvSpPr/>
          <p:nvPr/>
        </p:nvSpPr>
        <p:spPr>
          <a:xfrm>
            <a:off x="6611040" y="3410640"/>
            <a:ext cx="10054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f5f7fa"/>
                </a:solidFill>
                <a:effectLst/>
                <a:uFillTx/>
                <a:latin typeface="Aptos"/>
                <a:ea typeface="Aptos"/>
              </a:rPr>
              <a:t>Asymmetric</a:t>
            </a:r>
            <a:endParaRPr b="0" lang="ru-RU" sz="1100" strike="noStrike" u="none">
              <a:solidFill>
                <a:srgbClr val="ffffff"/>
              </a:solidFill>
              <a:effectLst/>
              <a:uFillTx/>
              <a:latin typeface="Arial"/>
            </a:endParaRPr>
          </a:p>
        </p:txBody>
      </p:sp>
      <p:sp>
        <p:nvSpPr>
          <p:cNvPr id="405" name="Text 31"/>
          <p:cNvSpPr/>
          <p:nvPr/>
        </p:nvSpPr>
        <p:spPr>
          <a:xfrm>
            <a:off x="7635240" y="3410640"/>
            <a:ext cx="33372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d8e2ef"/>
                </a:solidFill>
                <a:effectLst/>
                <a:uFillTx/>
                <a:latin typeface="Aptos"/>
                <a:ea typeface="Aptos"/>
              </a:rPr>
              <a:t>Ed25519 • ECDSA • BLS • PQC</a:t>
            </a:r>
            <a:endParaRPr b="0" lang="ru-RU" sz="1020" strike="noStrike" u="none">
              <a:solidFill>
                <a:srgbClr val="ffffff"/>
              </a:solidFill>
              <a:effectLst/>
              <a:uFillTx/>
              <a:latin typeface="Arial"/>
            </a:endParaRPr>
          </a:p>
        </p:txBody>
      </p:sp>
      <p:sp>
        <p:nvSpPr>
          <p:cNvPr id="406" name="Text 32"/>
          <p:cNvSpPr/>
          <p:nvPr/>
        </p:nvSpPr>
        <p:spPr>
          <a:xfrm>
            <a:off x="6611040" y="3712320"/>
            <a:ext cx="4023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trike="noStrike" u="none">
                <a:solidFill>
                  <a:srgbClr val="a9b6c8"/>
                </a:solidFill>
                <a:effectLst/>
                <a:uFillTx/>
                <a:latin typeface="Aptos"/>
                <a:ea typeface="Aptos"/>
              </a:rPr>
              <a:t>sign() / derive()</a:t>
            </a:r>
            <a:endParaRPr b="0" lang="ru-RU" sz="950" strike="noStrike" u="none">
              <a:solidFill>
                <a:srgbClr val="ffffff"/>
              </a:solidFill>
              <a:effectLst/>
              <a:uFillTx/>
              <a:latin typeface="Arial"/>
            </a:endParaRPr>
          </a:p>
        </p:txBody>
      </p:sp>
      <p:sp>
        <p:nvSpPr>
          <p:cNvPr id="407" name="Shape 33"/>
          <p:cNvSpPr/>
          <p:nvPr/>
        </p:nvSpPr>
        <p:spPr>
          <a:xfrm>
            <a:off x="6108120" y="4233600"/>
            <a:ext cx="383760" cy="38376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08" name="Text 34"/>
          <p:cNvSpPr/>
          <p:nvPr/>
        </p:nvSpPr>
        <p:spPr>
          <a:xfrm>
            <a:off x="6108120" y="424296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3</a:t>
            </a:r>
            <a:endParaRPr b="0" lang="ru-RU" sz="1500" strike="noStrike" u="none">
              <a:solidFill>
                <a:srgbClr val="ffffff"/>
              </a:solidFill>
              <a:effectLst/>
              <a:uFillTx/>
              <a:latin typeface="Arial"/>
            </a:endParaRPr>
          </a:p>
        </p:txBody>
      </p:sp>
      <p:sp>
        <p:nvSpPr>
          <p:cNvPr id="409" name="Text 35"/>
          <p:cNvSpPr/>
          <p:nvPr/>
        </p:nvSpPr>
        <p:spPr>
          <a:xfrm>
            <a:off x="6611040" y="4215240"/>
            <a:ext cx="10054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f5f7fa"/>
                </a:solidFill>
                <a:effectLst/>
                <a:uFillTx/>
                <a:latin typeface="Aptos"/>
                <a:ea typeface="Aptos"/>
              </a:rPr>
              <a:t>Threshold</a:t>
            </a:r>
            <a:endParaRPr b="0" lang="ru-RU" sz="1100" strike="noStrike" u="none">
              <a:solidFill>
                <a:srgbClr val="ffffff"/>
              </a:solidFill>
              <a:effectLst/>
              <a:uFillTx/>
              <a:latin typeface="Arial"/>
            </a:endParaRPr>
          </a:p>
        </p:txBody>
      </p:sp>
      <p:sp>
        <p:nvSpPr>
          <p:cNvPr id="410" name="Text 36"/>
          <p:cNvSpPr/>
          <p:nvPr/>
        </p:nvSpPr>
        <p:spPr>
          <a:xfrm>
            <a:off x="7635240" y="4215240"/>
            <a:ext cx="33372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d8e2ef"/>
                </a:solidFill>
                <a:effectLst/>
                <a:uFillTx/>
                <a:latin typeface="Aptos"/>
                <a:ea typeface="Aptos"/>
              </a:rPr>
              <a:t>2-of-3 / 3-of-5 shares</a:t>
            </a:r>
            <a:endParaRPr b="0" lang="ru-RU" sz="1020" strike="noStrike" u="none">
              <a:solidFill>
                <a:srgbClr val="ffffff"/>
              </a:solidFill>
              <a:effectLst/>
              <a:uFillTx/>
              <a:latin typeface="Arial"/>
            </a:endParaRPr>
          </a:p>
        </p:txBody>
      </p:sp>
      <p:sp>
        <p:nvSpPr>
          <p:cNvPr id="411" name="Text 37"/>
          <p:cNvSpPr/>
          <p:nvPr/>
        </p:nvSpPr>
        <p:spPr>
          <a:xfrm>
            <a:off x="6611040" y="4517280"/>
            <a:ext cx="4023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trike="noStrike" u="none">
                <a:solidFill>
                  <a:srgbClr val="5fe1a0"/>
                </a:solidFill>
                <a:effectLst/>
                <a:uFillTx/>
                <a:latin typeface="Aptos"/>
                <a:ea typeface="Aptos"/>
              </a:rPr>
              <a:t>partial_sign() / aggregate()</a:t>
            </a:r>
            <a:endParaRPr b="0" lang="ru-RU" sz="950" strike="noStrike" u="none">
              <a:solidFill>
                <a:srgbClr val="ffffff"/>
              </a:solidFill>
              <a:effectLst/>
              <a:uFillTx/>
              <a:latin typeface="Arial"/>
            </a:endParaRPr>
          </a:p>
        </p:txBody>
      </p:sp>
      <p:sp>
        <p:nvSpPr>
          <p:cNvPr id="412" name="Shape 38"/>
          <p:cNvSpPr/>
          <p:nvPr/>
        </p:nvSpPr>
        <p:spPr>
          <a:xfrm>
            <a:off x="6108120" y="5166360"/>
            <a:ext cx="1371240" cy="273960"/>
          </a:xfrm>
          <a:prstGeom prst="roundRect">
            <a:avLst>
              <a:gd name="adj" fmla="val 50000"/>
            </a:avLst>
          </a:prstGeom>
          <a:solidFill>
            <a:srgbClr val="2c2029"/>
          </a:solidFill>
          <a:ln w="12700">
            <a:solidFill>
              <a:srgbClr val="ff6b6b">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13" name="Text 39"/>
          <p:cNvSpPr/>
          <p:nvPr/>
        </p:nvSpPr>
        <p:spPr>
          <a:xfrm>
            <a:off x="6181200" y="5184720"/>
            <a:ext cx="12250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6b6b"/>
                </a:solidFill>
                <a:effectLst/>
                <a:uFillTx/>
                <a:latin typeface="Aptos"/>
                <a:ea typeface="Aptos"/>
              </a:rPr>
              <a:t>NO KEY EXPORT</a:t>
            </a:r>
            <a:endParaRPr b="0" lang="ru-RU" sz="850" strike="noStrike" u="none">
              <a:solidFill>
                <a:srgbClr val="ffffff"/>
              </a:solidFill>
              <a:effectLst/>
              <a:uFillTx/>
              <a:latin typeface="Arial"/>
            </a:endParaRPr>
          </a:p>
        </p:txBody>
      </p:sp>
      <p:sp>
        <p:nvSpPr>
          <p:cNvPr id="414" name="Text 40"/>
          <p:cNvSpPr/>
          <p:nvPr/>
        </p:nvSpPr>
        <p:spPr>
          <a:xfrm>
            <a:off x="7626240" y="5166360"/>
            <a:ext cx="3337200" cy="31068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050" strike="noStrike" u="none">
                <a:solidFill>
                  <a:srgbClr val="f5f7fa"/>
                </a:solidFill>
                <a:effectLst/>
                <a:uFillTx/>
                <a:latin typeface="Aptos"/>
                <a:ea typeface="Aptos"/>
              </a:rPr>
              <a:t>Plaintext key lifetime = minimum needed for the cryptographic operation.</a:t>
            </a:r>
            <a:endParaRPr b="0" lang="ru-RU" sz="1050" strike="noStrike" u="none">
              <a:solidFill>
                <a:srgbClr val="ffffff"/>
              </a:solidFill>
              <a:effectLst/>
              <a:uFillTx/>
              <a:latin typeface="Arial"/>
            </a:endParaRPr>
          </a:p>
        </p:txBody>
      </p:sp>
      <p:sp>
        <p:nvSpPr>
          <p:cNvPr id="415" name="Text 41"/>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Design principle: KMS/HSM retains long-term authority; C-CCA is the last-resort execution location for plaintext key material.</a:t>
            </a:r>
            <a:endParaRPr b="0" lang="ru-RU" sz="660" strike="noStrike" u="none">
              <a:solidFill>
                <a:srgbClr val="ffffff"/>
              </a:solidFill>
              <a:effectLst/>
              <a:uFillTx/>
              <a:latin typeface="Arial"/>
            </a:endParaRPr>
          </a:p>
        </p:txBody>
      </p:sp>
      <p:sp>
        <p:nvSpPr>
          <p:cNvPr id="416" name="PlaceHolder 1"/>
          <p:cNvSpPr>
            <a:spLocks noGrp="1"/>
          </p:cNvSpPr>
          <p:nvPr>
            <p:ph type="sldNum" idx="13"/>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BF761F31-9901-47C1-BE96-9F63830B3B5F}"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9 • ATTESTATION &amp; KEY RELEASE</a:t>
            </a:r>
            <a:endParaRPr b="0" lang="ru-RU" sz="1000" strike="noStrike" u="none">
              <a:solidFill>
                <a:srgbClr val="ffffff"/>
              </a:solidFill>
              <a:effectLst/>
              <a:uFillTx/>
              <a:latin typeface="Arial"/>
            </a:endParaRPr>
          </a:p>
        </p:txBody>
      </p:sp>
      <p:sp>
        <p:nvSpPr>
          <p:cNvPr id="418"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f5f7fa"/>
                </a:solidFill>
                <a:effectLst/>
                <a:uFillTx/>
                <a:latin typeface="Aptos"/>
                <a:ea typeface="Aptos"/>
              </a:rPr>
              <a:t>Turn hardware trust into an enforceable policy decision.</a:t>
            </a:r>
            <a:endParaRPr b="0" lang="ru-RU" sz="2900" strike="noStrike" u="none">
              <a:solidFill>
                <a:srgbClr val="ffffff"/>
              </a:solidFill>
              <a:effectLst/>
              <a:uFillTx/>
              <a:latin typeface="Arial"/>
            </a:endParaRPr>
          </a:p>
        </p:txBody>
      </p:sp>
      <p:sp>
        <p:nvSpPr>
          <p:cNvPr id="419"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The KMS should release secrets only after validating a composite evidence bundle.</a:t>
            </a:r>
            <a:endParaRPr b="0" lang="ru-RU" sz="1250" strike="noStrike" u="none">
              <a:solidFill>
                <a:srgbClr val="ffffff"/>
              </a:solidFill>
              <a:effectLst/>
              <a:uFillTx/>
              <a:latin typeface="Arial"/>
            </a:endParaRPr>
          </a:p>
        </p:txBody>
      </p:sp>
      <p:sp>
        <p:nvSpPr>
          <p:cNvPr id="420"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10</a:t>
            </a:r>
            <a:endParaRPr b="0" lang="ru-RU" sz="1000" strike="noStrike" u="none">
              <a:solidFill>
                <a:srgbClr val="ffffff"/>
              </a:solidFill>
              <a:effectLst/>
              <a:uFillTx/>
              <a:latin typeface="Arial"/>
            </a:endParaRPr>
          </a:p>
        </p:txBody>
      </p:sp>
      <p:sp>
        <p:nvSpPr>
          <p:cNvPr id="421" name="Shape 4"/>
          <p:cNvSpPr/>
          <p:nvPr/>
        </p:nvSpPr>
        <p:spPr>
          <a:xfrm>
            <a:off x="594360" y="2148840"/>
            <a:ext cx="420120" cy="420120"/>
          </a:xfrm>
          <a:prstGeom prst="ellipse">
            <a:avLst/>
          </a:prstGeom>
          <a:solidFill>
            <a:srgbClr val="3bd6e8">
              <a:alpha val="18000"/>
            </a:srgbClr>
          </a:solidFill>
          <a:ln w="15240">
            <a:solidFill>
              <a:srgbClr val="3bd6e8"/>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22" name="Text 5"/>
          <p:cNvSpPr/>
          <p:nvPr/>
        </p:nvSpPr>
        <p:spPr>
          <a:xfrm>
            <a:off x="594360" y="2157840"/>
            <a:ext cx="42012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3bd6e8"/>
                </a:solidFill>
                <a:effectLst/>
                <a:uFillTx/>
                <a:latin typeface="Aptos"/>
                <a:ea typeface="Aptos"/>
              </a:rPr>
              <a:t>1</a:t>
            </a:r>
            <a:endParaRPr b="0" lang="ru-RU" sz="1500" strike="noStrike" u="none">
              <a:solidFill>
                <a:srgbClr val="ffffff"/>
              </a:solidFill>
              <a:effectLst/>
              <a:uFillTx/>
              <a:latin typeface="Arial"/>
            </a:endParaRPr>
          </a:p>
        </p:txBody>
      </p:sp>
      <p:sp>
        <p:nvSpPr>
          <p:cNvPr id="423" name="Text 6"/>
          <p:cNvSpPr/>
          <p:nvPr/>
        </p:nvSpPr>
        <p:spPr>
          <a:xfrm>
            <a:off x="521280" y="267012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5f7fa"/>
                </a:solidFill>
                <a:effectLst/>
                <a:uFillTx/>
                <a:latin typeface="Aptos"/>
                <a:ea typeface="Aptos"/>
              </a:rPr>
              <a:t>Boot</a:t>
            </a:r>
            <a:endParaRPr b="0" lang="ru-RU" sz="1100" strike="noStrike" u="none">
              <a:solidFill>
                <a:srgbClr val="ffffff"/>
              </a:solidFill>
              <a:effectLst/>
              <a:uFillTx/>
              <a:latin typeface="Arial"/>
            </a:endParaRPr>
          </a:p>
        </p:txBody>
      </p:sp>
      <p:sp>
        <p:nvSpPr>
          <p:cNvPr id="424" name="Text 7"/>
          <p:cNvSpPr/>
          <p:nvPr/>
        </p:nvSpPr>
        <p:spPr>
          <a:xfrm>
            <a:off x="411480" y="2990160"/>
            <a:ext cx="148104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9" strike="noStrike" u="none">
                <a:solidFill>
                  <a:srgbClr val="d8e2ef"/>
                </a:solidFill>
                <a:effectLst/>
                <a:uFillTx/>
                <a:latin typeface="Aptos"/>
                <a:ea typeface="Aptos"/>
              </a:rPr>
              <a:t>WSE + CVM measured boot</a:t>
            </a:r>
            <a:endParaRPr b="0" lang="ru-RU" sz="939" strike="noStrike" u="none">
              <a:solidFill>
                <a:srgbClr val="ffffff"/>
              </a:solidFill>
              <a:effectLst/>
              <a:uFillTx/>
              <a:latin typeface="Arial"/>
            </a:endParaRPr>
          </a:p>
        </p:txBody>
      </p:sp>
      <p:sp>
        <p:nvSpPr>
          <p:cNvPr id="425" name="Shape 8"/>
          <p:cNvSpPr/>
          <p:nvPr/>
        </p:nvSpPr>
        <p:spPr>
          <a:xfrm>
            <a:off x="1033200" y="2359080"/>
            <a:ext cx="978480" cy="360"/>
          </a:xfrm>
          <a:prstGeom prst="line">
            <a:avLst/>
          </a:prstGeom>
          <a:ln w="1905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426" name="Shape 9"/>
          <p:cNvSpPr/>
          <p:nvPr/>
        </p:nvSpPr>
        <p:spPr>
          <a:xfrm>
            <a:off x="2212920" y="2148840"/>
            <a:ext cx="420120" cy="420120"/>
          </a:xfrm>
          <a:prstGeom prst="ellipse">
            <a:avLst/>
          </a:prstGeom>
          <a:solidFill>
            <a:srgbClr val="3bd6e8">
              <a:alpha val="18000"/>
            </a:srgbClr>
          </a:solidFill>
          <a:ln w="15240">
            <a:solidFill>
              <a:srgbClr val="3bd6e8"/>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27" name="Text 10"/>
          <p:cNvSpPr/>
          <p:nvPr/>
        </p:nvSpPr>
        <p:spPr>
          <a:xfrm>
            <a:off x="2212920" y="2157840"/>
            <a:ext cx="42012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3bd6e8"/>
                </a:solidFill>
                <a:effectLst/>
                <a:uFillTx/>
                <a:latin typeface="Aptos"/>
                <a:ea typeface="Aptos"/>
              </a:rPr>
              <a:t>2</a:t>
            </a:r>
            <a:endParaRPr b="0" lang="ru-RU" sz="1500" strike="noStrike" u="none">
              <a:solidFill>
                <a:srgbClr val="ffffff"/>
              </a:solidFill>
              <a:effectLst/>
              <a:uFillTx/>
              <a:latin typeface="Arial"/>
            </a:endParaRPr>
          </a:p>
        </p:txBody>
      </p:sp>
      <p:sp>
        <p:nvSpPr>
          <p:cNvPr id="428" name="Text 11"/>
          <p:cNvSpPr/>
          <p:nvPr/>
        </p:nvSpPr>
        <p:spPr>
          <a:xfrm>
            <a:off x="2139840" y="267012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5f7fa"/>
                </a:solidFill>
                <a:effectLst/>
                <a:uFillTx/>
                <a:latin typeface="Aptos"/>
                <a:ea typeface="Aptos"/>
              </a:rPr>
              <a:t>Evidence</a:t>
            </a:r>
            <a:endParaRPr b="0" lang="ru-RU" sz="1100" strike="noStrike" u="none">
              <a:solidFill>
                <a:srgbClr val="ffffff"/>
              </a:solidFill>
              <a:effectLst/>
              <a:uFillTx/>
              <a:latin typeface="Arial"/>
            </a:endParaRPr>
          </a:p>
        </p:txBody>
      </p:sp>
      <p:sp>
        <p:nvSpPr>
          <p:cNvPr id="429" name="Text 12"/>
          <p:cNvSpPr/>
          <p:nvPr/>
        </p:nvSpPr>
        <p:spPr>
          <a:xfrm>
            <a:off x="2030040" y="2990160"/>
            <a:ext cx="148104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9" strike="noStrike" u="none">
                <a:solidFill>
                  <a:srgbClr val="d8e2ef"/>
                </a:solidFill>
                <a:effectLst/>
                <a:uFillTx/>
                <a:latin typeface="Aptos"/>
                <a:ea typeface="Aptos"/>
              </a:rPr>
              <a:t>Platform + WSE measurements</a:t>
            </a:r>
            <a:endParaRPr b="0" lang="ru-RU" sz="939" strike="noStrike" u="none">
              <a:solidFill>
                <a:srgbClr val="ffffff"/>
              </a:solidFill>
              <a:effectLst/>
              <a:uFillTx/>
              <a:latin typeface="Arial"/>
            </a:endParaRPr>
          </a:p>
        </p:txBody>
      </p:sp>
      <p:sp>
        <p:nvSpPr>
          <p:cNvPr id="430" name="Shape 13"/>
          <p:cNvSpPr/>
          <p:nvPr/>
        </p:nvSpPr>
        <p:spPr>
          <a:xfrm>
            <a:off x="2651760" y="2359080"/>
            <a:ext cx="978120" cy="360"/>
          </a:xfrm>
          <a:prstGeom prst="line">
            <a:avLst/>
          </a:prstGeom>
          <a:ln w="1905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431" name="Shape 14"/>
          <p:cNvSpPr/>
          <p:nvPr/>
        </p:nvSpPr>
        <p:spPr>
          <a:xfrm>
            <a:off x="3831480" y="2148840"/>
            <a:ext cx="420120" cy="42012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32" name="Text 15"/>
          <p:cNvSpPr/>
          <p:nvPr/>
        </p:nvSpPr>
        <p:spPr>
          <a:xfrm>
            <a:off x="3831480" y="2157840"/>
            <a:ext cx="42012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3</a:t>
            </a:r>
            <a:endParaRPr b="0" lang="ru-RU" sz="1500" strike="noStrike" u="none">
              <a:solidFill>
                <a:srgbClr val="ffffff"/>
              </a:solidFill>
              <a:effectLst/>
              <a:uFillTx/>
              <a:latin typeface="Arial"/>
            </a:endParaRPr>
          </a:p>
        </p:txBody>
      </p:sp>
      <p:sp>
        <p:nvSpPr>
          <p:cNvPr id="433" name="Text 16"/>
          <p:cNvSpPr/>
          <p:nvPr/>
        </p:nvSpPr>
        <p:spPr>
          <a:xfrm>
            <a:off x="3758040" y="267012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5f7fa"/>
                </a:solidFill>
                <a:effectLst/>
                <a:uFillTx/>
                <a:latin typeface="Aptos"/>
                <a:ea typeface="Aptos"/>
              </a:rPr>
              <a:t>Verify</a:t>
            </a:r>
            <a:endParaRPr b="0" lang="ru-RU" sz="1100" strike="noStrike" u="none">
              <a:solidFill>
                <a:srgbClr val="ffffff"/>
              </a:solidFill>
              <a:effectLst/>
              <a:uFillTx/>
              <a:latin typeface="Arial"/>
            </a:endParaRPr>
          </a:p>
        </p:txBody>
      </p:sp>
      <p:sp>
        <p:nvSpPr>
          <p:cNvPr id="434" name="Text 17"/>
          <p:cNvSpPr/>
          <p:nvPr/>
        </p:nvSpPr>
        <p:spPr>
          <a:xfrm>
            <a:off x="3648600" y="2990160"/>
            <a:ext cx="148104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9" strike="noStrike" u="none">
                <a:solidFill>
                  <a:srgbClr val="d8e2ef"/>
                </a:solidFill>
                <a:effectLst/>
                <a:uFillTx/>
                <a:latin typeface="Aptos"/>
                <a:ea typeface="Aptos"/>
              </a:rPr>
              <a:t>Signature / certificate / TCB</a:t>
            </a:r>
            <a:endParaRPr b="0" lang="ru-RU" sz="939" strike="noStrike" u="none">
              <a:solidFill>
                <a:srgbClr val="ffffff"/>
              </a:solidFill>
              <a:effectLst/>
              <a:uFillTx/>
              <a:latin typeface="Arial"/>
            </a:endParaRPr>
          </a:p>
        </p:txBody>
      </p:sp>
      <p:sp>
        <p:nvSpPr>
          <p:cNvPr id="435" name="Shape 18"/>
          <p:cNvSpPr/>
          <p:nvPr/>
        </p:nvSpPr>
        <p:spPr>
          <a:xfrm>
            <a:off x="4269960" y="2359080"/>
            <a:ext cx="978480" cy="360"/>
          </a:xfrm>
          <a:prstGeom prst="line">
            <a:avLst/>
          </a:prstGeom>
          <a:ln w="1905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436" name="Shape 19"/>
          <p:cNvSpPr/>
          <p:nvPr/>
        </p:nvSpPr>
        <p:spPr>
          <a:xfrm>
            <a:off x="5449680" y="2148840"/>
            <a:ext cx="420120" cy="420120"/>
          </a:xfrm>
          <a:prstGeom prst="ellipse">
            <a:avLst/>
          </a:prstGeom>
          <a:solidFill>
            <a:srgbClr val="ff6b35">
              <a:alpha val="18000"/>
            </a:srgbClr>
          </a:solidFill>
          <a:ln w="15240">
            <a:solidFill>
              <a:srgbClr val="ff6b35"/>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37" name="Text 20"/>
          <p:cNvSpPr/>
          <p:nvPr/>
        </p:nvSpPr>
        <p:spPr>
          <a:xfrm>
            <a:off x="5449680" y="2157840"/>
            <a:ext cx="42012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6b35"/>
                </a:solidFill>
                <a:effectLst/>
                <a:uFillTx/>
                <a:latin typeface="Aptos"/>
                <a:ea typeface="Aptos"/>
              </a:rPr>
              <a:t>4</a:t>
            </a:r>
            <a:endParaRPr b="0" lang="ru-RU" sz="1500" strike="noStrike" u="none">
              <a:solidFill>
                <a:srgbClr val="ffffff"/>
              </a:solidFill>
              <a:effectLst/>
              <a:uFillTx/>
              <a:latin typeface="Arial"/>
            </a:endParaRPr>
          </a:p>
        </p:txBody>
      </p:sp>
      <p:sp>
        <p:nvSpPr>
          <p:cNvPr id="438" name="Text 21"/>
          <p:cNvSpPr/>
          <p:nvPr/>
        </p:nvSpPr>
        <p:spPr>
          <a:xfrm>
            <a:off x="5376600" y="267012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5f7fa"/>
                </a:solidFill>
                <a:effectLst/>
                <a:uFillTx/>
                <a:latin typeface="Aptos"/>
                <a:ea typeface="Aptos"/>
              </a:rPr>
              <a:t>Policy</a:t>
            </a:r>
            <a:endParaRPr b="0" lang="ru-RU" sz="1100" strike="noStrike" u="none">
              <a:solidFill>
                <a:srgbClr val="ffffff"/>
              </a:solidFill>
              <a:effectLst/>
              <a:uFillTx/>
              <a:latin typeface="Arial"/>
            </a:endParaRPr>
          </a:p>
        </p:txBody>
      </p:sp>
      <p:sp>
        <p:nvSpPr>
          <p:cNvPr id="439" name="Text 22"/>
          <p:cNvSpPr/>
          <p:nvPr/>
        </p:nvSpPr>
        <p:spPr>
          <a:xfrm>
            <a:off x="5266800" y="2990160"/>
            <a:ext cx="148104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9" strike="noStrike" u="none">
                <a:solidFill>
                  <a:srgbClr val="d8e2ef"/>
                </a:solidFill>
                <a:effectLst/>
                <a:uFillTx/>
                <a:latin typeface="Aptos"/>
                <a:ea typeface="Aptos"/>
              </a:rPr>
              <a:t>Workload + model + security policy</a:t>
            </a:r>
            <a:endParaRPr b="0" lang="ru-RU" sz="939" strike="noStrike" u="none">
              <a:solidFill>
                <a:srgbClr val="ffffff"/>
              </a:solidFill>
              <a:effectLst/>
              <a:uFillTx/>
              <a:latin typeface="Arial"/>
            </a:endParaRPr>
          </a:p>
        </p:txBody>
      </p:sp>
      <p:sp>
        <p:nvSpPr>
          <p:cNvPr id="440" name="Shape 23"/>
          <p:cNvSpPr/>
          <p:nvPr/>
        </p:nvSpPr>
        <p:spPr>
          <a:xfrm>
            <a:off x="5888520" y="2359080"/>
            <a:ext cx="978480" cy="360"/>
          </a:xfrm>
          <a:prstGeom prst="line">
            <a:avLst/>
          </a:prstGeom>
          <a:ln w="1905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441" name="Shape 24"/>
          <p:cNvSpPr/>
          <p:nvPr/>
        </p:nvSpPr>
        <p:spPr>
          <a:xfrm>
            <a:off x="7068240" y="2148840"/>
            <a:ext cx="420120" cy="420120"/>
          </a:xfrm>
          <a:prstGeom prst="ellipse">
            <a:avLst/>
          </a:prstGeom>
          <a:solidFill>
            <a:srgbClr val="ffd166">
              <a:alpha val="18000"/>
            </a:srgbClr>
          </a:solidFill>
          <a:ln w="15240">
            <a:solidFill>
              <a:srgbClr val="ffd166"/>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42" name="Text 25"/>
          <p:cNvSpPr/>
          <p:nvPr/>
        </p:nvSpPr>
        <p:spPr>
          <a:xfrm>
            <a:off x="7068240" y="2157840"/>
            <a:ext cx="42012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d166"/>
                </a:solidFill>
                <a:effectLst/>
                <a:uFillTx/>
                <a:latin typeface="Aptos"/>
                <a:ea typeface="Aptos"/>
              </a:rPr>
              <a:t>5</a:t>
            </a:r>
            <a:endParaRPr b="0" lang="ru-RU" sz="1500" strike="noStrike" u="none">
              <a:solidFill>
                <a:srgbClr val="ffffff"/>
              </a:solidFill>
              <a:effectLst/>
              <a:uFillTx/>
              <a:latin typeface="Arial"/>
            </a:endParaRPr>
          </a:p>
        </p:txBody>
      </p:sp>
      <p:sp>
        <p:nvSpPr>
          <p:cNvPr id="443" name="Text 26"/>
          <p:cNvSpPr/>
          <p:nvPr/>
        </p:nvSpPr>
        <p:spPr>
          <a:xfrm>
            <a:off x="6995160" y="267012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5f7fa"/>
                </a:solidFill>
                <a:effectLst/>
                <a:uFillTx/>
                <a:latin typeface="Aptos"/>
                <a:ea typeface="Aptos"/>
              </a:rPr>
              <a:t>Release</a:t>
            </a:r>
            <a:endParaRPr b="0" lang="ru-RU" sz="1100" strike="noStrike" u="none">
              <a:solidFill>
                <a:srgbClr val="ffffff"/>
              </a:solidFill>
              <a:effectLst/>
              <a:uFillTx/>
              <a:latin typeface="Arial"/>
            </a:endParaRPr>
          </a:p>
        </p:txBody>
      </p:sp>
      <p:sp>
        <p:nvSpPr>
          <p:cNvPr id="444" name="Text 27"/>
          <p:cNvSpPr/>
          <p:nvPr/>
        </p:nvSpPr>
        <p:spPr>
          <a:xfrm>
            <a:off x="6885360" y="2990160"/>
            <a:ext cx="148104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9" strike="noStrike" u="none">
                <a:solidFill>
                  <a:srgbClr val="d8e2ef"/>
                </a:solidFill>
                <a:effectLst/>
                <a:uFillTx/>
                <a:latin typeface="Aptos"/>
                <a:ea typeface="Aptos"/>
              </a:rPr>
              <a:t>KMS unwrap / provision secret</a:t>
            </a:r>
            <a:endParaRPr b="0" lang="ru-RU" sz="939" strike="noStrike" u="none">
              <a:solidFill>
                <a:srgbClr val="ffffff"/>
              </a:solidFill>
              <a:effectLst/>
              <a:uFillTx/>
              <a:latin typeface="Arial"/>
            </a:endParaRPr>
          </a:p>
        </p:txBody>
      </p:sp>
      <p:sp>
        <p:nvSpPr>
          <p:cNvPr id="445" name="Shape 28"/>
          <p:cNvSpPr/>
          <p:nvPr/>
        </p:nvSpPr>
        <p:spPr>
          <a:xfrm>
            <a:off x="7507080" y="2359080"/>
            <a:ext cx="978480" cy="360"/>
          </a:xfrm>
          <a:prstGeom prst="line">
            <a:avLst/>
          </a:prstGeom>
          <a:ln w="1905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446" name="Shape 29"/>
          <p:cNvSpPr/>
          <p:nvPr/>
        </p:nvSpPr>
        <p:spPr>
          <a:xfrm>
            <a:off x="8686800" y="2148840"/>
            <a:ext cx="420120" cy="420120"/>
          </a:xfrm>
          <a:prstGeom prst="ellipse">
            <a:avLst/>
          </a:prstGeom>
          <a:solidFill>
            <a:srgbClr val="ff6b35">
              <a:alpha val="18000"/>
            </a:srgbClr>
          </a:solidFill>
          <a:ln w="15240">
            <a:solidFill>
              <a:srgbClr val="ff6b35"/>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47" name="Text 30"/>
          <p:cNvSpPr/>
          <p:nvPr/>
        </p:nvSpPr>
        <p:spPr>
          <a:xfrm>
            <a:off x="8686800" y="2157840"/>
            <a:ext cx="42012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6b35"/>
                </a:solidFill>
                <a:effectLst/>
                <a:uFillTx/>
                <a:latin typeface="Aptos"/>
                <a:ea typeface="Aptos"/>
              </a:rPr>
              <a:t>6</a:t>
            </a:r>
            <a:endParaRPr b="0" lang="ru-RU" sz="1500" strike="noStrike" u="none">
              <a:solidFill>
                <a:srgbClr val="ffffff"/>
              </a:solidFill>
              <a:effectLst/>
              <a:uFillTx/>
              <a:latin typeface="Arial"/>
            </a:endParaRPr>
          </a:p>
        </p:txBody>
      </p:sp>
      <p:sp>
        <p:nvSpPr>
          <p:cNvPr id="448" name="Text 31"/>
          <p:cNvSpPr/>
          <p:nvPr/>
        </p:nvSpPr>
        <p:spPr>
          <a:xfrm>
            <a:off x="8613720" y="267012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5f7fa"/>
                </a:solidFill>
                <a:effectLst/>
                <a:uFillTx/>
                <a:latin typeface="Aptos"/>
                <a:ea typeface="Aptos"/>
              </a:rPr>
              <a:t>Operate</a:t>
            </a:r>
            <a:endParaRPr b="0" lang="ru-RU" sz="1100" strike="noStrike" u="none">
              <a:solidFill>
                <a:srgbClr val="ffffff"/>
              </a:solidFill>
              <a:effectLst/>
              <a:uFillTx/>
              <a:latin typeface="Arial"/>
            </a:endParaRPr>
          </a:p>
        </p:txBody>
      </p:sp>
      <p:sp>
        <p:nvSpPr>
          <p:cNvPr id="449" name="Text 32"/>
          <p:cNvSpPr/>
          <p:nvPr/>
        </p:nvSpPr>
        <p:spPr>
          <a:xfrm>
            <a:off x="8503920" y="2990160"/>
            <a:ext cx="148104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9" strike="noStrike" u="none">
                <a:solidFill>
                  <a:srgbClr val="d8e2ef"/>
                </a:solidFill>
                <a:effectLst/>
                <a:uFillTx/>
                <a:latin typeface="Aptos"/>
                <a:ea typeface="Aptos"/>
              </a:rPr>
              <a:t>Crypto + inference inside TEE</a:t>
            </a:r>
            <a:endParaRPr b="0" lang="ru-RU" sz="939" strike="noStrike" u="none">
              <a:solidFill>
                <a:srgbClr val="ffffff"/>
              </a:solidFill>
              <a:effectLst/>
              <a:uFillTx/>
              <a:latin typeface="Arial"/>
            </a:endParaRPr>
          </a:p>
        </p:txBody>
      </p:sp>
      <p:sp>
        <p:nvSpPr>
          <p:cNvPr id="450" name="Shape 33"/>
          <p:cNvSpPr/>
          <p:nvPr/>
        </p:nvSpPr>
        <p:spPr>
          <a:xfrm>
            <a:off x="9125640" y="2359080"/>
            <a:ext cx="978480" cy="360"/>
          </a:xfrm>
          <a:prstGeom prst="line">
            <a:avLst/>
          </a:prstGeom>
          <a:ln w="1905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451" name="Shape 34"/>
          <p:cNvSpPr/>
          <p:nvPr/>
        </p:nvSpPr>
        <p:spPr>
          <a:xfrm>
            <a:off x="10305360" y="2148840"/>
            <a:ext cx="420120" cy="420120"/>
          </a:xfrm>
          <a:prstGeom prst="ellipse">
            <a:avLst/>
          </a:prstGeom>
          <a:solidFill>
            <a:srgbClr val="ff6b6b">
              <a:alpha val="18000"/>
            </a:srgbClr>
          </a:solidFill>
          <a:ln w="15240">
            <a:solidFill>
              <a:srgbClr val="ff6b6b"/>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52" name="Text 35"/>
          <p:cNvSpPr/>
          <p:nvPr/>
        </p:nvSpPr>
        <p:spPr>
          <a:xfrm>
            <a:off x="10305360" y="2157840"/>
            <a:ext cx="42012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6b6b"/>
                </a:solidFill>
                <a:effectLst/>
                <a:uFillTx/>
                <a:latin typeface="Aptos"/>
                <a:ea typeface="Aptos"/>
              </a:rPr>
              <a:t>7</a:t>
            </a:r>
            <a:endParaRPr b="0" lang="ru-RU" sz="1500" strike="noStrike" u="none">
              <a:solidFill>
                <a:srgbClr val="ffffff"/>
              </a:solidFill>
              <a:effectLst/>
              <a:uFillTx/>
              <a:latin typeface="Arial"/>
            </a:endParaRPr>
          </a:p>
        </p:txBody>
      </p:sp>
      <p:sp>
        <p:nvSpPr>
          <p:cNvPr id="453" name="Text 36"/>
          <p:cNvSpPr/>
          <p:nvPr/>
        </p:nvSpPr>
        <p:spPr>
          <a:xfrm>
            <a:off x="10232280" y="267012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f5f7fa"/>
                </a:solidFill>
                <a:effectLst/>
                <a:uFillTx/>
                <a:latin typeface="Aptos"/>
                <a:ea typeface="Aptos"/>
              </a:rPr>
              <a:t>Destroy</a:t>
            </a:r>
            <a:endParaRPr b="0" lang="ru-RU" sz="1100" strike="noStrike" u="none">
              <a:solidFill>
                <a:srgbClr val="ffffff"/>
              </a:solidFill>
              <a:effectLst/>
              <a:uFillTx/>
              <a:latin typeface="Arial"/>
            </a:endParaRPr>
          </a:p>
        </p:txBody>
      </p:sp>
      <p:sp>
        <p:nvSpPr>
          <p:cNvPr id="454" name="Text 37"/>
          <p:cNvSpPr/>
          <p:nvPr/>
        </p:nvSpPr>
        <p:spPr>
          <a:xfrm>
            <a:off x="10122480" y="2990160"/>
            <a:ext cx="148104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9" strike="noStrike" u="none">
                <a:solidFill>
                  <a:srgbClr val="d8e2ef"/>
                </a:solidFill>
                <a:effectLst/>
                <a:uFillTx/>
                <a:latin typeface="Aptos"/>
                <a:ea typeface="Aptos"/>
              </a:rPr>
              <a:t>Zeroize + destroy domain keys</a:t>
            </a:r>
            <a:endParaRPr b="0" lang="ru-RU" sz="939" strike="noStrike" u="none">
              <a:solidFill>
                <a:srgbClr val="ffffff"/>
              </a:solidFill>
              <a:effectLst/>
              <a:uFillTx/>
              <a:latin typeface="Arial"/>
            </a:endParaRPr>
          </a:p>
        </p:txBody>
      </p:sp>
      <p:sp>
        <p:nvSpPr>
          <p:cNvPr id="455" name="Shape 38"/>
          <p:cNvSpPr/>
          <p:nvPr/>
        </p:nvSpPr>
        <p:spPr>
          <a:xfrm>
            <a:off x="960120" y="4160520"/>
            <a:ext cx="4708800" cy="1096920"/>
          </a:xfrm>
          <a:prstGeom prst="roundRect">
            <a:avLst>
              <a:gd name="adj" fmla="val 13333"/>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56" name="Text 39"/>
          <p:cNvSpPr/>
          <p:nvPr/>
        </p:nvSpPr>
        <p:spPr>
          <a:xfrm>
            <a:off x="1207080" y="4416480"/>
            <a:ext cx="1599840" cy="2192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900" spc="119" strike="noStrike" u="none">
                <a:solidFill>
                  <a:srgbClr val="ff6b35"/>
                </a:solidFill>
                <a:effectLst/>
                <a:uFillTx/>
                <a:latin typeface="Aptos"/>
                <a:ea typeface="Aptos"/>
              </a:rPr>
              <a:t>COMPOSITE MEASUREMENT</a:t>
            </a:r>
            <a:endParaRPr b="0" lang="ru-RU" sz="900" strike="noStrike" u="none">
              <a:solidFill>
                <a:srgbClr val="ffffff"/>
              </a:solidFill>
              <a:effectLst/>
              <a:uFillTx/>
              <a:latin typeface="Arial"/>
            </a:endParaRPr>
          </a:p>
        </p:txBody>
      </p:sp>
      <p:sp>
        <p:nvSpPr>
          <p:cNvPr id="457" name="Text 40"/>
          <p:cNvSpPr/>
          <p:nvPr/>
        </p:nvSpPr>
        <p:spPr>
          <a:xfrm>
            <a:off x="1207080" y="4800600"/>
            <a:ext cx="4132800" cy="27396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1300" strike="noStrike" u="none">
                <a:solidFill>
                  <a:srgbClr val="f5f7fa"/>
                </a:solidFill>
                <a:effectLst/>
                <a:uFillTx/>
                <a:latin typeface="Aptos"/>
                <a:ea typeface="Aptos"/>
              </a:rPr>
              <a:t>H( CPU TEE ‖ WSE ‖ firmware ‖ runtime ‖ model ‖ policy )</a:t>
            </a:r>
            <a:endParaRPr b="0" lang="ru-RU" sz="1300" strike="noStrike" u="none">
              <a:solidFill>
                <a:srgbClr val="ffffff"/>
              </a:solidFill>
              <a:effectLst/>
              <a:uFillTx/>
              <a:latin typeface="Arial"/>
            </a:endParaRPr>
          </a:p>
        </p:txBody>
      </p:sp>
      <p:sp>
        <p:nvSpPr>
          <p:cNvPr id="458" name="Shape 41"/>
          <p:cNvSpPr/>
          <p:nvPr/>
        </p:nvSpPr>
        <p:spPr>
          <a:xfrm>
            <a:off x="5961960" y="4160520"/>
            <a:ext cx="5257440" cy="1096920"/>
          </a:xfrm>
          <a:prstGeom prst="roundRect">
            <a:avLst>
              <a:gd name="adj" fmla="val 13333"/>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59" name="Text 42"/>
          <p:cNvSpPr/>
          <p:nvPr/>
        </p:nvSpPr>
        <p:spPr>
          <a:xfrm>
            <a:off x="6236280" y="4416480"/>
            <a:ext cx="155412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9" strike="noStrike" u="none">
                <a:solidFill>
                  <a:srgbClr val="5fe1a0"/>
                </a:solidFill>
                <a:effectLst/>
                <a:uFillTx/>
                <a:latin typeface="Aptos"/>
                <a:ea typeface="Aptos"/>
              </a:rPr>
              <a:t>KEY-RELEASE CLAIM</a:t>
            </a:r>
            <a:endParaRPr b="0" lang="ru-RU" sz="900" strike="noStrike" u="none">
              <a:solidFill>
                <a:srgbClr val="ffffff"/>
              </a:solidFill>
              <a:effectLst/>
              <a:uFillTx/>
              <a:latin typeface="Arial"/>
            </a:endParaRPr>
          </a:p>
        </p:txBody>
      </p:sp>
      <p:sp>
        <p:nvSpPr>
          <p:cNvPr id="460" name="Text 43"/>
          <p:cNvSpPr/>
          <p:nvPr/>
        </p:nvSpPr>
        <p:spPr>
          <a:xfrm>
            <a:off x="6236280" y="4800600"/>
            <a:ext cx="45259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f5f7fa"/>
                </a:solidFill>
                <a:effectLst/>
                <a:uFillTx/>
                <a:latin typeface="Aptos"/>
                <a:ea typeface="Aptos"/>
              </a:rPr>
              <a:t>“This exact workload may receive this exact secret.”</a:t>
            </a:r>
            <a:endParaRPr b="0" lang="ru-RU" sz="1300" strike="noStrike" u="none">
              <a:solidFill>
                <a:srgbClr val="ffffff"/>
              </a:solidFill>
              <a:effectLst/>
              <a:uFillTx/>
              <a:latin typeface="Arial"/>
            </a:endParaRPr>
          </a:p>
        </p:txBody>
      </p:sp>
      <p:sp>
        <p:nvSpPr>
          <p:cNvPr id="461" name="Text 44"/>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Reference architecture: Intel TDX attestation; NVIDIA Attestation / H100 CC. Protocol choice can incorporate SPDM and EAT-style evidence.</a:t>
            </a:r>
            <a:endParaRPr b="0" lang="ru-RU" sz="660" strike="noStrike" u="none">
              <a:solidFill>
                <a:srgbClr val="ffffff"/>
              </a:solidFill>
              <a:effectLst/>
              <a:uFillTx/>
              <a:latin typeface="Arial"/>
            </a:endParaRPr>
          </a:p>
        </p:txBody>
      </p:sp>
      <p:sp>
        <p:nvSpPr>
          <p:cNvPr id="462" name="PlaceHolder 1"/>
          <p:cNvSpPr>
            <a:spLocks noGrp="1"/>
          </p:cNvSpPr>
          <p:nvPr>
            <p:ph type="sldNum" idx="14"/>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5CA5B39A-9B26-4263-9C3A-93247BFC786C}"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10 • CONFIDENTIAL AI AGENTS</a:t>
            </a:r>
            <a:endParaRPr b="0" lang="ru-RU" sz="1000" strike="noStrike" u="none">
              <a:solidFill>
                <a:srgbClr val="ffffff"/>
              </a:solidFill>
              <a:effectLst/>
              <a:uFillTx/>
              <a:latin typeface="Arial"/>
            </a:endParaRPr>
          </a:p>
        </p:txBody>
      </p:sp>
      <p:sp>
        <p:nvSpPr>
          <p:cNvPr id="464"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f5f7fa"/>
                </a:solidFill>
                <a:effectLst/>
                <a:uFillTx/>
                <a:latin typeface="Aptos"/>
                <a:ea typeface="Aptos"/>
              </a:rPr>
              <a:t>Protect the LLM and the credentials it can use to act.</a:t>
            </a:r>
            <a:endParaRPr b="0" lang="ru-RU" sz="2900" strike="noStrike" u="none">
              <a:solidFill>
                <a:srgbClr val="ffffff"/>
              </a:solidFill>
              <a:effectLst/>
              <a:uFillTx/>
              <a:latin typeface="Arial"/>
            </a:endParaRPr>
          </a:p>
        </p:txBody>
      </p:sp>
      <p:sp>
        <p:nvSpPr>
          <p:cNvPr id="465"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For agents, the highest-value secret may be a private key or API credential — not the prompt.</a:t>
            </a:r>
            <a:endParaRPr b="0" lang="ru-RU" sz="1250" strike="noStrike" u="none">
              <a:solidFill>
                <a:srgbClr val="ffffff"/>
              </a:solidFill>
              <a:effectLst/>
              <a:uFillTx/>
              <a:latin typeface="Arial"/>
            </a:endParaRPr>
          </a:p>
        </p:txBody>
      </p:sp>
      <p:sp>
        <p:nvSpPr>
          <p:cNvPr id="466"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11</a:t>
            </a:r>
            <a:endParaRPr b="0" lang="ru-RU" sz="1000" strike="noStrike" u="none">
              <a:solidFill>
                <a:srgbClr val="ffffff"/>
              </a:solidFill>
              <a:effectLst/>
              <a:uFillTx/>
              <a:latin typeface="Arial"/>
            </a:endParaRPr>
          </a:p>
        </p:txBody>
      </p:sp>
      <p:sp>
        <p:nvSpPr>
          <p:cNvPr id="467" name="Shape 4"/>
          <p:cNvSpPr/>
          <p:nvPr/>
        </p:nvSpPr>
        <p:spPr>
          <a:xfrm>
            <a:off x="567000" y="1874520"/>
            <a:ext cx="5577480" cy="3913200"/>
          </a:xfrm>
          <a:prstGeom prst="roundRect">
            <a:avLst>
              <a:gd name="adj" fmla="val 3738"/>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68" name="Text 5"/>
          <p:cNvSpPr/>
          <p:nvPr/>
        </p:nvSpPr>
        <p:spPr>
          <a:xfrm>
            <a:off x="841320" y="2139840"/>
            <a:ext cx="21027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9" strike="noStrike" u="none">
                <a:solidFill>
                  <a:srgbClr val="ff6b35"/>
                </a:solidFill>
                <a:effectLst/>
                <a:uFillTx/>
                <a:latin typeface="Aptos"/>
                <a:ea typeface="Aptos"/>
              </a:rPr>
              <a:t>AGENT INSIDE C-CCA</a:t>
            </a:r>
            <a:endParaRPr b="0" lang="ru-RU" sz="900" strike="noStrike" u="none">
              <a:solidFill>
                <a:srgbClr val="ffffff"/>
              </a:solidFill>
              <a:effectLst/>
              <a:uFillTx/>
              <a:latin typeface="Arial"/>
            </a:endParaRPr>
          </a:p>
        </p:txBody>
      </p:sp>
      <p:sp>
        <p:nvSpPr>
          <p:cNvPr id="469" name="Shape 6"/>
          <p:cNvSpPr/>
          <p:nvPr/>
        </p:nvSpPr>
        <p:spPr>
          <a:xfrm>
            <a:off x="951120" y="2633400"/>
            <a:ext cx="4251600" cy="2148480"/>
          </a:xfrm>
          <a:prstGeom prst="roundRect">
            <a:avLst>
              <a:gd name="adj" fmla="val 6809"/>
            </a:avLst>
          </a:prstGeom>
          <a:solidFill>
            <a:srgbClr val="111b2d"/>
          </a:solidFill>
          <a:ln w="12700">
            <a:solidFill>
              <a:srgbClr val="3bd6e8"/>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70" name="Text 7"/>
          <p:cNvSpPr/>
          <p:nvPr/>
        </p:nvSpPr>
        <p:spPr>
          <a:xfrm>
            <a:off x="1234440" y="2907720"/>
            <a:ext cx="2422800" cy="310680"/>
          </a:xfrm>
          <a:prstGeom prst="rect">
            <a:avLst/>
          </a:prstGeom>
          <a:noFill/>
          <a:ln w="0">
            <a:noFill/>
          </a:ln>
        </p:spPr>
        <p:style>
          <a:lnRef idx="0"/>
          <a:fillRef idx="0"/>
          <a:effectRef idx="0"/>
          <a:fontRef idx="minor"/>
        </p:style>
        <p:txBody>
          <a:bodyPr lIns="0" rIns="0" tIns="0" bIns="0" anchor="ctr">
            <a:normAutofit fontScale="77500" lnSpcReduction="19999"/>
          </a:bodyPr>
          <a:p>
            <a:pPr defTabSz="914400">
              <a:lnSpc>
                <a:spcPct val="100000"/>
              </a:lnSpc>
              <a:tabLst>
                <a:tab algn="l" pos="0"/>
              </a:tabLst>
            </a:pPr>
            <a:r>
              <a:rPr b="1" lang="en-US" sz="1900" strike="noStrike" u="none">
                <a:solidFill>
                  <a:srgbClr val="f5f7fa"/>
                </a:solidFill>
                <a:effectLst/>
                <a:uFillTx/>
                <a:latin typeface="Aptos"/>
                <a:ea typeface="Aptos"/>
              </a:rPr>
              <a:t>LLM / planner / memory</a:t>
            </a:r>
            <a:endParaRPr b="0" lang="ru-RU" sz="1900" strike="noStrike" u="none">
              <a:solidFill>
                <a:srgbClr val="ffffff"/>
              </a:solidFill>
              <a:effectLst/>
              <a:uFillTx/>
              <a:latin typeface="Arial"/>
            </a:endParaRPr>
          </a:p>
        </p:txBody>
      </p:sp>
      <p:sp>
        <p:nvSpPr>
          <p:cNvPr id="471" name="Text 8"/>
          <p:cNvSpPr/>
          <p:nvPr/>
        </p:nvSpPr>
        <p:spPr>
          <a:xfrm>
            <a:off x="1234440" y="3401640"/>
            <a:ext cx="1572480" cy="731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d8e2ef"/>
                </a:solidFill>
                <a:effectLst/>
                <a:uFillTx/>
                <a:latin typeface="Aptos"/>
                <a:ea typeface="Aptos"/>
              </a:rPr>
              <a:t>RAG context</a:t>
            </a:r>
            <a:endParaRPr b="0" lang="ru-RU" sz="1100" strike="noStrike" u="none">
              <a:solidFill>
                <a:srgbClr val="ffffff"/>
              </a:solidFill>
              <a:effectLst/>
              <a:uFillTx/>
              <a:latin typeface="Arial"/>
            </a:endParaRPr>
          </a:p>
          <a:p>
            <a:pPr defTabSz="914400">
              <a:lnSpc>
                <a:spcPct val="100000"/>
              </a:lnSpc>
              <a:tabLst>
                <a:tab algn="l" pos="0"/>
              </a:tabLst>
            </a:pPr>
            <a:r>
              <a:rPr b="0" lang="en-US" sz="1100" strike="noStrike" u="none">
                <a:solidFill>
                  <a:srgbClr val="d8e2ef"/>
                </a:solidFill>
                <a:effectLst/>
                <a:uFillTx/>
                <a:latin typeface="Aptos"/>
                <a:ea typeface="Aptos"/>
              </a:rPr>
              <a:t>Agent state</a:t>
            </a:r>
            <a:endParaRPr b="0" lang="ru-RU" sz="1100" strike="noStrike" u="none">
              <a:solidFill>
                <a:srgbClr val="ffffff"/>
              </a:solidFill>
              <a:effectLst/>
              <a:uFillTx/>
              <a:latin typeface="Arial"/>
            </a:endParaRPr>
          </a:p>
          <a:p>
            <a:pPr defTabSz="914400">
              <a:lnSpc>
                <a:spcPct val="100000"/>
              </a:lnSpc>
              <a:tabLst>
                <a:tab algn="l" pos="0"/>
              </a:tabLst>
            </a:pPr>
            <a:r>
              <a:rPr b="0" lang="en-US" sz="1100" strike="noStrike" u="none">
                <a:solidFill>
                  <a:srgbClr val="d8e2ef"/>
                </a:solidFill>
                <a:effectLst/>
                <a:uFillTx/>
                <a:latin typeface="Aptos"/>
                <a:ea typeface="Aptos"/>
              </a:rPr>
              <a:t>System policy</a:t>
            </a:r>
            <a:endParaRPr b="0" lang="ru-RU" sz="1100" strike="noStrike" u="none">
              <a:solidFill>
                <a:srgbClr val="ffffff"/>
              </a:solidFill>
              <a:effectLst/>
              <a:uFillTx/>
              <a:latin typeface="Arial"/>
            </a:endParaRPr>
          </a:p>
        </p:txBody>
      </p:sp>
      <p:sp>
        <p:nvSpPr>
          <p:cNvPr id="472" name="Shape 9"/>
          <p:cNvSpPr/>
          <p:nvPr/>
        </p:nvSpPr>
        <p:spPr>
          <a:xfrm>
            <a:off x="3200400" y="3493080"/>
            <a:ext cx="1316520" cy="273960"/>
          </a:xfrm>
          <a:prstGeom prst="roundRect">
            <a:avLst>
              <a:gd name="adj" fmla="val 50000"/>
            </a:avLst>
          </a:prstGeom>
          <a:solidFill>
            <a:srgbClr val="213046"/>
          </a:solidFill>
          <a:ln w="12700">
            <a:solidFill>
              <a:srgbClr val="ffd166">
                <a:alpha val="35000"/>
              </a:srgbClr>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73" name="Text 10"/>
          <p:cNvSpPr/>
          <p:nvPr/>
        </p:nvSpPr>
        <p:spPr>
          <a:xfrm>
            <a:off x="3273480" y="3511440"/>
            <a:ext cx="11700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50" strike="noStrike" u="none">
                <a:solidFill>
                  <a:srgbClr val="ffd166"/>
                </a:solidFill>
                <a:effectLst/>
                <a:uFillTx/>
                <a:latin typeface="Aptos"/>
                <a:ea typeface="Aptos"/>
              </a:rPr>
              <a:t>CAPABILITY API</a:t>
            </a:r>
            <a:endParaRPr b="0" lang="ru-RU" sz="850" strike="noStrike" u="none">
              <a:solidFill>
                <a:srgbClr val="ffffff"/>
              </a:solidFill>
              <a:effectLst/>
              <a:uFillTx/>
              <a:latin typeface="Arial"/>
            </a:endParaRPr>
          </a:p>
        </p:txBody>
      </p:sp>
      <p:sp>
        <p:nvSpPr>
          <p:cNvPr id="474" name="Text 11"/>
          <p:cNvSpPr/>
          <p:nvPr/>
        </p:nvSpPr>
        <p:spPr>
          <a:xfrm>
            <a:off x="3200400" y="3968640"/>
            <a:ext cx="1416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ffd166"/>
                </a:solidFill>
                <a:effectLst/>
                <a:uFillTx/>
                <a:latin typeface="Aptos"/>
                <a:ea typeface="Aptos"/>
              </a:rPr>
              <a:t>No raw credentials</a:t>
            </a:r>
            <a:endParaRPr b="0" lang="ru-RU" sz="1000" strike="noStrike" u="none">
              <a:solidFill>
                <a:srgbClr val="ffffff"/>
              </a:solidFill>
              <a:effectLst/>
              <a:uFillTx/>
              <a:latin typeface="Arial"/>
            </a:endParaRPr>
          </a:p>
        </p:txBody>
      </p:sp>
      <p:sp>
        <p:nvSpPr>
          <p:cNvPr id="475" name="Shape 12"/>
          <p:cNvSpPr/>
          <p:nvPr/>
        </p:nvSpPr>
        <p:spPr>
          <a:xfrm>
            <a:off x="822960" y="5102280"/>
            <a:ext cx="1069560" cy="429480"/>
          </a:xfrm>
          <a:prstGeom prst="roundRect">
            <a:avLst>
              <a:gd name="adj" fmla="val 34043"/>
            </a:avLst>
          </a:prstGeom>
          <a:solidFill>
            <a:srgbClr val="162337"/>
          </a:solidFill>
          <a:ln w="12700">
            <a:solidFill>
              <a:srgbClr val="71a7ff"/>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76" name="Text 13"/>
          <p:cNvSpPr/>
          <p:nvPr/>
        </p:nvSpPr>
        <p:spPr>
          <a:xfrm>
            <a:off x="822960" y="5212080"/>
            <a:ext cx="10695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71a7ff"/>
                </a:solidFill>
                <a:effectLst/>
                <a:uFillTx/>
                <a:latin typeface="Aptos"/>
                <a:ea typeface="Aptos"/>
              </a:rPr>
              <a:t>DB</a:t>
            </a:r>
            <a:endParaRPr b="0" lang="ru-RU" sz="950" strike="noStrike" u="none">
              <a:solidFill>
                <a:srgbClr val="ffffff"/>
              </a:solidFill>
              <a:effectLst/>
              <a:uFillTx/>
              <a:latin typeface="Arial"/>
            </a:endParaRPr>
          </a:p>
        </p:txBody>
      </p:sp>
      <p:sp>
        <p:nvSpPr>
          <p:cNvPr id="477" name="Shape 14"/>
          <p:cNvSpPr/>
          <p:nvPr/>
        </p:nvSpPr>
        <p:spPr>
          <a:xfrm>
            <a:off x="2971800" y="4782240"/>
            <a:ext cx="360" cy="310680"/>
          </a:xfrm>
          <a:prstGeom prst="line">
            <a:avLst/>
          </a:prstGeom>
          <a:ln w="16510">
            <a:solidFill>
              <a:srgbClr val="a9b6c8"/>
            </a:solidFill>
            <a:round/>
            <a:tailEnd len="med" type="triangle" w="med"/>
          </a:ln>
        </p:spPr>
        <p:style>
          <a:lnRef idx="0"/>
          <a:fillRef idx="0"/>
          <a:effectRef idx="0"/>
          <a:fontRef idx="minor"/>
        </p:style>
        <p:txBody>
          <a:bodyPr lIns="90000" rIns="90000" tIns="45000" bIns="45000" anchor="t" anchorCtr="1">
            <a:noAutofit/>
          </a:bodyPr>
          <a:p>
            <a:endParaRPr b="0" lang="ru-RU" sz="1800" strike="noStrike" u="none">
              <a:solidFill>
                <a:srgbClr val="ffffff"/>
              </a:solidFill>
              <a:effectLst/>
              <a:uFillTx/>
              <a:latin typeface="Arial"/>
            </a:endParaRPr>
          </a:p>
        </p:txBody>
      </p:sp>
      <p:sp>
        <p:nvSpPr>
          <p:cNvPr id="478" name="Shape 15"/>
          <p:cNvSpPr/>
          <p:nvPr/>
        </p:nvSpPr>
        <p:spPr>
          <a:xfrm>
            <a:off x="2130480" y="5102280"/>
            <a:ext cx="1069560" cy="429480"/>
          </a:xfrm>
          <a:prstGeom prst="roundRect">
            <a:avLst>
              <a:gd name="adj" fmla="val 34043"/>
            </a:avLst>
          </a:prstGeom>
          <a:solidFill>
            <a:srgbClr val="162337"/>
          </a:solidFill>
          <a:ln w="12700">
            <a:solidFill>
              <a:srgbClr val="3bd6e8"/>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79" name="Text 16"/>
          <p:cNvSpPr/>
          <p:nvPr/>
        </p:nvSpPr>
        <p:spPr>
          <a:xfrm>
            <a:off x="2130480" y="5212080"/>
            <a:ext cx="10695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3bd6e8"/>
                </a:solidFill>
                <a:effectLst/>
                <a:uFillTx/>
                <a:latin typeface="Aptos"/>
                <a:ea typeface="Aptos"/>
              </a:rPr>
              <a:t>Cloud API</a:t>
            </a:r>
            <a:endParaRPr b="0" lang="ru-RU" sz="950" strike="noStrike" u="none">
              <a:solidFill>
                <a:srgbClr val="ffffff"/>
              </a:solidFill>
              <a:effectLst/>
              <a:uFillTx/>
              <a:latin typeface="Arial"/>
            </a:endParaRPr>
          </a:p>
        </p:txBody>
      </p:sp>
      <p:sp>
        <p:nvSpPr>
          <p:cNvPr id="480" name="Shape 17"/>
          <p:cNvSpPr/>
          <p:nvPr/>
        </p:nvSpPr>
        <p:spPr>
          <a:xfrm>
            <a:off x="2971800" y="4782240"/>
            <a:ext cx="360" cy="310680"/>
          </a:xfrm>
          <a:prstGeom prst="line">
            <a:avLst/>
          </a:prstGeom>
          <a:ln w="16510">
            <a:solidFill>
              <a:srgbClr val="a9b6c8"/>
            </a:solidFill>
            <a:round/>
            <a:tailEnd len="med" type="triangle" w="med"/>
          </a:ln>
        </p:spPr>
        <p:style>
          <a:lnRef idx="0"/>
          <a:fillRef idx="0"/>
          <a:effectRef idx="0"/>
          <a:fontRef idx="minor"/>
        </p:style>
        <p:txBody>
          <a:bodyPr lIns="90000" rIns="90000" tIns="45000" bIns="45000" anchor="t" anchorCtr="1">
            <a:noAutofit/>
          </a:bodyPr>
          <a:p>
            <a:endParaRPr b="0" lang="ru-RU" sz="1800" strike="noStrike" u="none">
              <a:solidFill>
                <a:srgbClr val="ffffff"/>
              </a:solidFill>
              <a:effectLst/>
              <a:uFillTx/>
              <a:latin typeface="Arial"/>
            </a:endParaRPr>
          </a:p>
        </p:txBody>
      </p:sp>
      <p:sp>
        <p:nvSpPr>
          <p:cNvPr id="481" name="Shape 18"/>
          <p:cNvSpPr/>
          <p:nvPr/>
        </p:nvSpPr>
        <p:spPr>
          <a:xfrm>
            <a:off x="3438000" y="5102280"/>
            <a:ext cx="1069560" cy="429480"/>
          </a:xfrm>
          <a:prstGeom prst="roundRect">
            <a:avLst>
              <a:gd name="adj" fmla="val 34043"/>
            </a:avLst>
          </a:prstGeom>
          <a:solidFill>
            <a:srgbClr val="162337"/>
          </a:solidFill>
          <a:ln w="12700">
            <a:solidFill>
              <a:srgbClr val="ff6b35"/>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82" name="Text 19"/>
          <p:cNvSpPr/>
          <p:nvPr/>
        </p:nvSpPr>
        <p:spPr>
          <a:xfrm>
            <a:off x="3438000" y="5212080"/>
            <a:ext cx="10695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6b35"/>
                </a:solidFill>
                <a:effectLst/>
                <a:uFillTx/>
                <a:latin typeface="Aptos"/>
                <a:ea typeface="Aptos"/>
              </a:rPr>
              <a:t>Trading</a:t>
            </a:r>
            <a:endParaRPr b="0" lang="ru-RU" sz="950" strike="noStrike" u="none">
              <a:solidFill>
                <a:srgbClr val="ffffff"/>
              </a:solidFill>
              <a:effectLst/>
              <a:uFillTx/>
              <a:latin typeface="Arial"/>
            </a:endParaRPr>
          </a:p>
        </p:txBody>
      </p:sp>
      <p:sp>
        <p:nvSpPr>
          <p:cNvPr id="483" name="Shape 20"/>
          <p:cNvSpPr/>
          <p:nvPr/>
        </p:nvSpPr>
        <p:spPr>
          <a:xfrm>
            <a:off x="2971800" y="4782240"/>
            <a:ext cx="360" cy="310680"/>
          </a:xfrm>
          <a:prstGeom prst="line">
            <a:avLst/>
          </a:prstGeom>
          <a:ln w="16510">
            <a:solidFill>
              <a:srgbClr val="a9b6c8"/>
            </a:solidFill>
            <a:round/>
            <a:tailEnd len="med" type="triangle" w="med"/>
          </a:ln>
        </p:spPr>
        <p:style>
          <a:lnRef idx="0"/>
          <a:fillRef idx="0"/>
          <a:effectRef idx="0"/>
          <a:fontRef idx="minor"/>
        </p:style>
        <p:txBody>
          <a:bodyPr lIns="90000" rIns="90000" tIns="45000" bIns="45000" anchor="t" anchorCtr="1">
            <a:noAutofit/>
          </a:bodyPr>
          <a:p>
            <a:endParaRPr b="0" lang="ru-RU" sz="1800" strike="noStrike" u="none">
              <a:solidFill>
                <a:srgbClr val="ffffff"/>
              </a:solidFill>
              <a:effectLst/>
              <a:uFillTx/>
              <a:latin typeface="Arial"/>
            </a:endParaRPr>
          </a:p>
        </p:txBody>
      </p:sp>
      <p:sp>
        <p:nvSpPr>
          <p:cNvPr id="484" name="Shape 21"/>
          <p:cNvSpPr/>
          <p:nvPr/>
        </p:nvSpPr>
        <p:spPr>
          <a:xfrm>
            <a:off x="4745880" y="5102280"/>
            <a:ext cx="1069560" cy="429480"/>
          </a:xfrm>
          <a:prstGeom prst="roundRect">
            <a:avLst>
              <a:gd name="adj" fmla="val 34043"/>
            </a:avLst>
          </a:prstGeom>
          <a:solidFill>
            <a:srgbClr val="162337"/>
          </a:solidFill>
          <a:ln w="12700">
            <a:solidFill>
              <a:srgbClr val="5fe1a0"/>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85" name="Text 22"/>
          <p:cNvSpPr/>
          <p:nvPr/>
        </p:nvSpPr>
        <p:spPr>
          <a:xfrm>
            <a:off x="4745880" y="5212080"/>
            <a:ext cx="10695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5fe1a0"/>
                </a:solidFill>
                <a:effectLst/>
                <a:uFillTx/>
                <a:latin typeface="Aptos"/>
                <a:ea typeface="Aptos"/>
              </a:rPr>
              <a:t>Wallet</a:t>
            </a:r>
            <a:endParaRPr b="0" lang="ru-RU" sz="950" strike="noStrike" u="none">
              <a:solidFill>
                <a:srgbClr val="ffffff"/>
              </a:solidFill>
              <a:effectLst/>
              <a:uFillTx/>
              <a:latin typeface="Arial"/>
            </a:endParaRPr>
          </a:p>
        </p:txBody>
      </p:sp>
      <p:sp>
        <p:nvSpPr>
          <p:cNvPr id="486" name="Shape 23"/>
          <p:cNvSpPr/>
          <p:nvPr/>
        </p:nvSpPr>
        <p:spPr>
          <a:xfrm>
            <a:off x="2971800" y="4782240"/>
            <a:ext cx="360" cy="310680"/>
          </a:xfrm>
          <a:prstGeom prst="line">
            <a:avLst/>
          </a:prstGeom>
          <a:ln w="16510">
            <a:solidFill>
              <a:srgbClr val="a9b6c8"/>
            </a:solidFill>
            <a:round/>
            <a:tailEnd len="med" type="triangle" w="med"/>
          </a:ln>
        </p:spPr>
        <p:style>
          <a:lnRef idx="0"/>
          <a:fillRef idx="0"/>
          <a:effectRef idx="0"/>
          <a:fontRef idx="minor"/>
        </p:style>
        <p:txBody>
          <a:bodyPr lIns="90000" rIns="90000" tIns="45000" bIns="45000" anchor="t" anchorCtr="1">
            <a:noAutofit/>
          </a:bodyPr>
          <a:p>
            <a:endParaRPr b="0" lang="ru-RU" sz="1800" strike="noStrike" u="none">
              <a:solidFill>
                <a:srgbClr val="ffffff"/>
              </a:solidFill>
              <a:effectLst/>
              <a:uFillTx/>
              <a:latin typeface="Arial"/>
            </a:endParaRPr>
          </a:p>
        </p:txBody>
      </p:sp>
      <p:sp>
        <p:nvSpPr>
          <p:cNvPr id="487" name="Shape 24"/>
          <p:cNvSpPr/>
          <p:nvPr/>
        </p:nvSpPr>
        <p:spPr>
          <a:xfrm>
            <a:off x="6419160" y="1874520"/>
            <a:ext cx="5166000" cy="3913200"/>
          </a:xfrm>
          <a:prstGeom prst="roundRect">
            <a:avLst>
              <a:gd name="adj" fmla="val 3738"/>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488" name="Text 25"/>
          <p:cNvSpPr/>
          <p:nvPr/>
        </p:nvSpPr>
        <p:spPr>
          <a:xfrm>
            <a:off x="6693480" y="2139840"/>
            <a:ext cx="1919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9" strike="noStrike" u="none">
                <a:solidFill>
                  <a:srgbClr val="5fe1a0"/>
                </a:solidFill>
                <a:effectLst/>
                <a:uFillTx/>
                <a:latin typeface="Aptos"/>
                <a:ea typeface="Aptos"/>
              </a:rPr>
              <a:t>SECURITY INVARIANT</a:t>
            </a:r>
            <a:endParaRPr b="0" lang="ru-RU" sz="900" strike="noStrike" u="none">
              <a:solidFill>
                <a:srgbClr val="ffffff"/>
              </a:solidFill>
              <a:effectLst/>
              <a:uFillTx/>
              <a:latin typeface="Arial"/>
            </a:endParaRPr>
          </a:p>
        </p:txBody>
      </p:sp>
      <p:sp>
        <p:nvSpPr>
          <p:cNvPr id="489" name="Text 26"/>
          <p:cNvSpPr/>
          <p:nvPr/>
        </p:nvSpPr>
        <p:spPr>
          <a:xfrm>
            <a:off x="6693480" y="2651760"/>
            <a:ext cx="4315680" cy="74952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2400" strike="noStrike" u="none">
                <a:solidFill>
                  <a:srgbClr val="f5f7fa"/>
                </a:solidFill>
                <a:effectLst/>
                <a:uFillTx/>
                <a:latin typeface="Aptos"/>
                <a:ea typeface="Aptos"/>
              </a:rPr>
              <a:t>Credentials are released to attested code — not to machines.</a:t>
            </a:r>
            <a:endParaRPr b="0" lang="ru-RU" sz="2400" strike="noStrike" u="none">
              <a:solidFill>
                <a:srgbClr val="ffffff"/>
              </a:solidFill>
              <a:effectLst/>
              <a:uFillTx/>
              <a:latin typeface="Arial"/>
            </a:endParaRPr>
          </a:p>
        </p:txBody>
      </p:sp>
      <p:sp>
        <p:nvSpPr>
          <p:cNvPr id="490" name="Shape 27"/>
          <p:cNvSpPr/>
          <p:nvPr/>
        </p:nvSpPr>
        <p:spPr>
          <a:xfrm>
            <a:off x="6693120" y="3611880"/>
            <a:ext cx="4188240" cy="360"/>
          </a:xfrm>
          <a:prstGeom prst="line">
            <a:avLst/>
          </a:prstGeom>
          <a:ln w="15240">
            <a:solidFill>
              <a:srgbClr val="24344e"/>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491" name="Shape 28"/>
          <p:cNvSpPr/>
          <p:nvPr/>
        </p:nvSpPr>
        <p:spPr>
          <a:xfrm>
            <a:off x="6711840" y="3858840"/>
            <a:ext cx="310680" cy="31068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92" name="Text 29"/>
          <p:cNvSpPr/>
          <p:nvPr/>
        </p:nvSpPr>
        <p:spPr>
          <a:xfrm>
            <a:off x="6711840" y="3867840"/>
            <a:ext cx="3106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a:t>
            </a:r>
            <a:endParaRPr b="0" lang="ru-RU" sz="1500" strike="noStrike" u="none">
              <a:solidFill>
                <a:srgbClr val="ffffff"/>
              </a:solidFill>
              <a:effectLst/>
              <a:uFillTx/>
              <a:latin typeface="Arial"/>
            </a:endParaRPr>
          </a:p>
        </p:txBody>
      </p:sp>
      <p:sp>
        <p:nvSpPr>
          <p:cNvPr id="493" name="Text 30"/>
          <p:cNvSpPr/>
          <p:nvPr/>
        </p:nvSpPr>
        <p:spPr>
          <a:xfrm>
            <a:off x="7187040" y="3877200"/>
            <a:ext cx="32457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Policy-limited capabilities</a:t>
            </a:r>
            <a:endParaRPr b="0" lang="ru-RU" sz="1050" strike="noStrike" u="none">
              <a:solidFill>
                <a:srgbClr val="ffffff"/>
              </a:solidFill>
              <a:effectLst/>
              <a:uFillTx/>
              <a:latin typeface="Arial"/>
            </a:endParaRPr>
          </a:p>
        </p:txBody>
      </p:sp>
      <p:sp>
        <p:nvSpPr>
          <p:cNvPr id="494" name="Shape 31"/>
          <p:cNvSpPr/>
          <p:nvPr/>
        </p:nvSpPr>
        <p:spPr>
          <a:xfrm>
            <a:off x="6711840" y="4270320"/>
            <a:ext cx="310680" cy="31068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95" name="Text 32"/>
          <p:cNvSpPr/>
          <p:nvPr/>
        </p:nvSpPr>
        <p:spPr>
          <a:xfrm>
            <a:off x="6711840" y="4279320"/>
            <a:ext cx="3106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a:t>
            </a:r>
            <a:endParaRPr b="0" lang="ru-RU" sz="1500" strike="noStrike" u="none">
              <a:solidFill>
                <a:srgbClr val="ffffff"/>
              </a:solidFill>
              <a:effectLst/>
              <a:uFillTx/>
              <a:latin typeface="Arial"/>
            </a:endParaRPr>
          </a:p>
        </p:txBody>
      </p:sp>
      <p:sp>
        <p:nvSpPr>
          <p:cNvPr id="496" name="Text 33"/>
          <p:cNvSpPr/>
          <p:nvPr/>
        </p:nvSpPr>
        <p:spPr>
          <a:xfrm>
            <a:off x="7187040" y="4288680"/>
            <a:ext cx="32457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Time-bounded secrets</a:t>
            </a:r>
            <a:endParaRPr b="0" lang="ru-RU" sz="1050" strike="noStrike" u="none">
              <a:solidFill>
                <a:srgbClr val="ffffff"/>
              </a:solidFill>
              <a:effectLst/>
              <a:uFillTx/>
              <a:latin typeface="Arial"/>
            </a:endParaRPr>
          </a:p>
        </p:txBody>
      </p:sp>
      <p:sp>
        <p:nvSpPr>
          <p:cNvPr id="497" name="Shape 34"/>
          <p:cNvSpPr/>
          <p:nvPr/>
        </p:nvSpPr>
        <p:spPr>
          <a:xfrm>
            <a:off x="6711840" y="4681800"/>
            <a:ext cx="310680" cy="31068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498" name="Text 35"/>
          <p:cNvSpPr/>
          <p:nvPr/>
        </p:nvSpPr>
        <p:spPr>
          <a:xfrm>
            <a:off x="6711840" y="4690800"/>
            <a:ext cx="3106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a:t>
            </a:r>
            <a:endParaRPr b="0" lang="ru-RU" sz="1500" strike="noStrike" u="none">
              <a:solidFill>
                <a:srgbClr val="ffffff"/>
              </a:solidFill>
              <a:effectLst/>
              <a:uFillTx/>
              <a:latin typeface="Arial"/>
            </a:endParaRPr>
          </a:p>
        </p:txBody>
      </p:sp>
      <p:sp>
        <p:nvSpPr>
          <p:cNvPr id="499" name="Text 36"/>
          <p:cNvSpPr/>
          <p:nvPr/>
        </p:nvSpPr>
        <p:spPr>
          <a:xfrm>
            <a:off x="7187040" y="4700160"/>
            <a:ext cx="32457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Attested tool access</a:t>
            </a:r>
            <a:endParaRPr b="0" lang="ru-RU" sz="1050" strike="noStrike" u="none">
              <a:solidFill>
                <a:srgbClr val="ffffff"/>
              </a:solidFill>
              <a:effectLst/>
              <a:uFillTx/>
              <a:latin typeface="Arial"/>
            </a:endParaRPr>
          </a:p>
        </p:txBody>
      </p:sp>
      <p:sp>
        <p:nvSpPr>
          <p:cNvPr id="500" name="Shape 37"/>
          <p:cNvSpPr/>
          <p:nvPr/>
        </p:nvSpPr>
        <p:spPr>
          <a:xfrm>
            <a:off x="6711840" y="5093280"/>
            <a:ext cx="310680" cy="31068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501" name="Text 38"/>
          <p:cNvSpPr/>
          <p:nvPr/>
        </p:nvSpPr>
        <p:spPr>
          <a:xfrm>
            <a:off x="6711840" y="5102280"/>
            <a:ext cx="31068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a:t>
            </a:r>
            <a:endParaRPr b="0" lang="ru-RU" sz="1500" strike="noStrike" u="none">
              <a:solidFill>
                <a:srgbClr val="ffffff"/>
              </a:solidFill>
              <a:effectLst/>
              <a:uFillTx/>
              <a:latin typeface="Arial"/>
            </a:endParaRPr>
          </a:p>
        </p:txBody>
      </p:sp>
      <p:sp>
        <p:nvSpPr>
          <p:cNvPr id="502" name="Text 39"/>
          <p:cNvSpPr/>
          <p:nvPr/>
        </p:nvSpPr>
        <p:spPr>
          <a:xfrm>
            <a:off x="7187040" y="5111640"/>
            <a:ext cx="32457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d8e2ef"/>
                </a:solidFill>
                <a:effectLst/>
                <a:uFillTx/>
                <a:latin typeface="Aptos"/>
                <a:ea typeface="Aptos"/>
              </a:rPr>
              <a:t>Non-exportable signing keys</a:t>
            </a:r>
            <a:endParaRPr b="0" lang="ru-RU" sz="1050" strike="noStrike" u="none">
              <a:solidFill>
                <a:srgbClr val="ffffff"/>
              </a:solidFill>
              <a:effectLst/>
              <a:uFillTx/>
              <a:latin typeface="Arial"/>
            </a:endParaRPr>
          </a:p>
        </p:txBody>
      </p:sp>
      <p:sp>
        <p:nvSpPr>
          <p:cNvPr id="503" name="Text 40"/>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Cerebras CS-4 explicitly targets agentic workloads; C-CCA extends that trajectory with confidential credentials and attested tool access.</a:t>
            </a:r>
            <a:endParaRPr b="0" lang="ru-RU" sz="660" strike="noStrike" u="none">
              <a:solidFill>
                <a:srgbClr val="ffffff"/>
              </a:solidFill>
              <a:effectLst/>
              <a:uFillTx/>
              <a:latin typeface="Arial"/>
            </a:endParaRPr>
          </a:p>
        </p:txBody>
      </p:sp>
      <p:sp>
        <p:nvSpPr>
          <p:cNvPr id="504" name="PlaceHolder 1"/>
          <p:cNvSpPr>
            <a:spLocks noGrp="1"/>
          </p:cNvSpPr>
          <p:nvPr>
            <p:ph type="sldNum" idx="15"/>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958EBCDD-D027-4EAA-910E-1860A2B8F8DA}"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11 • DEMAND MAP</a:t>
            </a:r>
            <a:endParaRPr b="0" lang="ru-RU" sz="1000" strike="noStrike" u="none">
              <a:solidFill>
                <a:srgbClr val="ffffff"/>
              </a:solidFill>
              <a:effectLst/>
              <a:uFillTx/>
              <a:latin typeface="Arial"/>
            </a:endParaRPr>
          </a:p>
        </p:txBody>
      </p:sp>
      <p:sp>
        <p:nvSpPr>
          <p:cNvPr id="506"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2900" strike="noStrike" u="none">
                <a:solidFill>
                  <a:srgbClr val="f5f7fa"/>
                </a:solidFill>
                <a:effectLst/>
                <a:uFillTx/>
                <a:latin typeface="Aptos"/>
                <a:ea typeface="Aptos"/>
              </a:rPr>
              <a:t>Where confidential Cerebras has the strongest economic pull.</a:t>
            </a:r>
            <a:endParaRPr b="0" lang="ru-RU" sz="2900" strike="noStrike" u="none">
              <a:solidFill>
                <a:srgbClr val="ffffff"/>
              </a:solidFill>
              <a:effectLst/>
              <a:uFillTx/>
              <a:latin typeface="Arial"/>
            </a:endParaRPr>
          </a:p>
        </p:txBody>
      </p:sp>
      <p:sp>
        <p:nvSpPr>
          <p:cNvPr id="507"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Prioritize markets where data sensitivity + model IP + action authority overlap.</a:t>
            </a:r>
            <a:endParaRPr b="0" lang="ru-RU" sz="1250" strike="noStrike" u="none">
              <a:solidFill>
                <a:srgbClr val="ffffff"/>
              </a:solidFill>
              <a:effectLst/>
              <a:uFillTx/>
              <a:latin typeface="Arial"/>
            </a:endParaRPr>
          </a:p>
        </p:txBody>
      </p:sp>
      <p:sp>
        <p:nvSpPr>
          <p:cNvPr id="508"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12</a:t>
            </a:r>
            <a:endParaRPr b="0" lang="ru-RU" sz="1000" strike="noStrike" u="none">
              <a:solidFill>
                <a:srgbClr val="ffffff"/>
              </a:solidFill>
              <a:effectLst/>
              <a:uFillTx/>
              <a:latin typeface="Arial"/>
            </a:endParaRPr>
          </a:p>
        </p:txBody>
      </p:sp>
      <p:sp>
        <p:nvSpPr>
          <p:cNvPr id="509" name="Shape 4"/>
          <p:cNvSpPr/>
          <p:nvPr/>
        </p:nvSpPr>
        <p:spPr>
          <a:xfrm>
            <a:off x="567000" y="1956960"/>
            <a:ext cx="5321520" cy="1069560"/>
          </a:xfrm>
          <a:prstGeom prst="roundRect">
            <a:avLst>
              <a:gd name="adj" fmla="val 13675"/>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10" name="Shape 5"/>
          <p:cNvSpPr/>
          <p:nvPr/>
        </p:nvSpPr>
        <p:spPr>
          <a:xfrm>
            <a:off x="731520" y="2167200"/>
            <a:ext cx="383760" cy="383760"/>
          </a:xfrm>
          <a:prstGeom prst="ellipse">
            <a:avLst/>
          </a:prstGeom>
          <a:solidFill>
            <a:srgbClr val="ff6b35">
              <a:alpha val="18000"/>
            </a:srgbClr>
          </a:solidFill>
          <a:ln w="15240">
            <a:solidFill>
              <a:srgbClr val="ff6b35"/>
            </a:solidFill>
            <a:round/>
          </a:ln>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11" name="Text 6"/>
          <p:cNvSpPr/>
          <p:nvPr/>
        </p:nvSpPr>
        <p:spPr>
          <a:xfrm>
            <a:off x="731520" y="217620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6b35"/>
                </a:solidFill>
                <a:effectLst/>
                <a:uFillTx/>
                <a:latin typeface="Aptos"/>
                <a:ea typeface="Aptos"/>
              </a:rPr>
              <a:t>1</a:t>
            </a:r>
            <a:endParaRPr b="0" lang="ru-RU" sz="1500" strike="noStrike" u="none">
              <a:solidFill>
                <a:srgbClr val="ffffff"/>
              </a:solidFill>
              <a:effectLst/>
              <a:uFillTx/>
              <a:latin typeface="Arial"/>
            </a:endParaRPr>
          </a:p>
        </p:txBody>
      </p:sp>
      <p:sp>
        <p:nvSpPr>
          <p:cNvPr id="512" name="Text 7"/>
          <p:cNvSpPr/>
          <p:nvPr/>
        </p:nvSpPr>
        <p:spPr>
          <a:xfrm>
            <a:off x="1280160" y="2121480"/>
            <a:ext cx="2239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Sovereign / classified AI</a:t>
            </a:r>
            <a:endParaRPr b="0" lang="ru-RU" sz="1200" strike="noStrike" u="none">
              <a:solidFill>
                <a:srgbClr val="ffffff"/>
              </a:solidFill>
              <a:effectLst/>
              <a:uFillTx/>
              <a:latin typeface="Arial"/>
            </a:endParaRPr>
          </a:p>
        </p:txBody>
      </p:sp>
      <p:sp>
        <p:nvSpPr>
          <p:cNvPr id="513" name="Text 8"/>
          <p:cNvSpPr/>
          <p:nvPr/>
        </p:nvSpPr>
        <p:spPr>
          <a:xfrm>
            <a:off x="1280160" y="2441520"/>
            <a:ext cx="34743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National data, local models, mission systems</a:t>
            </a:r>
            <a:endParaRPr b="0" lang="ru-RU" sz="980" strike="noStrike" u="none">
              <a:solidFill>
                <a:srgbClr val="ffffff"/>
              </a:solidFill>
              <a:effectLst/>
              <a:uFillTx/>
              <a:latin typeface="Arial"/>
            </a:endParaRPr>
          </a:p>
        </p:txBody>
      </p:sp>
      <p:sp>
        <p:nvSpPr>
          <p:cNvPr id="514" name="Text 9"/>
          <p:cNvSpPr/>
          <p:nvPr/>
        </p:nvSpPr>
        <p:spPr>
          <a:xfrm>
            <a:off x="4883040" y="2121480"/>
            <a:ext cx="776880" cy="228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100" strike="noStrike" u="none">
                <a:solidFill>
                  <a:srgbClr val="ff6b35"/>
                </a:solidFill>
                <a:effectLst/>
                <a:uFillTx/>
                <a:latin typeface="Aptos"/>
                <a:ea typeface="Aptos"/>
              </a:rPr>
              <a:t>★★★★★</a:t>
            </a:r>
            <a:endParaRPr b="0" lang="ru-RU" sz="1100" strike="noStrike" u="none">
              <a:solidFill>
                <a:srgbClr val="ffffff"/>
              </a:solidFill>
              <a:effectLst/>
              <a:uFillTx/>
              <a:latin typeface="Arial"/>
            </a:endParaRPr>
          </a:p>
        </p:txBody>
      </p:sp>
      <p:sp>
        <p:nvSpPr>
          <p:cNvPr id="515" name="Shape 10"/>
          <p:cNvSpPr/>
          <p:nvPr/>
        </p:nvSpPr>
        <p:spPr>
          <a:xfrm>
            <a:off x="6172200" y="1956960"/>
            <a:ext cx="5321520" cy="1069560"/>
          </a:xfrm>
          <a:prstGeom prst="roundRect">
            <a:avLst>
              <a:gd name="adj" fmla="val 13675"/>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16" name="Shape 11"/>
          <p:cNvSpPr/>
          <p:nvPr/>
        </p:nvSpPr>
        <p:spPr>
          <a:xfrm>
            <a:off x="6336720" y="2167200"/>
            <a:ext cx="383760" cy="383760"/>
          </a:xfrm>
          <a:prstGeom prst="ellipse">
            <a:avLst/>
          </a:prstGeom>
          <a:solidFill>
            <a:srgbClr val="5fe1a0">
              <a:alpha val="18000"/>
            </a:srgbClr>
          </a:solidFill>
          <a:ln w="15240">
            <a:solidFill>
              <a:srgbClr val="5fe1a0"/>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517" name="Text 12"/>
          <p:cNvSpPr/>
          <p:nvPr/>
        </p:nvSpPr>
        <p:spPr>
          <a:xfrm>
            <a:off x="6336720" y="217620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5fe1a0"/>
                </a:solidFill>
                <a:effectLst/>
                <a:uFillTx/>
                <a:latin typeface="Aptos"/>
                <a:ea typeface="Aptos"/>
              </a:rPr>
              <a:t>2</a:t>
            </a:r>
            <a:endParaRPr b="0" lang="ru-RU" sz="1500" strike="noStrike" u="none">
              <a:solidFill>
                <a:srgbClr val="ffffff"/>
              </a:solidFill>
              <a:effectLst/>
              <a:uFillTx/>
              <a:latin typeface="Arial"/>
            </a:endParaRPr>
          </a:p>
        </p:txBody>
      </p:sp>
      <p:sp>
        <p:nvSpPr>
          <p:cNvPr id="518" name="Text 13"/>
          <p:cNvSpPr/>
          <p:nvPr/>
        </p:nvSpPr>
        <p:spPr>
          <a:xfrm>
            <a:off x="6885360" y="2121480"/>
            <a:ext cx="2239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Healthcare / pharma</a:t>
            </a:r>
            <a:endParaRPr b="0" lang="ru-RU" sz="1200" strike="noStrike" u="none">
              <a:solidFill>
                <a:srgbClr val="ffffff"/>
              </a:solidFill>
              <a:effectLst/>
              <a:uFillTx/>
              <a:latin typeface="Arial"/>
            </a:endParaRPr>
          </a:p>
        </p:txBody>
      </p:sp>
      <p:sp>
        <p:nvSpPr>
          <p:cNvPr id="519" name="Text 14"/>
          <p:cNvSpPr/>
          <p:nvPr/>
        </p:nvSpPr>
        <p:spPr>
          <a:xfrm>
            <a:off x="6885360" y="2441520"/>
            <a:ext cx="34743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PHI, genomics, drug discovery, cross-org collaboration</a:t>
            </a:r>
            <a:endParaRPr b="0" lang="ru-RU" sz="980" strike="noStrike" u="none">
              <a:solidFill>
                <a:srgbClr val="ffffff"/>
              </a:solidFill>
              <a:effectLst/>
              <a:uFillTx/>
              <a:latin typeface="Arial"/>
            </a:endParaRPr>
          </a:p>
        </p:txBody>
      </p:sp>
      <p:sp>
        <p:nvSpPr>
          <p:cNvPr id="520" name="Text 15"/>
          <p:cNvSpPr/>
          <p:nvPr/>
        </p:nvSpPr>
        <p:spPr>
          <a:xfrm>
            <a:off x="10488240" y="2121480"/>
            <a:ext cx="776880" cy="228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100" strike="noStrike" u="none">
                <a:solidFill>
                  <a:srgbClr val="5fe1a0"/>
                </a:solidFill>
                <a:effectLst/>
                <a:uFillTx/>
                <a:latin typeface="Aptos"/>
                <a:ea typeface="Aptos"/>
              </a:rPr>
              <a:t>★★★★★</a:t>
            </a:r>
            <a:endParaRPr b="0" lang="ru-RU" sz="1100" strike="noStrike" u="none">
              <a:solidFill>
                <a:srgbClr val="ffffff"/>
              </a:solidFill>
              <a:effectLst/>
              <a:uFillTx/>
              <a:latin typeface="Arial"/>
            </a:endParaRPr>
          </a:p>
        </p:txBody>
      </p:sp>
      <p:sp>
        <p:nvSpPr>
          <p:cNvPr id="521" name="Shape 16"/>
          <p:cNvSpPr/>
          <p:nvPr/>
        </p:nvSpPr>
        <p:spPr>
          <a:xfrm>
            <a:off x="567000" y="3264480"/>
            <a:ext cx="5321520" cy="1069560"/>
          </a:xfrm>
          <a:prstGeom prst="roundRect">
            <a:avLst>
              <a:gd name="adj" fmla="val 13675"/>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22" name="Shape 17"/>
          <p:cNvSpPr/>
          <p:nvPr/>
        </p:nvSpPr>
        <p:spPr>
          <a:xfrm>
            <a:off x="731520" y="3474720"/>
            <a:ext cx="383760" cy="383760"/>
          </a:xfrm>
          <a:prstGeom prst="ellipse">
            <a:avLst/>
          </a:prstGeom>
          <a:solidFill>
            <a:srgbClr val="3bd6e8">
              <a:alpha val="18000"/>
            </a:srgbClr>
          </a:solidFill>
          <a:ln w="15240">
            <a:solidFill>
              <a:srgbClr val="3bd6e8"/>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523" name="Text 18"/>
          <p:cNvSpPr/>
          <p:nvPr/>
        </p:nvSpPr>
        <p:spPr>
          <a:xfrm>
            <a:off x="731520" y="348372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3bd6e8"/>
                </a:solidFill>
                <a:effectLst/>
                <a:uFillTx/>
                <a:latin typeface="Aptos"/>
                <a:ea typeface="Aptos"/>
              </a:rPr>
              <a:t>3</a:t>
            </a:r>
            <a:endParaRPr b="0" lang="ru-RU" sz="1500" strike="noStrike" u="none">
              <a:solidFill>
                <a:srgbClr val="ffffff"/>
              </a:solidFill>
              <a:effectLst/>
              <a:uFillTx/>
              <a:latin typeface="Arial"/>
            </a:endParaRPr>
          </a:p>
        </p:txBody>
      </p:sp>
      <p:sp>
        <p:nvSpPr>
          <p:cNvPr id="524" name="Text 19"/>
          <p:cNvSpPr/>
          <p:nvPr/>
        </p:nvSpPr>
        <p:spPr>
          <a:xfrm>
            <a:off x="1280160" y="3429000"/>
            <a:ext cx="2239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Finance / trading</a:t>
            </a:r>
            <a:endParaRPr b="0" lang="ru-RU" sz="1200" strike="noStrike" u="none">
              <a:solidFill>
                <a:srgbClr val="ffffff"/>
              </a:solidFill>
              <a:effectLst/>
              <a:uFillTx/>
              <a:latin typeface="Arial"/>
            </a:endParaRPr>
          </a:p>
        </p:txBody>
      </p:sp>
      <p:sp>
        <p:nvSpPr>
          <p:cNvPr id="525" name="Text 20"/>
          <p:cNvSpPr/>
          <p:nvPr/>
        </p:nvSpPr>
        <p:spPr>
          <a:xfrm>
            <a:off x="1280160" y="3749040"/>
            <a:ext cx="34743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Fraud, AML, private research, strategies, signing keys</a:t>
            </a:r>
            <a:endParaRPr b="0" lang="ru-RU" sz="980" strike="noStrike" u="none">
              <a:solidFill>
                <a:srgbClr val="ffffff"/>
              </a:solidFill>
              <a:effectLst/>
              <a:uFillTx/>
              <a:latin typeface="Arial"/>
            </a:endParaRPr>
          </a:p>
        </p:txBody>
      </p:sp>
      <p:sp>
        <p:nvSpPr>
          <p:cNvPr id="526" name="Text 21"/>
          <p:cNvSpPr/>
          <p:nvPr/>
        </p:nvSpPr>
        <p:spPr>
          <a:xfrm>
            <a:off x="4883040" y="3429000"/>
            <a:ext cx="776880" cy="228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100" strike="noStrike" u="none">
                <a:solidFill>
                  <a:srgbClr val="3bd6e8"/>
                </a:solidFill>
                <a:effectLst/>
                <a:uFillTx/>
                <a:latin typeface="Aptos"/>
                <a:ea typeface="Aptos"/>
              </a:rPr>
              <a:t>★★★★★</a:t>
            </a:r>
            <a:endParaRPr b="0" lang="ru-RU" sz="1100" strike="noStrike" u="none">
              <a:solidFill>
                <a:srgbClr val="ffffff"/>
              </a:solidFill>
              <a:effectLst/>
              <a:uFillTx/>
              <a:latin typeface="Arial"/>
            </a:endParaRPr>
          </a:p>
        </p:txBody>
      </p:sp>
      <p:sp>
        <p:nvSpPr>
          <p:cNvPr id="527" name="Shape 22"/>
          <p:cNvSpPr/>
          <p:nvPr/>
        </p:nvSpPr>
        <p:spPr>
          <a:xfrm>
            <a:off x="6172200" y="3264480"/>
            <a:ext cx="5321520" cy="1069560"/>
          </a:xfrm>
          <a:prstGeom prst="roundRect">
            <a:avLst>
              <a:gd name="adj" fmla="val 13675"/>
            </a:avLst>
          </a:prstGeom>
          <a:solidFill>
            <a:srgbClr val="162337"/>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28" name="Shape 23"/>
          <p:cNvSpPr/>
          <p:nvPr/>
        </p:nvSpPr>
        <p:spPr>
          <a:xfrm>
            <a:off x="6336720" y="3474720"/>
            <a:ext cx="383760" cy="383760"/>
          </a:xfrm>
          <a:prstGeom prst="ellipse">
            <a:avLst/>
          </a:prstGeom>
          <a:solidFill>
            <a:srgbClr val="ffd166">
              <a:alpha val="18000"/>
            </a:srgbClr>
          </a:solidFill>
          <a:ln w="15240">
            <a:solidFill>
              <a:srgbClr val="ffd166"/>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529" name="Text 24"/>
          <p:cNvSpPr/>
          <p:nvPr/>
        </p:nvSpPr>
        <p:spPr>
          <a:xfrm>
            <a:off x="6336720" y="348372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d166"/>
                </a:solidFill>
                <a:effectLst/>
                <a:uFillTx/>
                <a:latin typeface="Aptos"/>
                <a:ea typeface="Aptos"/>
              </a:rPr>
              <a:t>4</a:t>
            </a:r>
            <a:endParaRPr b="0" lang="ru-RU" sz="1500" strike="noStrike" u="none">
              <a:solidFill>
                <a:srgbClr val="ffffff"/>
              </a:solidFill>
              <a:effectLst/>
              <a:uFillTx/>
              <a:latin typeface="Arial"/>
            </a:endParaRPr>
          </a:p>
        </p:txBody>
      </p:sp>
      <p:sp>
        <p:nvSpPr>
          <p:cNvPr id="530" name="Text 25"/>
          <p:cNvSpPr/>
          <p:nvPr/>
        </p:nvSpPr>
        <p:spPr>
          <a:xfrm>
            <a:off x="6885360" y="3429000"/>
            <a:ext cx="2239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AI agents</a:t>
            </a:r>
            <a:endParaRPr b="0" lang="ru-RU" sz="1200" strike="noStrike" u="none">
              <a:solidFill>
                <a:srgbClr val="ffffff"/>
              </a:solidFill>
              <a:effectLst/>
              <a:uFillTx/>
              <a:latin typeface="Arial"/>
            </a:endParaRPr>
          </a:p>
        </p:txBody>
      </p:sp>
      <p:sp>
        <p:nvSpPr>
          <p:cNvPr id="531" name="Text 26"/>
          <p:cNvSpPr/>
          <p:nvPr/>
        </p:nvSpPr>
        <p:spPr>
          <a:xfrm>
            <a:off x="6885360" y="3749040"/>
            <a:ext cx="34743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Enterprise tools, credentials, autonomous workflows</a:t>
            </a:r>
            <a:endParaRPr b="0" lang="ru-RU" sz="980" strike="noStrike" u="none">
              <a:solidFill>
                <a:srgbClr val="ffffff"/>
              </a:solidFill>
              <a:effectLst/>
              <a:uFillTx/>
              <a:latin typeface="Arial"/>
            </a:endParaRPr>
          </a:p>
        </p:txBody>
      </p:sp>
      <p:sp>
        <p:nvSpPr>
          <p:cNvPr id="532" name="Text 27"/>
          <p:cNvSpPr/>
          <p:nvPr/>
        </p:nvSpPr>
        <p:spPr>
          <a:xfrm>
            <a:off x="10488240" y="3429000"/>
            <a:ext cx="776880" cy="228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100" strike="noStrike" u="none">
                <a:solidFill>
                  <a:srgbClr val="ffd166"/>
                </a:solidFill>
                <a:effectLst/>
                <a:uFillTx/>
                <a:latin typeface="Aptos"/>
                <a:ea typeface="Aptos"/>
              </a:rPr>
              <a:t>★★★★★</a:t>
            </a:r>
            <a:endParaRPr b="0" lang="ru-RU" sz="1100" strike="noStrike" u="none">
              <a:solidFill>
                <a:srgbClr val="ffffff"/>
              </a:solidFill>
              <a:effectLst/>
              <a:uFillTx/>
              <a:latin typeface="Arial"/>
            </a:endParaRPr>
          </a:p>
        </p:txBody>
      </p:sp>
      <p:sp>
        <p:nvSpPr>
          <p:cNvPr id="533" name="Shape 28"/>
          <p:cNvSpPr/>
          <p:nvPr/>
        </p:nvSpPr>
        <p:spPr>
          <a:xfrm>
            <a:off x="567000" y="4572000"/>
            <a:ext cx="5321520" cy="1069560"/>
          </a:xfrm>
          <a:prstGeom prst="roundRect">
            <a:avLst>
              <a:gd name="adj" fmla="val 13675"/>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34" name="Shape 29"/>
          <p:cNvSpPr/>
          <p:nvPr/>
        </p:nvSpPr>
        <p:spPr>
          <a:xfrm>
            <a:off x="731520" y="4782240"/>
            <a:ext cx="383760" cy="383760"/>
          </a:xfrm>
          <a:prstGeom prst="ellipse">
            <a:avLst/>
          </a:prstGeom>
          <a:solidFill>
            <a:srgbClr val="71a7ff">
              <a:alpha val="18000"/>
            </a:srgbClr>
          </a:solidFill>
          <a:ln w="15240">
            <a:solidFill>
              <a:srgbClr val="71a7ff"/>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535" name="Text 30"/>
          <p:cNvSpPr/>
          <p:nvPr/>
        </p:nvSpPr>
        <p:spPr>
          <a:xfrm>
            <a:off x="731520" y="479160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71a7ff"/>
                </a:solidFill>
                <a:effectLst/>
                <a:uFillTx/>
                <a:latin typeface="Aptos"/>
                <a:ea typeface="Aptos"/>
              </a:rPr>
              <a:t>5</a:t>
            </a:r>
            <a:endParaRPr b="0" lang="ru-RU" sz="1500" strike="noStrike" u="none">
              <a:solidFill>
                <a:srgbClr val="ffffff"/>
              </a:solidFill>
              <a:effectLst/>
              <a:uFillTx/>
              <a:latin typeface="Arial"/>
            </a:endParaRPr>
          </a:p>
        </p:txBody>
      </p:sp>
      <p:sp>
        <p:nvSpPr>
          <p:cNvPr id="536" name="Text 31"/>
          <p:cNvSpPr/>
          <p:nvPr/>
        </p:nvSpPr>
        <p:spPr>
          <a:xfrm>
            <a:off x="1280160" y="4736520"/>
            <a:ext cx="2239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Cryptography / Web3</a:t>
            </a:r>
            <a:endParaRPr b="0" lang="ru-RU" sz="1200" strike="noStrike" u="none">
              <a:solidFill>
                <a:srgbClr val="ffffff"/>
              </a:solidFill>
              <a:effectLst/>
              <a:uFillTx/>
              <a:latin typeface="Arial"/>
            </a:endParaRPr>
          </a:p>
        </p:txBody>
      </p:sp>
      <p:sp>
        <p:nvSpPr>
          <p:cNvPr id="537" name="Text 32"/>
          <p:cNvSpPr/>
          <p:nvPr/>
        </p:nvSpPr>
        <p:spPr>
          <a:xfrm>
            <a:off x="1280160" y="5056560"/>
            <a:ext cx="34743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MPC, threshold shares, wallets, validators</a:t>
            </a:r>
            <a:endParaRPr b="0" lang="ru-RU" sz="980" strike="noStrike" u="none">
              <a:solidFill>
                <a:srgbClr val="ffffff"/>
              </a:solidFill>
              <a:effectLst/>
              <a:uFillTx/>
              <a:latin typeface="Arial"/>
            </a:endParaRPr>
          </a:p>
        </p:txBody>
      </p:sp>
      <p:sp>
        <p:nvSpPr>
          <p:cNvPr id="538" name="Text 33"/>
          <p:cNvSpPr/>
          <p:nvPr/>
        </p:nvSpPr>
        <p:spPr>
          <a:xfrm>
            <a:off x="4883040" y="4736520"/>
            <a:ext cx="776880" cy="228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100" strike="noStrike" u="none">
                <a:solidFill>
                  <a:srgbClr val="71a7ff"/>
                </a:solidFill>
                <a:effectLst/>
                <a:uFillTx/>
                <a:latin typeface="Aptos"/>
                <a:ea typeface="Aptos"/>
              </a:rPr>
              <a:t>★★★★☆</a:t>
            </a:r>
            <a:endParaRPr b="0" lang="ru-RU" sz="1100" strike="noStrike" u="none">
              <a:solidFill>
                <a:srgbClr val="ffffff"/>
              </a:solidFill>
              <a:effectLst/>
              <a:uFillTx/>
              <a:latin typeface="Arial"/>
            </a:endParaRPr>
          </a:p>
        </p:txBody>
      </p:sp>
      <p:sp>
        <p:nvSpPr>
          <p:cNvPr id="539" name="Shape 34"/>
          <p:cNvSpPr/>
          <p:nvPr/>
        </p:nvSpPr>
        <p:spPr>
          <a:xfrm>
            <a:off x="6172200" y="4572000"/>
            <a:ext cx="5321520" cy="1069560"/>
          </a:xfrm>
          <a:prstGeom prst="roundRect">
            <a:avLst>
              <a:gd name="adj" fmla="val 13675"/>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40" name="Shape 35"/>
          <p:cNvSpPr/>
          <p:nvPr/>
        </p:nvSpPr>
        <p:spPr>
          <a:xfrm>
            <a:off x="6336720" y="4782240"/>
            <a:ext cx="383760" cy="383760"/>
          </a:xfrm>
          <a:prstGeom prst="ellipse">
            <a:avLst/>
          </a:prstGeom>
          <a:solidFill>
            <a:srgbClr val="ff8a5c">
              <a:alpha val="18000"/>
            </a:srgbClr>
          </a:solidFill>
          <a:ln w="15240">
            <a:solidFill>
              <a:srgbClr val="ff8a5c"/>
            </a:solidFill>
            <a:round/>
          </a:ln>
        </p:spPr>
        <p:style>
          <a:lnRef idx="0"/>
          <a:fillRef idx="0"/>
          <a:effectRef idx="0"/>
          <a:fontRef idx="minor"/>
        </p:style>
        <p:txBody>
          <a:bodyPr lIns="90000" rIns="90000" tIns="45000" bIns="45000" anchor="t">
            <a:noAutofit/>
          </a:bodyPr>
          <a:p>
            <a:endParaRPr b="0" lang="ru-RU" sz="1800" strike="noStrike" u="none">
              <a:solidFill>
                <a:srgbClr val="000000"/>
              </a:solidFill>
              <a:effectLst/>
              <a:uFillTx/>
              <a:latin typeface="Arial"/>
            </a:endParaRPr>
          </a:p>
        </p:txBody>
      </p:sp>
      <p:sp>
        <p:nvSpPr>
          <p:cNvPr id="541" name="Text 36"/>
          <p:cNvSpPr/>
          <p:nvPr/>
        </p:nvSpPr>
        <p:spPr>
          <a:xfrm>
            <a:off x="6336720" y="4791600"/>
            <a:ext cx="3837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ff8a5c"/>
                </a:solidFill>
                <a:effectLst/>
                <a:uFillTx/>
                <a:latin typeface="Aptos"/>
                <a:ea typeface="Aptos"/>
              </a:rPr>
              <a:t>6</a:t>
            </a:r>
            <a:endParaRPr b="0" lang="ru-RU" sz="1500" strike="noStrike" u="none">
              <a:solidFill>
                <a:srgbClr val="ffffff"/>
              </a:solidFill>
              <a:effectLst/>
              <a:uFillTx/>
              <a:latin typeface="Arial"/>
            </a:endParaRPr>
          </a:p>
        </p:txBody>
      </p:sp>
      <p:sp>
        <p:nvSpPr>
          <p:cNvPr id="542" name="Text 37"/>
          <p:cNvSpPr/>
          <p:nvPr/>
        </p:nvSpPr>
        <p:spPr>
          <a:xfrm>
            <a:off x="6885360" y="4736520"/>
            <a:ext cx="2239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f5f7fa"/>
                </a:solidFill>
                <a:effectLst/>
                <a:uFillTx/>
                <a:latin typeface="Aptos"/>
                <a:ea typeface="Aptos"/>
              </a:rPr>
              <a:t>Proprietary model serving</a:t>
            </a:r>
            <a:endParaRPr b="0" lang="ru-RU" sz="1200" strike="noStrike" u="none">
              <a:solidFill>
                <a:srgbClr val="ffffff"/>
              </a:solidFill>
              <a:effectLst/>
              <a:uFillTx/>
              <a:latin typeface="Arial"/>
            </a:endParaRPr>
          </a:p>
        </p:txBody>
      </p:sp>
      <p:sp>
        <p:nvSpPr>
          <p:cNvPr id="543" name="Text 38"/>
          <p:cNvSpPr/>
          <p:nvPr/>
        </p:nvSpPr>
        <p:spPr>
          <a:xfrm>
            <a:off x="6885360" y="5056560"/>
            <a:ext cx="34743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trike="noStrike" u="none">
                <a:solidFill>
                  <a:srgbClr val="d8e2ef"/>
                </a:solidFill>
                <a:effectLst/>
                <a:uFillTx/>
                <a:latin typeface="Aptos"/>
                <a:ea typeface="Aptos"/>
              </a:rPr>
              <a:t>Model IP protection for hosted inference</a:t>
            </a:r>
            <a:endParaRPr b="0" lang="ru-RU" sz="980" strike="noStrike" u="none">
              <a:solidFill>
                <a:srgbClr val="ffffff"/>
              </a:solidFill>
              <a:effectLst/>
              <a:uFillTx/>
              <a:latin typeface="Arial"/>
            </a:endParaRPr>
          </a:p>
        </p:txBody>
      </p:sp>
      <p:sp>
        <p:nvSpPr>
          <p:cNvPr id="544" name="Text 39"/>
          <p:cNvSpPr/>
          <p:nvPr/>
        </p:nvSpPr>
        <p:spPr>
          <a:xfrm>
            <a:off x="10488240" y="4736520"/>
            <a:ext cx="776880" cy="228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100" strike="noStrike" u="none">
                <a:solidFill>
                  <a:srgbClr val="ff8a5c"/>
                </a:solidFill>
                <a:effectLst/>
                <a:uFillTx/>
                <a:latin typeface="Aptos"/>
                <a:ea typeface="Aptos"/>
              </a:rPr>
              <a:t>★★★★☆</a:t>
            </a:r>
            <a:endParaRPr b="0" lang="ru-RU" sz="1100" strike="noStrike" u="none">
              <a:solidFill>
                <a:srgbClr val="ffffff"/>
              </a:solidFill>
              <a:effectLst/>
              <a:uFillTx/>
              <a:latin typeface="Arial"/>
            </a:endParaRPr>
          </a:p>
        </p:txBody>
      </p:sp>
      <p:sp>
        <p:nvSpPr>
          <p:cNvPr id="545" name="Text 40"/>
          <p:cNvSpPr/>
          <p:nvPr/>
        </p:nvSpPr>
        <p:spPr>
          <a:xfrm>
            <a:off x="658440" y="5970960"/>
            <a:ext cx="10606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f5f7fa"/>
                </a:solidFill>
                <a:effectLst/>
                <a:uFillTx/>
                <a:latin typeface="Aptos"/>
                <a:ea typeface="Aptos"/>
              </a:rPr>
              <a:t>Cerebras already cites medical research, cryptography, energy and agentic AI among the domains using its systems.</a:t>
            </a:r>
            <a:endParaRPr b="0" lang="ru-RU" sz="1120" strike="noStrike" u="none">
              <a:solidFill>
                <a:srgbClr val="ffffff"/>
              </a:solidFill>
              <a:effectLst/>
              <a:uFillTx/>
              <a:latin typeface="Arial"/>
            </a:endParaRPr>
          </a:p>
        </p:txBody>
      </p:sp>
      <p:sp>
        <p:nvSpPr>
          <p:cNvPr id="546" name="Text 41"/>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Source: Cerebras company materials (current domains include medical research, cryptography, energy and agentic AI); sovereign AI materials.</a:t>
            </a:r>
            <a:endParaRPr b="0" lang="ru-RU" sz="660" strike="noStrike" u="none">
              <a:solidFill>
                <a:srgbClr val="ffffff"/>
              </a:solidFill>
              <a:effectLst/>
              <a:uFillTx/>
              <a:latin typeface="Arial"/>
            </a:endParaRPr>
          </a:p>
        </p:txBody>
      </p:sp>
      <p:sp>
        <p:nvSpPr>
          <p:cNvPr id="547" name="PlaceHolder 1"/>
          <p:cNvSpPr>
            <a:spLocks noGrp="1"/>
          </p:cNvSpPr>
          <p:nvPr>
            <p:ph type="sldNum" idx="16"/>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BC85F0E1-333E-4D5E-BF7B-60AF96626754}"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12 • COMPETITIVE POSITION</a:t>
            </a:r>
            <a:endParaRPr b="0" lang="ru-RU" sz="1000" strike="noStrike" u="none">
              <a:solidFill>
                <a:srgbClr val="ffffff"/>
              </a:solidFill>
              <a:effectLst/>
              <a:uFillTx/>
              <a:latin typeface="Arial"/>
            </a:endParaRPr>
          </a:p>
        </p:txBody>
      </p:sp>
      <p:sp>
        <p:nvSpPr>
          <p:cNvPr id="549"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2900" strike="noStrike" u="none">
                <a:solidFill>
                  <a:srgbClr val="f5f7fa"/>
                </a:solidFill>
                <a:effectLst/>
                <a:uFillTx/>
                <a:latin typeface="Aptos"/>
                <a:ea typeface="Aptos"/>
              </a:rPr>
              <a:t>Do not copy the GPU TEE. Create the wafer-scale TEE category.</a:t>
            </a:r>
            <a:endParaRPr b="0" lang="ru-RU" sz="2900" strike="noStrike" u="none">
              <a:solidFill>
                <a:srgbClr val="ffffff"/>
              </a:solidFill>
              <a:effectLst/>
              <a:uFillTx/>
              <a:latin typeface="Arial"/>
            </a:endParaRPr>
          </a:p>
        </p:txBody>
      </p:sp>
      <p:sp>
        <p:nvSpPr>
          <p:cNvPr id="550"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The differentiator is the security architecture of the computing fabric itself.</a:t>
            </a:r>
            <a:endParaRPr b="0" lang="ru-RU" sz="1250" strike="noStrike" u="none">
              <a:solidFill>
                <a:srgbClr val="ffffff"/>
              </a:solidFill>
              <a:effectLst/>
              <a:uFillTx/>
              <a:latin typeface="Arial"/>
            </a:endParaRPr>
          </a:p>
        </p:txBody>
      </p:sp>
      <p:sp>
        <p:nvSpPr>
          <p:cNvPr id="551"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13</a:t>
            </a:r>
            <a:endParaRPr b="0" lang="ru-RU" sz="1000" strike="noStrike" u="none">
              <a:solidFill>
                <a:srgbClr val="ffffff"/>
              </a:solidFill>
              <a:effectLst/>
              <a:uFillTx/>
              <a:latin typeface="Arial"/>
            </a:endParaRPr>
          </a:p>
        </p:txBody>
      </p:sp>
      <p:sp>
        <p:nvSpPr>
          <p:cNvPr id="552" name="Shape 4"/>
          <p:cNvSpPr/>
          <p:nvPr/>
        </p:nvSpPr>
        <p:spPr>
          <a:xfrm>
            <a:off x="640080" y="1938600"/>
            <a:ext cx="2614680" cy="658080"/>
          </a:xfrm>
          <a:prstGeom prst="roundRect">
            <a:avLst>
              <a:gd name="adj" fmla="val 22222"/>
            </a:avLst>
          </a:prstGeom>
          <a:solidFill>
            <a:srgbClr val="121f31"/>
          </a:solidFill>
          <a:ln w="12700">
            <a:solidFill>
              <a:srgbClr val="3bd6e8"/>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53" name="Text 5"/>
          <p:cNvSpPr/>
          <p:nvPr/>
        </p:nvSpPr>
        <p:spPr>
          <a:xfrm>
            <a:off x="804600" y="2130480"/>
            <a:ext cx="2267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3bd6e8"/>
                </a:solidFill>
                <a:effectLst/>
                <a:uFillTx/>
                <a:latin typeface="Aptos"/>
                <a:ea typeface="Aptos"/>
              </a:rPr>
              <a:t>Baseline</a:t>
            </a:r>
            <a:endParaRPr b="0" lang="ru-RU" sz="1200" strike="noStrike" u="none">
              <a:solidFill>
                <a:srgbClr val="ffffff"/>
              </a:solidFill>
              <a:effectLst/>
              <a:uFillTx/>
              <a:latin typeface="Arial"/>
            </a:endParaRPr>
          </a:p>
        </p:txBody>
      </p:sp>
      <p:sp>
        <p:nvSpPr>
          <p:cNvPr id="554" name="Text 6"/>
          <p:cNvSpPr/>
          <p:nvPr/>
        </p:nvSpPr>
        <p:spPr>
          <a:xfrm>
            <a:off x="804600" y="2395800"/>
            <a:ext cx="226728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70" strike="noStrike" u="none">
                <a:solidFill>
                  <a:srgbClr val="d8e2ef"/>
                </a:solidFill>
                <a:effectLst/>
                <a:uFillTx/>
                <a:latin typeface="Aptos"/>
                <a:ea typeface="Aptos"/>
              </a:rPr>
              <a:t>CPU confidential VM</a:t>
            </a:r>
            <a:endParaRPr b="0" lang="ru-RU" sz="870" strike="noStrike" u="none">
              <a:solidFill>
                <a:srgbClr val="ffffff"/>
              </a:solidFill>
              <a:effectLst/>
              <a:uFillTx/>
              <a:latin typeface="Arial"/>
            </a:endParaRPr>
          </a:p>
        </p:txBody>
      </p:sp>
      <p:sp>
        <p:nvSpPr>
          <p:cNvPr id="555" name="Shape 7"/>
          <p:cNvSpPr/>
          <p:nvPr/>
        </p:nvSpPr>
        <p:spPr>
          <a:xfrm>
            <a:off x="3657600" y="1938600"/>
            <a:ext cx="2614680" cy="658080"/>
          </a:xfrm>
          <a:prstGeom prst="roundRect">
            <a:avLst>
              <a:gd name="adj" fmla="val 22222"/>
            </a:avLst>
          </a:prstGeom>
          <a:solidFill>
            <a:srgbClr val="121f31"/>
          </a:solidFill>
          <a:ln w="12700">
            <a:solidFill>
              <a:srgbClr val="5fe1a0"/>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56" name="Text 8"/>
          <p:cNvSpPr/>
          <p:nvPr/>
        </p:nvSpPr>
        <p:spPr>
          <a:xfrm>
            <a:off x="3822120" y="2130480"/>
            <a:ext cx="2267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5fe1a0"/>
                </a:solidFill>
                <a:effectLst/>
                <a:uFillTx/>
                <a:latin typeface="Aptos"/>
                <a:ea typeface="Aptos"/>
              </a:rPr>
              <a:t>Accelerator CC</a:t>
            </a:r>
            <a:endParaRPr b="0" lang="ru-RU" sz="1200" strike="noStrike" u="none">
              <a:solidFill>
                <a:srgbClr val="ffffff"/>
              </a:solidFill>
              <a:effectLst/>
              <a:uFillTx/>
              <a:latin typeface="Arial"/>
            </a:endParaRPr>
          </a:p>
        </p:txBody>
      </p:sp>
      <p:sp>
        <p:nvSpPr>
          <p:cNvPr id="557" name="Text 9"/>
          <p:cNvSpPr/>
          <p:nvPr/>
        </p:nvSpPr>
        <p:spPr>
          <a:xfrm>
            <a:off x="3822120" y="2395800"/>
            <a:ext cx="226728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70" strike="noStrike" u="none">
                <a:solidFill>
                  <a:srgbClr val="d8e2ef"/>
                </a:solidFill>
                <a:effectLst/>
                <a:uFillTx/>
                <a:latin typeface="Aptos"/>
                <a:ea typeface="Aptos"/>
              </a:rPr>
              <a:t>GPU + TEE</a:t>
            </a:r>
            <a:endParaRPr b="0" lang="ru-RU" sz="870" strike="noStrike" u="none">
              <a:solidFill>
                <a:srgbClr val="ffffff"/>
              </a:solidFill>
              <a:effectLst/>
              <a:uFillTx/>
              <a:latin typeface="Arial"/>
            </a:endParaRPr>
          </a:p>
        </p:txBody>
      </p:sp>
      <p:sp>
        <p:nvSpPr>
          <p:cNvPr id="558" name="Shape 10"/>
          <p:cNvSpPr/>
          <p:nvPr/>
        </p:nvSpPr>
        <p:spPr>
          <a:xfrm>
            <a:off x="6656760" y="1938600"/>
            <a:ext cx="2614680" cy="658080"/>
          </a:xfrm>
          <a:prstGeom prst="roundRect">
            <a:avLst>
              <a:gd name="adj" fmla="val 22222"/>
            </a:avLst>
          </a:prstGeom>
          <a:solidFill>
            <a:srgbClr val="121f31"/>
          </a:solidFill>
          <a:ln w="12700">
            <a:solidFill>
              <a:srgbClr val="ff6b35"/>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59" name="Text 11"/>
          <p:cNvSpPr/>
          <p:nvPr/>
        </p:nvSpPr>
        <p:spPr>
          <a:xfrm>
            <a:off x="6821280" y="2130480"/>
            <a:ext cx="2267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6b35"/>
                </a:solidFill>
                <a:effectLst/>
                <a:uFillTx/>
                <a:latin typeface="Aptos"/>
                <a:ea typeface="Aptos"/>
              </a:rPr>
              <a:t>C-CCA</a:t>
            </a:r>
            <a:endParaRPr b="0" lang="ru-RU" sz="1200" strike="noStrike" u="none">
              <a:solidFill>
                <a:srgbClr val="ffffff"/>
              </a:solidFill>
              <a:effectLst/>
              <a:uFillTx/>
              <a:latin typeface="Arial"/>
            </a:endParaRPr>
          </a:p>
        </p:txBody>
      </p:sp>
      <p:sp>
        <p:nvSpPr>
          <p:cNvPr id="560" name="Text 12"/>
          <p:cNvSpPr/>
          <p:nvPr/>
        </p:nvSpPr>
        <p:spPr>
          <a:xfrm>
            <a:off x="6821280" y="2395800"/>
            <a:ext cx="226728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70" strike="noStrike" u="none">
                <a:solidFill>
                  <a:srgbClr val="d8e2ef"/>
                </a:solidFill>
                <a:effectLst/>
                <a:uFillTx/>
                <a:latin typeface="Aptos"/>
                <a:ea typeface="Aptos"/>
              </a:rPr>
              <a:t>CPU + WSE composite</a:t>
            </a:r>
            <a:endParaRPr b="0" lang="ru-RU" sz="870" strike="noStrike" u="none">
              <a:solidFill>
                <a:srgbClr val="ffffff"/>
              </a:solidFill>
              <a:effectLst/>
              <a:uFillTx/>
              <a:latin typeface="Arial"/>
            </a:endParaRPr>
          </a:p>
        </p:txBody>
      </p:sp>
      <p:sp>
        <p:nvSpPr>
          <p:cNvPr id="561" name="Shape 13"/>
          <p:cNvSpPr/>
          <p:nvPr/>
        </p:nvSpPr>
        <p:spPr>
          <a:xfrm>
            <a:off x="9253800" y="1938600"/>
            <a:ext cx="2304000" cy="658080"/>
          </a:xfrm>
          <a:prstGeom prst="roundRect">
            <a:avLst>
              <a:gd name="adj" fmla="val 22222"/>
            </a:avLst>
          </a:prstGeom>
          <a:solidFill>
            <a:srgbClr val="121f31"/>
          </a:solidFill>
          <a:ln w="12700">
            <a:solidFill>
              <a:srgbClr val="ffd166"/>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62" name="Text 14"/>
          <p:cNvSpPr/>
          <p:nvPr/>
        </p:nvSpPr>
        <p:spPr>
          <a:xfrm>
            <a:off x="9418320" y="2130480"/>
            <a:ext cx="19382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d166"/>
                </a:solidFill>
                <a:effectLst/>
                <a:uFillTx/>
                <a:latin typeface="Aptos"/>
                <a:ea typeface="Aptos"/>
              </a:rPr>
              <a:t>Outcome</a:t>
            </a:r>
            <a:endParaRPr b="0" lang="ru-RU" sz="1200" strike="noStrike" u="none">
              <a:solidFill>
                <a:srgbClr val="ffffff"/>
              </a:solidFill>
              <a:effectLst/>
              <a:uFillTx/>
              <a:latin typeface="Arial"/>
            </a:endParaRPr>
          </a:p>
        </p:txBody>
      </p:sp>
      <p:sp>
        <p:nvSpPr>
          <p:cNvPr id="563" name="Text 15"/>
          <p:cNvSpPr/>
          <p:nvPr/>
        </p:nvSpPr>
        <p:spPr>
          <a:xfrm>
            <a:off x="9418320" y="2395800"/>
            <a:ext cx="193824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70" strike="noStrike" u="none">
                <a:solidFill>
                  <a:srgbClr val="d8e2ef"/>
                </a:solidFill>
                <a:effectLst/>
                <a:uFillTx/>
                <a:latin typeface="Aptos"/>
                <a:ea typeface="Aptos"/>
              </a:rPr>
              <a:t>New category</a:t>
            </a:r>
            <a:endParaRPr b="0" lang="ru-RU" sz="870" strike="noStrike" u="none">
              <a:solidFill>
                <a:srgbClr val="ffffff"/>
              </a:solidFill>
              <a:effectLst/>
              <a:uFillTx/>
              <a:latin typeface="Arial"/>
            </a:endParaRPr>
          </a:p>
        </p:txBody>
      </p:sp>
      <p:sp>
        <p:nvSpPr>
          <p:cNvPr id="564" name="Shape 16"/>
          <p:cNvSpPr/>
          <p:nvPr/>
        </p:nvSpPr>
        <p:spPr>
          <a:xfrm>
            <a:off x="640080" y="2862000"/>
            <a:ext cx="10926720" cy="347040"/>
          </a:xfrm>
          <a:prstGeom prst="roundRect">
            <a:avLst>
              <a:gd name="adj" fmla="val 42105"/>
            </a:avLst>
          </a:prstGeom>
          <a:solidFill>
            <a:srgbClr val="121c2e"/>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65" name="Text 17"/>
          <p:cNvSpPr/>
          <p:nvPr/>
        </p:nvSpPr>
        <p:spPr>
          <a:xfrm>
            <a:off x="841320" y="2935080"/>
            <a:ext cx="27428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70" strike="noStrike" u="none">
                <a:solidFill>
                  <a:srgbClr val="f5f7fa"/>
                </a:solidFill>
                <a:effectLst/>
                <a:uFillTx/>
                <a:latin typeface="Aptos"/>
                <a:ea typeface="Aptos"/>
              </a:rPr>
              <a:t>VM memory confidentiality</a:t>
            </a:r>
            <a:endParaRPr b="0" lang="ru-RU" sz="970" strike="noStrike" u="none">
              <a:solidFill>
                <a:srgbClr val="ffffff"/>
              </a:solidFill>
              <a:effectLst/>
              <a:uFillTx/>
              <a:latin typeface="Arial"/>
            </a:endParaRPr>
          </a:p>
        </p:txBody>
      </p:sp>
      <p:sp>
        <p:nvSpPr>
          <p:cNvPr id="566" name="Text 18"/>
          <p:cNvSpPr/>
          <p:nvPr/>
        </p:nvSpPr>
        <p:spPr>
          <a:xfrm>
            <a:off x="3858840" y="2935080"/>
            <a:ext cx="223992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5fe1a0"/>
                </a:solidFill>
                <a:effectLst/>
                <a:uFillTx/>
                <a:latin typeface="Aptos"/>
                <a:ea typeface="Aptos"/>
              </a:rPr>
              <a:t>✓</a:t>
            </a:r>
            <a:endParaRPr b="0" lang="ru-RU" sz="1000" strike="noStrike" u="none">
              <a:solidFill>
                <a:srgbClr val="ffffff"/>
              </a:solidFill>
              <a:effectLst/>
              <a:uFillTx/>
              <a:latin typeface="Arial"/>
            </a:endParaRPr>
          </a:p>
        </p:txBody>
      </p:sp>
      <p:sp>
        <p:nvSpPr>
          <p:cNvPr id="567" name="Text 19"/>
          <p:cNvSpPr/>
          <p:nvPr/>
        </p:nvSpPr>
        <p:spPr>
          <a:xfrm>
            <a:off x="6858000" y="2935080"/>
            <a:ext cx="21027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5fe1a0"/>
                </a:solidFill>
                <a:effectLst/>
                <a:uFillTx/>
                <a:latin typeface="Aptos"/>
                <a:ea typeface="Aptos"/>
              </a:rPr>
              <a:t>✓</a:t>
            </a:r>
            <a:endParaRPr b="0" lang="ru-RU" sz="1000" strike="noStrike" u="none">
              <a:solidFill>
                <a:srgbClr val="ffffff"/>
              </a:solidFill>
              <a:effectLst/>
              <a:uFillTx/>
              <a:latin typeface="Arial"/>
            </a:endParaRPr>
          </a:p>
        </p:txBody>
      </p:sp>
      <p:sp>
        <p:nvSpPr>
          <p:cNvPr id="568" name="Text 20"/>
          <p:cNvSpPr/>
          <p:nvPr/>
        </p:nvSpPr>
        <p:spPr>
          <a:xfrm>
            <a:off x="9445680" y="2935080"/>
            <a:ext cx="159984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6b35"/>
                </a:solidFill>
                <a:effectLst/>
                <a:uFillTx/>
                <a:latin typeface="Aptos"/>
                <a:ea typeface="Aptos"/>
              </a:rPr>
              <a:t>✓</a:t>
            </a:r>
            <a:endParaRPr b="0" lang="ru-RU" sz="1000" strike="noStrike" u="none">
              <a:solidFill>
                <a:srgbClr val="ffffff"/>
              </a:solidFill>
              <a:effectLst/>
              <a:uFillTx/>
              <a:latin typeface="Arial"/>
            </a:endParaRPr>
          </a:p>
        </p:txBody>
      </p:sp>
      <p:sp>
        <p:nvSpPr>
          <p:cNvPr id="569" name="Shape 21"/>
          <p:cNvSpPr/>
          <p:nvPr/>
        </p:nvSpPr>
        <p:spPr>
          <a:xfrm>
            <a:off x="640080" y="3291840"/>
            <a:ext cx="10926720" cy="347040"/>
          </a:xfrm>
          <a:prstGeom prst="roundRect">
            <a:avLst>
              <a:gd name="adj" fmla="val 42105"/>
            </a:avLst>
          </a:prstGeom>
          <a:solidFill>
            <a:srgbClr val="162337"/>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70" name="Text 22"/>
          <p:cNvSpPr/>
          <p:nvPr/>
        </p:nvSpPr>
        <p:spPr>
          <a:xfrm>
            <a:off x="841320" y="3364920"/>
            <a:ext cx="27428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70" strike="noStrike" u="none">
                <a:solidFill>
                  <a:srgbClr val="f5f7fa"/>
                </a:solidFill>
                <a:effectLst/>
                <a:uFillTx/>
                <a:latin typeface="Aptos"/>
                <a:ea typeface="Aptos"/>
              </a:rPr>
              <a:t>Accelerator attestation</a:t>
            </a:r>
            <a:endParaRPr b="0" lang="ru-RU" sz="970" strike="noStrike" u="none">
              <a:solidFill>
                <a:srgbClr val="ffffff"/>
              </a:solidFill>
              <a:effectLst/>
              <a:uFillTx/>
              <a:latin typeface="Arial"/>
            </a:endParaRPr>
          </a:p>
        </p:txBody>
      </p:sp>
      <p:sp>
        <p:nvSpPr>
          <p:cNvPr id="571" name="Text 23"/>
          <p:cNvSpPr/>
          <p:nvPr/>
        </p:nvSpPr>
        <p:spPr>
          <a:xfrm>
            <a:off x="3858840" y="3364920"/>
            <a:ext cx="223992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a9b6c8"/>
                </a:solidFill>
                <a:effectLst/>
                <a:uFillTx/>
                <a:latin typeface="Aptos"/>
                <a:ea typeface="Aptos"/>
              </a:rPr>
              <a:t>—</a:t>
            </a:r>
            <a:endParaRPr b="0" lang="ru-RU" sz="1000" strike="noStrike" u="none">
              <a:solidFill>
                <a:srgbClr val="ffffff"/>
              </a:solidFill>
              <a:effectLst/>
              <a:uFillTx/>
              <a:latin typeface="Arial"/>
            </a:endParaRPr>
          </a:p>
        </p:txBody>
      </p:sp>
      <p:sp>
        <p:nvSpPr>
          <p:cNvPr id="572" name="Text 24"/>
          <p:cNvSpPr/>
          <p:nvPr/>
        </p:nvSpPr>
        <p:spPr>
          <a:xfrm>
            <a:off x="6858000" y="3364920"/>
            <a:ext cx="21027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5fe1a0"/>
                </a:solidFill>
                <a:effectLst/>
                <a:uFillTx/>
                <a:latin typeface="Aptos"/>
                <a:ea typeface="Aptos"/>
              </a:rPr>
              <a:t>✓</a:t>
            </a:r>
            <a:endParaRPr b="0" lang="ru-RU" sz="1000" strike="noStrike" u="none">
              <a:solidFill>
                <a:srgbClr val="ffffff"/>
              </a:solidFill>
              <a:effectLst/>
              <a:uFillTx/>
              <a:latin typeface="Arial"/>
            </a:endParaRPr>
          </a:p>
        </p:txBody>
      </p:sp>
      <p:sp>
        <p:nvSpPr>
          <p:cNvPr id="573" name="Text 25"/>
          <p:cNvSpPr/>
          <p:nvPr/>
        </p:nvSpPr>
        <p:spPr>
          <a:xfrm>
            <a:off x="9445680" y="3364920"/>
            <a:ext cx="159984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6b35"/>
                </a:solidFill>
                <a:effectLst/>
                <a:uFillTx/>
                <a:latin typeface="Aptos"/>
                <a:ea typeface="Aptos"/>
              </a:rPr>
              <a:t>✓</a:t>
            </a:r>
            <a:endParaRPr b="0" lang="ru-RU" sz="1000" strike="noStrike" u="none">
              <a:solidFill>
                <a:srgbClr val="ffffff"/>
              </a:solidFill>
              <a:effectLst/>
              <a:uFillTx/>
              <a:latin typeface="Arial"/>
            </a:endParaRPr>
          </a:p>
        </p:txBody>
      </p:sp>
      <p:sp>
        <p:nvSpPr>
          <p:cNvPr id="574" name="Shape 26"/>
          <p:cNvSpPr/>
          <p:nvPr/>
        </p:nvSpPr>
        <p:spPr>
          <a:xfrm>
            <a:off x="640080" y="3721680"/>
            <a:ext cx="10926720" cy="347040"/>
          </a:xfrm>
          <a:prstGeom prst="roundRect">
            <a:avLst>
              <a:gd name="adj" fmla="val 42105"/>
            </a:avLst>
          </a:prstGeom>
          <a:solidFill>
            <a:srgbClr val="121c2e"/>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75" name="Text 27"/>
          <p:cNvSpPr/>
          <p:nvPr/>
        </p:nvSpPr>
        <p:spPr>
          <a:xfrm>
            <a:off x="841320" y="3794760"/>
            <a:ext cx="27428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70" strike="noStrike" u="none">
                <a:solidFill>
                  <a:srgbClr val="f5f7fa"/>
                </a:solidFill>
                <a:effectLst/>
                <a:uFillTx/>
                <a:latin typeface="Aptos"/>
                <a:ea typeface="Aptos"/>
              </a:rPr>
              <a:t>Accelerator protected memory</a:t>
            </a:r>
            <a:endParaRPr b="0" lang="ru-RU" sz="970" strike="noStrike" u="none">
              <a:solidFill>
                <a:srgbClr val="ffffff"/>
              </a:solidFill>
              <a:effectLst/>
              <a:uFillTx/>
              <a:latin typeface="Arial"/>
            </a:endParaRPr>
          </a:p>
        </p:txBody>
      </p:sp>
      <p:sp>
        <p:nvSpPr>
          <p:cNvPr id="576" name="Text 28"/>
          <p:cNvSpPr/>
          <p:nvPr/>
        </p:nvSpPr>
        <p:spPr>
          <a:xfrm>
            <a:off x="3858840" y="3794760"/>
            <a:ext cx="223992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a9b6c8"/>
                </a:solidFill>
                <a:effectLst/>
                <a:uFillTx/>
                <a:latin typeface="Aptos"/>
                <a:ea typeface="Aptos"/>
              </a:rPr>
              <a:t>—</a:t>
            </a:r>
            <a:endParaRPr b="0" lang="ru-RU" sz="1000" strike="noStrike" u="none">
              <a:solidFill>
                <a:srgbClr val="ffffff"/>
              </a:solidFill>
              <a:effectLst/>
              <a:uFillTx/>
              <a:latin typeface="Arial"/>
            </a:endParaRPr>
          </a:p>
        </p:txBody>
      </p:sp>
      <p:sp>
        <p:nvSpPr>
          <p:cNvPr id="577" name="Text 29"/>
          <p:cNvSpPr/>
          <p:nvPr/>
        </p:nvSpPr>
        <p:spPr>
          <a:xfrm>
            <a:off x="6858000" y="3794760"/>
            <a:ext cx="21027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5fe1a0"/>
                </a:solidFill>
                <a:effectLst/>
                <a:uFillTx/>
                <a:latin typeface="Aptos"/>
                <a:ea typeface="Aptos"/>
              </a:rPr>
              <a:t>✓</a:t>
            </a:r>
            <a:endParaRPr b="0" lang="ru-RU" sz="1000" strike="noStrike" u="none">
              <a:solidFill>
                <a:srgbClr val="ffffff"/>
              </a:solidFill>
              <a:effectLst/>
              <a:uFillTx/>
              <a:latin typeface="Arial"/>
            </a:endParaRPr>
          </a:p>
        </p:txBody>
      </p:sp>
      <p:sp>
        <p:nvSpPr>
          <p:cNvPr id="578" name="Text 30"/>
          <p:cNvSpPr/>
          <p:nvPr/>
        </p:nvSpPr>
        <p:spPr>
          <a:xfrm>
            <a:off x="9445680" y="3794760"/>
            <a:ext cx="159984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6b35"/>
                </a:solidFill>
                <a:effectLst/>
                <a:uFillTx/>
                <a:latin typeface="Aptos"/>
                <a:ea typeface="Aptos"/>
              </a:rPr>
              <a:t>✓*</a:t>
            </a:r>
            <a:endParaRPr b="0" lang="ru-RU" sz="1000" strike="noStrike" u="none">
              <a:solidFill>
                <a:srgbClr val="ffffff"/>
              </a:solidFill>
              <a:effectLst/>
              <a:uFillTx/>
              <a:latin typeface="Arial"/>
            </a:endParaRPr>
          </a:p>
        </p:txBody>
      </p:sp>
      <p:sp>
        <p:nvSpPr>
          <p:cNvPr id="579" name="Shape 31"/>
          <p:cNvSpPr/>
          <p:nvPr/>
        </p:nvSpPr>
        <p:spPr>
          <a:xfrm>
            <a:off x="640080" y="4151520"/>
            <a:ext cx="10926720" cy="347040"/>
          </a:xfrm>
          <a:prstGeom prst="roundRect">
            <a:avLst>
              <a:gd name="adj" fmla="val 42105"/>
            </a:avLst>
          </a:prstGeom>
          <a:solidFill>
            <a:srgbClr val="162337"/>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80" name="Text 32"/>
          <p:cNvSpPr/>
          <p:nvPr/>
        </p:nvSpPr>
        <p:spPr>
          <a:xfrm>
            <a:off x="841320" y="4224600"/>
            <a:ext cx="27428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70" strike="noStrike" u="none">
                <a:solidFill>
                  <a:srgbClr val="f5f7fa"/>
                </a:solidFill>
                <a:effectLst/>
                <a:uFillTx/>
                <a:latin typeface="Aptos"/>
                <a:ea typeface="Aptos"/>
              </a:rPr>
              <a:t>Spatial execution-domain isolation</a:t>
            </a:r>
            <a:endParaRPr b="0" lang="ru-RU" sz="970" strike="noStrike" u="none">
              <a:solidFill>
                <a:srgbClr val="ffffff"/>
              </a:solidFill>
              <a:effectLst/>
              <a:uFillTx/>
              <a:latin typeface="Arial"/>
            </a:endParaRPr>
          </a:p>
        </p:txBody>
      </p:sp>
      <p:sp>
        <p:nvSpPr>
          <p:cNvPr id="581" name="Text 33"/>
          <p:cNvSpPr/>
          <p:nvPr/>
        </p:nvSpPr>
        <p:spPr>
          <a:xfrm>
            <a:off x="3858840" y="4224600"/>
            <a:ext cx="223992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a9b6c8"/>
                </a:solidFill>
                <a:effectLst/>
                <a:uFillTx/>
                <a:latin typeface="Aptos"/>
                <a:ea typeface="Aptos"/>
              </a:rPr>
              <a:t>—</a:t>
            </a:r>
            <a:endParaRPr b="0" lang="ru-RU" sz="1000" strike="noStrike" u="none">
              <a:solidFill>
                <a:srgbClr val="ffffff"/>
              </a:solidFill>
              <a:effectLst/>
              <a:uFillTx/>
              <a:latin typeface="Arial"/>
            </a:endParaRPr>
          </a:p>
        </p:txBody>
      </p:sp>
      <p:sp>
        <p:nvSpPr>
          <p:cNvPr id="582" name="Text 34"/>
          <p:cNvSpPr/>
          <p:nvPr/>
        </p:nvSpPr>
        <p:spPr>
          <a:xfrm>
            <a:off x="6858000" y="4224600"/>
            <a:ext cx="21027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a9b6c8"/>
                </a:solidFill>
                <a:effectLst/>
                <a:uFillTx/>
                <a:latin typeface="Aptos"/>
                <a:ea typeface="Aptos"/>
              </a:rPr>
              <a:t>Limited</a:t>
            </a:r>
            <a:endParaRPr b="0" lang="ru-RU" sz="1000" strike="noStrike" u="none">
              <a:solidFill>
                <a:srgbClr val="ffffff"/>
              </a:solidFill>
              <a:effectLst/>
              <a:uFillTx/>
              <a:latin typeface="Arial"/>
            </a:endParaRPr>
          </a:p>
        </p:txBody>
      </p:sp>
      <p:sp>
        <p:nvSpPr>
          <p:cNvPr id="583" name="Text 35"/>
          <p:cNvSpPr/>
          <p:nvPr/>
        </p:nvSpPr>
        <p:spPr>
          <a:xfrm>
            <a:off x="9445680" y="4224600"/>
            <a:ext cx="159984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6b35"/>
                </a:solidFill>
                <a:effectLst/>
                <a:uFillTx/>
                <a:latin typeface="Aptos"/>
                <a:ea typeface="Aptos"/>
              </a:rPr>
              <a:t>✓</a:t>
            </a:r>
            <a:endParaRPr b="0" lang="ru-RU" sz="1000" strike="noStrike" u="none">
              <a:solidFill>
                <a:srgbClr val="ffffff"/>
              </a:solidFill>
              <a:effectLst/>
              <a:uFillTx/>
              <a:latin typeface="Arial"/>
            </a:endParaRPr>
          </a:p>
        </p:txBody>
      </p:sp>
      <p:sp>
        <p:nvSpPr>
          <p:cNvPr id="584" name="Shape 36"/>
          <p:cNvSpPr/>
          <p:nvPr/>
        </p:nvSpPr>
        <p:spPr>
          <a:xfrm>
            <a:off x="640080" y="4581000"/>
            <a:ext cx="10926720" cy="347040"/>
          </a:xfrm>
          <a:prstGeom prst="roundRect">
            <a:avLst>
              <a:gd name="adj" fmla="val 42105"/>
            </a:avLst>
          </a:prstGeom>
          <a:solidFill>
            <a:srgbClr val="121c2e"/>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85" name="Text 37"/>
          <p:cNvSpPr/>
          <p:nvPr/>
        </p:nvSpPr>
        <p:spPr>
          <a:xfrm>
            <a:off x="841320" y="4654440"/>
            <a:ext cx="27428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70" strike="noStrike" u="none">
                <a:solidFill>
                  <a:srgbClr val="f5f7fa"/>
                </a:solidFill>
                <a:effectLst/>
                <a:uFillTx/>
                <a:latin typeface="Aptos"/>
                <a:ea typeface="Aptos"/>
              </a:rPr>
              <a:t>Model / workload measurement</a:t>
            </a:r>
            <a:endParaRPr b="0" lang="ru-RU" sz="970" strike="noStrike" u="none">
              <a:solidFill>
                <a:srgbClr val="ffffff"/>
              </a:solidFill>
              <a:effectLst/>
              <a:uFillTx/>
              <a:latin typeface="Arial"/>
            </a:endParaRPr>
          </a:p>
        </p:txBody>
      </p:sp>
      <p:sp>
        <p:nvSpPr>
          <p:cNvPr id="586" name="Text 38"/>
          <p:cNvSpPr/>
          <p:nvPr/>
        </p:nvSpPr>
        <p:spPr>
          <a:xfrm>
            <a:off x="3858840" y="4654440"/>
            <a:ext cx="223992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5fe1a0"/>
                </a:solidFill>
                <a:effectLst/>
                <a:uFillTx/>
                <a:latin typeface="Aptos"/>
                <a:ea typeface="Aptos"/>
              </a:rPr>
              <a:t>✓</a:t>
            </a:r>
            <a:endParaRPr b="0" lang="ru-RU" sz="1000" strike="noStrike" u="none">
              <a:solidFill>
                <a:srgbClr val="ffffff"/>
              </a:solidFill>
              <a:effectLst/>
              <a:uFillTx/>
              <a:latin typeface="Arial"/>
            </a:endParaRPr>
          </a:p>
        </p:txBody>
      </p:sp>
      <p:sp>
        <p:nvSpPr>
          <p:cNvPr id="587" name="Text 39"/>
          <p:cNvSpPr/>
          <p:nvPr/>
        </p:nvSpPr>
        <p:spPr>
          <a:xfrm>
            <a:off x="6858000" y="4654440"/>
            <a:ext cx="21027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5fe1a0"/>
                </a:solidFill>
                <a:effectLst/>
                <a:uFillTx/>
                <a:latin typeface="Aptos"/>
                <a:ea typeface="Aptos"/>
              </a:rPr>
              <a:t>✓</a:t>
            </a:r>
            <a:endParaRPr b="0" lang="ru-RU" sz="1000" strike="noStrike" u="none">
              <a:solidFill>
                <a:srgbClr val="ffffff"/>
              </a:solidFill>
              <a:effectLst/>
              <a:uFillTx/>
              <a:latin typeface="Arial"/>
            </a:endParaRPr>
          </a:p>
        </p:txBody>
      </p:sp>
      <p:sp>
        <p:nvSpPr>
          <p:cNvPr id="588" name="Text 40"/>
          <p:cNvSpPr/>
          <p:nvPr/>
        </p:nvSpPr>
        <p:spPr>
          <a:xfrm>
            <a:off x="9445680" y="4654440"/>
            <a:ext cx="159984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6b35"/>
                </a:solidFill>
                <a:effectLst/>
                <a:uFillTx/>
                <a:latin typeface="Aptos"/>
                <a:ea typeface="Aptos"/>
              </a:rPr>
              <a:t>✓</a:t>
            </a:r>
            <a:endParaRPr b="0" lang="ru-RU" sz="1000" strike="noStrike" u="none">
              <a:solidFill>
                <a:srgbClr val="ffffff"/>
              </a:solidFill>
              <a:effectLst/>
              <a:uFillTx/>
              <a:latin typeface="Arial"/>
            </a:endParaRPr>
          </a:p>
        </p:txBody>
      </p:sp>
      <p:sp>
        <p:nvSpPr>
          <p:cNvPr id="589" name="Shape 41"/>
          <p:cNvSpPr/>
          <p:nvPr/>
        </p:nvSpPr>
        <p:spPr>
          <a:xfrm>
            <a:off x="640080" y="5010840"/>
            <a:ext cx="10926720" cy="347040"/>
          </a:xfrm>
          <a:prstGeom prst="roundRect">
            <a:avLst>
              <a:gd name="adj" fmla="val 42105"/>
            </a:avLst>
          </a:prstGeom>
          <a:solidFill>
            <a:srgbClr val="162337"/>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90" name="Text 42"/>
          <p:cNvSpPr/>
          <p:nvPr/>
        </p:nvSpPr>
        <p:spPr>
          <a:xfrm>
            <a:off x="841320" y="5083920"/>
            <a:ext cx="27428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70" strike="noStrike" u="none">
                <a:solidFill>
                  <a:srgbClr val="f5f7fa"/>
                </a:solidFill>
                <a:effectLst/>
                <a:uFillTx/>
                <a:latin typeface="Aptos"/>
                <a:ea typeface="Aptos"/>
              </a:rPr>
              <a:t>Composite cluster attestation</a:t>
            </a:r>
            <a:endParaRPr b="0" lang="ru-RU" sz="970" strike="noStrike" u="none">
              <a:solidFill>
                <a:srgbClr val="ffffff"/>
              </a:solidFill>
              <a:effectLst/>
              <a:uFillTx/>
              <a:latin typeface="Arial"/>
            </a:endParaRPr>
          </a:p>
        </p:txBody>
      </p:sp>
      <p:sp>
        <p:nvSpPr>
          <p:cNvPr id="591" name="Text 43"/>
          <p:cNvSpPr/>
          <p:nvPr/>
        </p:nvSpPr>
        <p:spPr>
          <a:xfrm>
            <a:off x="3858840" y="5083920"/>
            <a:ext cx="223992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a9b6c8"/>
                </a:solidFill>
                <a:effectLst/>
                <a:uFillTx/>
                <a:latin typeface="Aptos"/>
                <a:ea typeface="Aptos"/>
              </a:rPr>
              <a:t>—</a:t>
            </a:r>
            <a:endParaRPr b="0" lang="ru-RU" sz="1000" strike="noStrike" u="none">
              <a:solidFill>
                <a:srgbClr val="ffffff"/>
              </a:solidFill>
              <a:effectLst/>
              <a:uFillTx/>
              <a:latin typeface="Arial"/>
            </a:endParaRPr>
          </a:p>
        </p:txBody>
      </p:sp>
      <p:sp>
        <p:nvSpPr>
          <p:cNvPr id="592" name="Text 44"/>
          <p:cNvSpPr/>
          <p:nvPr/>
        </p:nvSpPr>
        <p:spPr>
          <a:xfrm>
            <a:off x="6858000" y="5083920"/>
            <a:ext cx="21027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5fe1a0"/>
                </a:solidFill>
                <a:effectLst/>
                <a:uFillTx/>
                <a:latin typeface="Aptos"/>
                <a:ea typeface="Aptos"/>
              </a:rPr>
              <a:t>✓</a:t>
            </a:r>
            <a:endParaRPr b="0" lang="ru-RU" sz="1000" strike="noStrike" u="none">
              <a:solidFill>
                <a:srgbClr val="ffffff"/>
              </a:solidFill>
              <a:effectLst/>
              <a:uFillTx/>
              <a:latin typeface="Arial"/>
            </a:endParaRPr>
          </a:p>
        </p:txBody>
      </p:sp>
      <p:sp>
        <p:nvSpPr>
          <p:cNvPr id="593" name="Text 45"/>
          <p:cNvSpPr/>
          <p:nvPr/>
        </p:nvSpPr>
        <p:spPr>
          <a:xfrm>
            <a:off x="9445680" y="5083920"/>
            <a:ext cx="159984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6b35"/>
                </a:solidFill>
                <a:effectLst/>
                <a:uFillTx/>
                <a:latin typeface="Aptos"/>
                <a:ea typeface="Aptos"/>
              </a:rPr>
              <a:t>✓</a:t>
            </a:r>
            <a:endParaRPr b="0" lang="ru-RU" sz="1000" strike="noStrike" u="none">
              <a:solidFill>
                <a:srgbClr val="ffffff"/>
              </a:solidFill>
              <a:effectLst/>
              <a:uFillTx/>
              <a:latin typeface="Arial"/>
            </a:endParaRPr>
          </a:p>
        </p:txBody>
      </p:sp>
      <p:sp>
        <p:nvSpPr>
          <p:cNvPr id="594" name="Shape 46"/>
          <p:cNvSpPr/>
          <p:nvPr/>
        </p:nvSpPr>
        <p:spPr>
          <a:xfrm>
            <a:off x="640080" y="5440680"/>
            <a:ext cx="10926720" cy="347040"/>
          </a:xfrm>
          <a:prstGeom prst="roundRect">
            <a:avLst>
              <a:gd name="adj" fmla="val 42105"/>
            </a:avLst>
          </a:prstGeom>
          <a:solidFill>
            <a:srgbClr val="121c2e"/>
          </a:solidFill>
          <a:ln w="12700">
            <a:solidFill>
              <a:srgbClr val="22334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595" name="Text 47"/>
          <p:cNvSpPr/>
          <p:nvPr/>
        </p:nvSpPr>
        <p:spPr>
          <a:xfrm>
            <a:off x="841320" y="5513760"/>
            <a:ext cx="27428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70" strike="noStrike" u="none">
                <a:solidFill>
                  <a:srgbClr val="f5f7fa"/>
                </a:solidFill>
                <a:effectLst/>
                <a:uFillTx/>
                <a:latin typeface="Aptos"/>
                <a:ea typeface="Aptos"/>
              </a:rPr>
              <a:t>MemoryX / wafer I/O protection</a:t>
            </a:r>
            <a:endParaRPr b="0" lang="ru-RU" sz="970" strike="noStrike" u="none">
              <a:solidFill>
                <a:srgbClr val="ffffff"/>
              </a:solidFill>
              <a:effectLst/>
              <a:uFillTx/>
              <a:latin typeface="Arial"/>
            </a:endParaRPr>
          </a:p>
        </p:txBody>
      </p:sp>
      <p:sp>
        <p:nvSpPr>
          <p:cNvPr id="596" name="Text 48"/>
          <p:cNvSpPr/>
          <p:nvPr/>
        </p:nvSpPr>
        <p:spPr>
          <a:xfrm>
            <a:off x="3858840" y="5513760"/>
            <a:ext cx="223992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a9b6c8"/>
                </a:solidFill>
                <a:effectLst/>
                <a:uFillTx/>
                <a:latin typeface="Aptos"/>
                <a:ea typeface="Aptos"/>
              </a:rPr>
              <a:t>—</a:t>
            </a:r>
            <a:endParaRPr b="0" lang="ru-RU" sz="1000" strike="noStrike" u="none">
              <a:solidFill>
                <a:srgbClr val="ffffff"/>
              </a:solidFill>
              <a:effectLst/>
              <a:uFillTx/>
              <a:latin typeface="Arial"/>
            </a:endParaRPr>
          </a:p>
        </p:txBody>
      </p:sp>
      <p:sp>
        <p:nvSpPr>
          <p:cNvPr id="597" name="Text 49"/>
          <p:cNvSpPr/>
          <p:nvPr/>
        </p:nvSpPr>
        <p:spPr>
          <a:xfrm>
            <a:off x="6858000" y="5513760"/>
            <a:ext cx="21027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a9b6c8"/>
                </a:solidFill>
                <a:effectLst/>
                <a:uFillTx/>
                <a:latin typeface="Aptos"/>
                <a:ea typeface="Aptos"/>
              </a:rPr>
              <a:t>—</a:t>
            </a:r>
            <a:endParaRPr b="0" lang="ru-RU" sz="1000" strike="noStrike" u="none">
              <a:solidFill>
                <a:srgbClr val="ffffff"/>
              </a:solidFill>
              <a:effectLst/>
              <a:uFillTx/>
              <a:latin typeface="Arial"/>
            </a:endParaRPr>
          </a:p>
        </p:txBody>
      </p:sp>
      <p:sp>
        <p:nvSpPr>
          <p:cNvPr id="598" name="Text 50"/>
          <p:cNvSpPr/>
          <p:nvPr/>
        </p:nvSpPr>
        <p:spPr>
          <a:xfrm>
            <a:off x="9445680" y="5513760"/>
            <a:ext cx="159984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6b35"/>
                </a:solidFill>
                <a:effectLst/>
                <a:uFillTx/>
                <a:latin typeface="Aptos"/>
                <a:ea typeface="Aptos"/>
              </a:rPr>
              <a:t>✓*</a:t>
            </a:r>
            <a:endParaRPr b="0" lang="ru-RU" sz="1000" strike="noStrike" u="none">
              <a:solidFill>
                <a:srgbClr val="ffffff"/>
              </a:solidFill>
              <a:effectLst/>
              <a:uFillTx/>
              <a:latin typeface="Arial"/>
            </a:endParaRPr>
          </a:p>
        </p:txBody>
      </p:sp>
      <p:sp>
        <p:nvSpPr>
          <p:cNvPr id="599" name="Text 51"/>
          <p:cNvSpPr/>
          <p:nvPr/>
        </p:nvSpPr>
        <p:spPr>
          <a:xfrm>
            <a:off x="658440" y="6016680"/>
            <a:ext cx="10423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880" strike="noStrike" u="none">
                <a:solidFill>
                  <a:srgbClr val="a9b6c8"/>
                </a:solidFill>
                <a:effectLst/>
                <a:uFillTx/>
                <a:latin typeface="Aptos"/>
                <a:ea typeface="Aptos"/>
              </a:rPr>
              <a:t>* Proposed feature for next-generation WSE / secure-system design; not a statement of current product capability.</a:t>
            </a:r>
            <a:endParaRPr b="0" lang="ru-RU" sz="880" strike="noStrike" u="none">
              <a:solidFill>
                <a:srgbClr val="ffffff"/>
              </a:solidFill>
              <a:effectLst/>
              <a:uFillTx/>
              <a:latin typeface="Arial"/>
            </a:endParaRPr>
          </a:p>
        </p:txBody>
      </p:sp>
      <p:sp>
        <p:nvSpPr>
          <p:cNvPr id="600" name="Text 52"/>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Reference: Intel TDX; NVIDIA H100 confidential computing / attestation. Cerebras column is the proposed architecture.</a:t>
            </a:r>
            <a:endParaRPr b="0" lang="ru-RU" sz="660" strike="noStrike" u="none">
              <a:solidFill>
                <a:srgbClr val="ffffff"/>
              </a:solidFill>
              <a:effectLst/>
              <a:uFillTx/>
              <a:latin typeface="Arial"/>
            </a:endParaRPr>
          </a:p>
        </p:txBody>
      </p:sp>
      <p:sp>
        <p:nvSpPr>
          <p:cNvPr id="601" name="PlaceHolder 1"/>
          <p:cNvSpPr>
            <a:spLocks noGrp="1"/>
          </p:cNvSpPr>
          <p:nvPr>
            <p:ph type="sldNum" idx="17"/>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0DB369FC-3145-49FD-9BE6-0ECA73ED9A25}"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13 • ROADMAP</a:t>
            </a:r>
            <a:endParaRPr b="0" lang="ru-RU" sz="1000" strike="noStrike" u="none">
              <a:solidFill>
                <a:srgbClr val="ffffff"/>
              </a:solidFill>
              <a:effectLst/>
              <a:uFillTx/>
              <a:latin typeface="Arial"/>
            </a:endParaRPr>
          </a:p>
        </p:txBody>
      </p:sp>
      <p:sp>
        <p:nvSpPr>
          <p:cNvPr id="603"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f5f7fa"/>
                </a:solidFill>
                <a:effectLst/>
                <a:uFillTx/>
                <a:latin typeface="Aptos"/>
                <a:ea typeface="Aptos"/>
              </a:rPr>
              <a:t>Prototype the security plane before changing the silicon.</a:t>
            </a:r>
            <a:endParaRPr b="0" lang="ru-RU" sz="2900" strike="noStrike" u="none">
              <a:solidFill>
                <a:srgbClr val="ffffff"/>
              </a:solidFill>
              <a:effectLst/>
              <a:uFillTx/>
              <a:latin typeface="Arial"/>
            </a:endParaRPr>
          </a:p>
        </p:txBody>
      </p:sp>
      <p:sp>
        <p:nvSpPr>
          <p:cNvPr id="604"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A staged path de-risks the proposal and produces an early customer story.</a:t>
            </a:r>
            <a:endParaRPr b="0" lang="ru-RU" sz="1250" strike="noStrike" u="none">
              <a:solidFill>
                <a:srgbClr val="ffffff"/>
              </a:solidFill>
              <a:effectLst/>
              <a:uFillTx/>
              <a:latin typeface="Arial"/>
            </a:endParaRPr>
          </a:p>
        </p:txBody>
      </p:sp>
      <p:sp>
        <p:nvSpPr>
          <p:cNvPr id="605"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14</a:t>
            </a:r>
            <a:endParaRPr b="0" lang="ru-RU" sz="1000" strike="noStrike" u="none">
              <a:solidFill>
                <a:srgbClr val="ffffff"/>
              </a:solidFill>
              <a:effectLst/>
              <a:uFillTx/>
              <a:latin typeface="Arial"/>
            </a:endParaRPr>
          </a:p>
        </p:txBody>
      </p:sp>
      <p:sp>
        <p:nvSpPr>
          <p:cNvPr id="606" name="Shape 4"/>
          <p:cNvSpPr/>
          <p:nvPr/>
        </p:nvSpPr>
        <p:spPr>
          <a:xfrm>
            <a:off x="567000" y="2084760"/>
            <a:ext cx="2523240" cy="2925720"/>
          </a:xfrm>
          <a:prstGeom prst="roundRect">
            <a:avLst>
              <a:gd name="adj" fmla="val 5797"/>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07" name="Text 5"/>
          <p:cNvSpPr/>
          <p:nvPr/>
        </p:nvSpPr>
        <p:spPr>
          <a:xfrm>
            <a:off x="749880" y="2331720"/>
            <a:ext cx="20113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3bd6e8"/>
                </a:solidFill>
                <a:effectLst/>
                <a:uFillTx/>
                <a:latin typeface="Aptos"/>
                <a:ea typeface="Aptos"/>
              </a:rPr>
              <a:t>0–90 days</a:t>
            </a:r>
            <a:endParaRPr b="0" lang="ru-RU" sz="1100" strike="noStrike" u="none">
              <a:solidFill>
                <a:srgbClr val="ffffff"/>
              </a:solidFill>
              <a:effectLst/>
              <a:uFillTx/>
              <a:latin typeface="Arial"/>
            </a:endParaRPr>
          </a:p>
        </p:txBody>
      </p:sp>
      <p:sp>
        <p:nvSpPr>
          <p:cNvPr id="608" name="Text 6"/>
          <p:cNvSpPr/>
          <p:nvPr/>
        </p:nvSpPr>
        <p:spPr>
          <a:xfrm>
            <a:off x="749880" y="2743200"/>
            <a:ext cx="2057040" cy="5025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900" strike="noStrike" u="none">
                <a:solidFill>
                  <a:srgbClr val="f5f7fa"/>
                </a:solidFill>
                <a:effectLst/>
                <a:uFillTx/>
                <a:latin typeface="Aptos"/>
                <a:ea typeface="Aptos"/>
              </a:rPr>
              <a:t>Software prototype</a:t>
            </a:r>
            <a:endParaRPr b="0" lang="ru-RU" sz="1900" strike="noStrike" u="none">
              <a:solidFill>
                <a:srgbClr val="ffffff"/>
              </a:solidFill>
              <a:effectLst/>
              <a:uFillTx/>
              <a:latin typeface="Arial"/>
            </a:endParaRPr>
          </a:p>
        </p:txBody>
      </p:sp>
      <p:sp>
        <p:nvSpPr>
          <p:cNvPr id="609" name="Text 7"/>
          <p:cNvSpPr/>
          <p:nvPr/>
        </p:nvSpPr>
        <p:spPr>
          <a:xfrm>
            <a:off x="749880" y="3420000"/>
            <a:ext cx="2084400" cy="1078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30" strike="noStrike" u="none">
                <a:solidFill>
                  <a:srgbClr val="d8e2ef"/>
                </a:solidFill>
                <a:effectLst/>
                <a:uFillTx/>
                <a:latin typeface="Aptos"/>
                <a:ea typeface="Aptos"/>
              </a:rPr>
              <a:t>TDX / SEV-SNP CVM • KMS/HSM • attestation • Cerebras runtime proxy • encrypted model/key lifecycle</a:t>
            </a:r>
            <a:endParaRPr b="0" lang="ru-RU" sz="1030" strike="noStrike" u="none">
              <a:solidFill>
                <a:srgbClr val="ffffff"/>
              </a:solidFill>
              <a:effectLst/>
              <a:uFillTx/>
              <a:latin typeface="Arial"/>
            </a:endParaRPr>
          </a:p>
        </p:txBody>
      </p:sp>
      <p:sp>
        <p:nvSpPr>
          <p:cNvPr id="610" name="Shape 8"/>
          <p:cNvSpPr/>
          <p:nvPr/>
        </p:nvSpPr>
        <p:spPr>
          <a:xfrm>
            <a:off x="749520" y="4690800"/>
            <a:ext cx="2085120" cy="360"/>
          </a:xfrm>
          <a:prstGeom prst="line">
            <a:avLst/>
          </a:prstGeom>
          <a:ln w="25400">
            <a:solidFill>
              <a:srgbClr val="3bd6e8"/>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611" name="Shape 9"/>
          <p:cNvSpPr/>
          <p:nvPr/>
        </p:nvSpPr>
        <p:spPr>
          <a:xfrm>
            <a:off x="3090600" y="3520440"/>
            <a:ext cx="237600" cy="360"/>
          </a:xfrm>
          <a:prstGeom prst="line">
            <a:avLst/>
          </a:prstGeom>
          <a:ln w="1778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612" name="Shape 10"/>
          <p:cNvSpPr/>
          <p:nvPr/>
        </p:nvSpPr>
        <p:spPr>
          <a:xfrm>
            <a:off x="3374280" y="2084760"/>
            <a:ext cx="2523240" cy="2925720"/>
          </a:xfrm>
          <a:prstGeom prst="roundRect">
            <a:avLst>
              <a:gd name="adj" fmla="val 5797"/>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13" name="Text 11"/>
          <p:cNvSpPr/>
          <p:nvPr/>
        </p:nvSpPr>
        <p:spPr>
          <a:xfrm>
            <a:off x="3557160" y="2331720"/>
            <a:ext cx="20113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ff6b35"/>
                </a:solidFill>
                <a:effectLst/>
                <a:uFillTx/>
                <a:latin typeface="Aptos"/>
                <a:ea typeface="Aptos"/>
              </a:rPr>
              <a:t>3–9 months</a:t>
            </a:r>
            <a:endParaRPr b="0" lang="ru-RU" sz="1100" strike="noStrike" u="none">
              <a:solidFill>
                <a:srgbClr val="ffffff"/>
              </a:solidFill>
              <a:effectLst/>
              <a:uFillTx/>
              <a:latin typeface="Arial"/>
            </a:endParaRPr>
          </a:p>
        </p:txBody>
      </p:sp>
      <p:sp>
        <p:nvSpPr>
          <p:cNvPr id="614" name="Text 12"/>
          <p:cNvSpPr/>
          <p:nvPr/>
        </p:nvSpPr>
        <p:spPr>
          <a:xfrm>
            <a:off x="3557160" y="2743200"/>
            <a:ext cx="2057040" cy="5025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900" strike="noStrike" u="none">
                <a:solidFill>
                  <a:srgbClr val="f5f7fa"/>
                </a:solidFill>
                <a:effectLst/>
                <a:uFillTx/>
                <a:latin typeface="Aptos"/>
                <a:ea typeface="Aptos"/>
              </a:rPr>
              <a:t>System prototype</a:t>
            </a:r>
            <a:endParaRPr b="0" lang="ru-RU" sz="1900" strike="noStrike" u="none">
              <a:solidFill>
                <a:srgbClr val="ffffff"/>
              </a:solidFill>
              <a:effectLst/>
              <a:uFillTx/>
              <a:latin typeface="Arial"/>
            </a:endParaRPr>
          </a:p>
        </p:txBody>
      </p:sp>
      <p:sp>
        <p:nvSpPr>
          <p:cNvPr id="615" name="Text 13"/>
          <p:cNvSpPr/>
          <p:nvPr/>
        </p:nvSpPr>
        <p:spPr>
          <a:xfrm>
            <a:off x="3557160" y="3420000"/>
            <a:ext cx="2084400" cy="1078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30" strike="noStrike" u="none">
                <a:solidFill>
                  <a:srgbClr val="d8e2ef"/>
                </a:solidFill>
                <a:effectLst/>
                <a:uFillTx/>
                <a:latin typeface="Aptos"/>
                <a:ea typeface="Aptos"/>
              </a:rPr>
              <a:t>CVM↔WSE secure channel • model measurement • secret broker • cluster policy • benchmark overhead</a:t>
            </a:r>
            <a:endParaRPr b="0" lang="ru-RU" sz="1030" strike="noStrike" u="none">
              <a:solidFill>
                <a:srgbClr val="ffffff"/>
              </a:solidFill>
              <a:effectLst/>
              <a:uFillTx/>
              <a:latin typeface="Arial"/>
            </a:endParaRPr>
          </a:p>
        </p:txBody>
      </p:sp>
      <p:sp>
        <p:nvSpPr>
          <p:cNvPr id="616" name="Shape 14"/>
          <p:cNvSpPr/>
          <p:nvPr/>
        </p:nvSpPr>
        <p:spPr>
          <a:xfrm>
            <a:off x="3556800" y="4690800"/>
            <a:ext cx="2084760" cy="360"/>
          </a:xfrm>
          <a:prstGeom prst="line">
            <a:avLst/>
          </a:prstGeom>
          <a:ln w="25400">
            <a:solidFill>
              <a:srgbClr val="ff6b35"/>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617" name="Shape 15"/>
          <p:cNvSpPr/>
          <p:nvPr/>
        </p:nvSpPr>
        <p:spPr>
          <a:xfrm>
            <a:off x="5897880" y="3520440"/>
            <a:ext cx="237600" cy="360"/>
          </a:xfrm>
          <a:prstGeom prst="line">
            <a:avLst/>
          </a:prstGeom>
          <a:ln w="1778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618" name="Shape 16"/>
          <p:cNvSpPr/>
          <p:nvPr/>
        </p:nvSpPr>
        <p:spPr>
          <a:xfrm>
            <a:off x="6181200" y="2084760"/>
            <a:ext cx="2523240" cy="2925720"/>
          </a:xfrm>
          <a:prstGeom prst="roundRect">
            <a:avLst>
              <a:gd name="adj" fmla="val 5797"/>
            </a:avLst>
          </a:prstGeom>
          <a:solidFill>
            <a:srgbClr val="142235"/>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19" name="Text 17"/>
          <p:cNvSpPr/>
          <p:nvPr/>
        </p:nvSpPr>
        <p:spPr>
          <a:xfrm>
            <a:off x="6364080" y="2331720"/>
            <a:ext cx="20113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5fe1a0"/>
                </a:solidFill>
                <a:effectLst/>
                <a:uFillTx/>
                <a:latin typeface="Aptos"/>
                <a:ea typeface="Aptos"/>
              </a:rPr>
              <a:t>Next WSE</a:t>
            </a:r>
            <a:endParaRPr b="0" lang="ru-RU" sz="1100" strike="noStrike" u="none">
              <a:solidFill>
                <a:srgbClr val="ffffff"/>
              </a:solidFill>
              <a:effectLst/>
              <a:uFillTx/>
              <a:latin typeface="Arial"/>
            </a:endParaRPr>
          </a:p>
        </p:txBody>
      </p:sp>
      <p:sp>
        <p:nvSpPr>
          <p:cNvPr id="620" name="Text 18"/>
          <p:cNvSpPr/>
          <p:nvPr/>
        </p:nvSpPr>
        <p:spPr>
          <a:xfrm>
            <a:off x="6364080" y="2743200"/>
            <a:ext cx="2057040" cy="502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f5f7fa"/>
                </a:solidFill>
                <a:effectLst/>
                <a:uFillTx/>
                <a:latin typeface="Aptos"/>
                <a:ea typeface="Aptos"/>
              </a:rPr>
              <a:t>Hardware TEE</a:t>
            </a:r>
            <a:endParaRPr b="0" lang="ru-RU" sz="1900" strike="noStrike" u="none">
              <a:solidFill>
                <a:srgbClr val="ffffff"/>
              </a:solidFill>
              <a:effectLst/>
              <a:uFillTx/>
              <a:latin typeface="Arial"/>
            </a:endParaRPr>
          </a:p>
        </p:txBody>
      </p:sp>
      <p:sp>
        <p:nvSpPr>
          <p:cNvPr id="621" name="Text 19"/>
          <p:cNvSpPr/>
          <p:nvPr/>
        </p:nvSpPr>
        <p:spPr>
          <a:xfrm>
            <a:off x="6364080" y="3420000"/>
            <a:ext cx="2084400" cy="1078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30" strike="noStrike" u="none">
                <a:solidFill>
                  <a:srgbClr val="d8e2ef"/>
                </a:solidFill>
                <a:effectLst/>
                <a:uFillTx/>
                <a:latin typeface="Aptos"/>
                <a:ea typeface="Aptos"/>
              </a:rPr>
              <a:t>Root of trust • domain manager • protected SRAM • secure DMA • fabric ACL • WSE attestation</a:t>
            </a:r>
            <a:endParaRPr b="0" lang="ru-RU" sz="1030" strike="noStrike" u="none">
              <a:solidFill>
                <a:srgbClr val="ffffff"/>
              </a:solidFill>
              <a:effectLst/>
              <a:uFillTx/>
              <a:latin typeface="Arial"/>
            </a:endParaRPr>
          </a:p>
        </p:txBody>
      </p:sp>
      <p:sp>
        <p:nvSpPr>
          <p:cNvPr id="622" name="Shape 20"/>
          <p:cNvSpPr/>
          <p:nvPr/>
        </p:nvSpPr>
        <p:spPr>
          <a:xfrm>
            <a:off x="6364080" y="4690800"/>
            <a:ext cx="2084760" cy="360"/>
          </a:xfrm>
          <a:prstGeom prst="line">
            <a:avLst/>
          </a:prstGeom>
          <a:ln w="25400">
            <a:solidFill>
              <a:srgbClr val="5fe1a0"/>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623" name="Shape 21"/>
          <p:cNvSpPr/>
          <p:nvPr/>
        </p:nvSpPr>
        <p:spPr>
          <a:xfrm>
            <a:off x="8704800" y="3520440"/>
            <a:ext cx="237960" cy="360"/>
          </a:xfrm>
          <a:prstGeom prst="line">
            <a:avLst/>
          </a:prstGeom>
          <a:ln w="17780">
            <a:solidFill>
              <a:srgbClr val="a9b6c8"/>
            </a:solidFill>
            <a:round/>
            <a:tailEnd len="med" type="triangle" w="me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624" name="Shape 22"/>
          <p:cNvSpPr/>
          <p:nvPr/>
        </p:nvSpPr>
        <p:spPr>
          <a:xfrm>
            <a:off x="8988480" y="2084760"/>
            <a:ext cx="2523240" cy="2925720"/>
          </a:xfrm>
          <a:prstGeom prst="roundRect">
            <a:avLst>
              <a:gd name="adj" fmla="val 5797"/>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25" name="Text 23"/>
          <p:cNvSpPr/>
          <p:nvPr/>
        </p:nvSpPr>
        <p:spPr>
          <a:xfrm>
            <a:off x="9171360" y="2331720"/>
            <a:ext cx="20113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trike="noStrike" u="none">
                <a:solidFill>
                  <a:srgbClr val="ffd166"/>
                </a:solidFill>
                <a:effectLst/>
                <a:uFillTx/>
                <a:latin typeface="Aptos"/>
                <a:ea typeface="Aptos"/>
              </a:rPr>
              <a:t>Scale-out</a:t>
            </a:r>
            <a:endParaRPr b="0" lang="ru-RU" sz="1100" strike="noStrike" u="none">
              <a:solidFill>
                <a:srgbClr val="ffffff"/>
              </a:solidFill>
              <a:effectLst/>
              <a:uFillTx/>
              <a:latin typeface="Arial"/>
            </a:endParaRPr>
          </a:p>
        </p:txBody>
      </p:sp>
      <p:sp>
        <p:nvSpPr>
          <p:cNvPr id="626" name="Text 24"/>
          <p:cNvSpPr/>
          <p:nvPr/>
        </p:nvSpPr>
        <p:spPr>
          <a:xfrm>
            <a:off x="9171360" y="2743200"/>
            <a:ext cx="2057040" cy="5025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900" strike="noStrike" u="none">
                <a:solidFill>
                  <a:srgbClr val="f5f7fa"/>
                </a:solidFill>
                <a:effectLst/>
                <a:uFillTx/>
                <a:latin typeface="Aptos"/>
                <a:ea typeface="Aptos"/>
              </a:rPr>
              <a:t>Confidential fabric</a:t>
            </a:r>
            <a:endParaRPr b="0" lang="ru-RU" sz="1900" strike="noStrike" u="none">
              <a:solidFill>
                <a:srgbClr val="ffffff"/>
              </a:solidFill>
              <a:effectLst/>
              <a:uFillTx/>
              <a:latin typeface="Arial"/>
            </a:endParaRPr>
          </a:p>
        </p:txBody>
      </p:sp>
      <p:sp>
        <p:nvSpPr>
          <p:cNvPr id="627" name="Text 25"/>
          <p:cNvSpPr/>
          <p:nvPr/>
        </p:nvSpPr>
        <p:spPr>
          <a:xfrm>
            <a:off x="9171360" y="3420000"/>
            <a:ext cx="2084400" cy="1078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30" strike="noStrike" u="none">
                <a:solidFill>
                  <a:srgbClr val="d8e2ef"/>
                </a:solidFill>
                <a:effectLst/>
                <a:uFillTx/>
                <a:latin typeface="Aptos"/>
                <a:ea typeface="Aptos"/>
              </a:rPr>
              <a:t>MemoryX / I/O protection • multi-WSE composite attestation • sovereign deployment profile</a:t>
            </a:r>
            <a:endParaRPr b="0" lang="ru-RU" sz="1030" strike="noStrike" u="none">
              <a:solidFill>
                <a:srgbClr val="ffffff"/>
              </a:solidFill>
              <a:effectLst/>
              <a:uFillTx/>
              <a:latin typeface="Arial"/>
            </a:endParaRPr>
          </a:p>
        </p:txBody>
      </p:sp>
      <p:sp>
        <p:nvSpPr>
          <p:cNvPr id="628" name="Shape 26"/>
          <p:cNvSpPr/>
          <p:nvPr/>
        </p:nvSpPr>
        <p:spPr>
          <a:xfrm>
            <a:off x="9171360" y="4690800"/>
            <a:ext cx="2084760" cy="360"/>
          </a:xfrm>
          <a:prstGeom prst="line">
            <a:avLst/>
          </a:prstGeom>
          <a:ln w="25400">
            <a:solidFill>
              <a:srgbClr val="ffd166"/>
            </a:solidFill>
            <a:round/>
          </a:ln>
        </p:spPr>
        <p:style>
          <a:lnRef idx="0"/>
          <a:fillRef idx="0"/>
          <a:effectRef idx="0"/>
          <a:fontRef idx="minor"/>
        </p:style>
        <p:txBody>
          <a:bodyPr lIns="90000" rIns="90000" tIns="-44640" bIns="-44640" anchor="t" anchorCtr="1">
            <a:noAutofit/>
          </a:bodyPr>
          <a:p>
            <a:endParaRPr b="0" lang="ru-RU" sz="1800" strike="noStrike" u="none">
              <a:solidFill>
                <a:srgbClr val="ffffff"/>
              </a:solidFill>
              <a:effectLst/>
              <a:uFillTx/>
              <a:latin typeface="Arial"/>
            </a:endParaRPr>
          </a:p>
        </p:txBody>
      </p:sp>
      <p:sp>
        <p:nvSpPr>
          <p:cNvPr id="629" name="Text 27"/>
          <p:cNvSpPr/>
          <p:nvPr/>
        </p:nvSpPr>
        <p:spPr>
          <a:xfrm>
            <a:off x="567000" y="5422320"/>
            <a:ext cx="1325520" cy="2192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800" spc="111" strike="noStrike" u="none">
                <a:solidFill>
                  <a:srgbClr val="ff6b35"/>
                </a:solidFill>
                <a:effectLst/>
                <a:uFillTx/>
                <a:latin typeface="Aptos"/>
                <a:ea typeface="Aptos"/>
              </a:rPr>
              <a:t>Key engineering gate</a:t>
            </a:r>
            <a:endParaRPr b="0" lang="ru-RU" sz="800" strike="noStrike" u="none">
              <a:solidFill>
                <a:srgbClr val="ffffff"/>
              </a:solidFill>
              <a:effectLst/>
              <a:uFillTx/>
              <a:latin typeface="Arial"/>
            </a:endParaRPr>
          </a:p>
        </p:txBody>
      </p:sp>
      <p:sp>
        <p:nvSpPr>
          <p:cNvPr id="630" name="Text 28"/>
          <p:cNvSpPr/>
          <p:nvPr/>
        </p:nvSpPr>
        <p:spPr>
          <a:xfrm>
            <a:off x="2030040" y="5367600"/>
            <a:ext cx="91436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50" strike="noStrike" u="none">
                <a:solidFill>
                  <a:srgbClr val="f5f7fa"/>
                </a:solidFill>
                <a:effectLst/>
                <a:uFillTx/>
                <a:latin typeface="Aptos"/>
                <a:ea typeface="Aptos"/>
              </a:rPr>
              <a:t>Demonstrate &lt;2–5% end-to-end inference overhead target, measurable attestation latency, and zero plaintext secret exposure outside the protected domain.</a:t>
            </a:r>
            <a:endParaRPr b="0" lang="ru-RU" sz="1250" strike="noStrike" u="none">
              <a:solidFill>
                <a:srgbClr val="ffffff"/>
              </a:solidFill>
              <a:effectLst/>
              <a:uFillTx/>
              <a:latin typeface="Arial"/>
            </a:endParaRPr>
          </a:p>
        </p:txBody>
      </p:sp>
      <p:sp>
        <p:nvSpPr>
          <p:cNvPr id="631" name="Text 29"/>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Roadmap is a proposal. Exact performance and schedule targets should be validated by Cerebras architecture and security teams.</a:t>
            </a:r>
            <a:endParaRPr b="0" lang="ru-RU" sz="660" strike="noStrike" u="none">
              <a:solidFill>
                <a:srgbClr val="ffffff"/>
              </a:solidFill>
              <a:effectLst/>
              <a:uFillTx/>
              <a:latin typeface="Arial"/>
            </a:endParaRPr>
          </a:p>
        </p:txBody>
      </p:sp>
      <p:sp>
        <p:nvSpPr>
          <p:cNvPr id="632" name="PlaceHolder 1"/>
          <p:cNvSpPr>
            <a:spLocks noGrp="1"/>
          </p:cNvSpPr>
          <p:nvPr>
            <p:ph type="sldNum" idx="18"/>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56511DF8-7597-402C-BA6A-F115CA1638D6}"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14 • BUSINESS CASE</a:t>
            </a:r>
            <a:endParaRPr b="0" lang="ru-RU" sz="1000" strike="noStrike" u="none">
              <a:solidFill>
                <a:srgbClr val="ffffff"/>
              </a:solidFill>
              <a:effectLst/>
              <a:uFillTx/>
              <a:latin typeface="Arial"/>
            </a:endParaRPr>
          </a:p>
        </p:txBody>
      </p:sp>
      <p:sp>
        <p:nvSpPr>
          <p:cNvPr id="634"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fontScale="85000" lnSpcReduction="19999"/>
          </a:bodyPr>
          <a:p>
            <a:pPr defTabSz="914400">
              <a:lnSpc>
                <a:spcPct val="100000"/>
              </a:lnSpc>
              <a:tabLst>
                <a:tab algn="l" pos="0"/>
              </a:tabLst>
            </a:pPr>
            <a:r>
              <a:rPr b="1" lang="en-US" sz="2900" strike="noStrike" u="none">
                <a:solidFill>
                  <a:srgbClr val="f5f7fa"/>
                </a:solidFill>
                <a:effectLst/>
                <a:uFillTx/>
                <a:latin typeface="Aptos"/>
                <a:ea typeface="Aptos"/>
              </a:rPr>
              <a:t>Security becomes a product differentiator, not a compliance checkbox.</a:t>
            </a:r>
            <a:endParaRPr b="0" lang="ru-RU" sz="2900" strike="noStrike" u="none">
              <a:solidFill>
                <a:srgbClr val="ffffff"/>
              </a:solidFill>
              <a:effectLst/>
              <a:uFillTx/>
              <a:latin typeface="Arial"/>
            </a:endParaRPr>
          </a:p>
        </p:txBody>
      </p:sp>
      <p:sp>
        <p:nvSpPr>
          <p:cNvPr id="635"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The goal is to unlock workloads where performance alone is not enough.</a:t>
            </a:r>
            <a:endParaRPr b="0" lang="ru-RU" sz="1250" strike="noStrike" u="none">
              <a:solidFill>
                <a:srgbClr val="ffffff"/>
              </a:solidFill>
              <a:effectLst/>
              <a:uFillTx/>
              <a:latin typeface="Arial"/>
            </a:endParaRPr>
          </a:p>
        </p:txBody>
      </p:sp>
      <p:sp>
        <p:nvSpPr>
          <p:cNvPr id="636"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15</a:t>
            </a:r>
            <a:endParaRPr b="0" lang="ru-RU" sz="1000" strike="noStrike" u="none">
              <a:solidFill>
                <a:srgbClr val="ffffff"/>
              </a:solidFill>
              <a:effectLst/>
              <a:uFillTx/>
              <a:latin typeface="Arial"/>
            </a:endParaRPr>
          </a:p>
        </p:txBody>
      </p:sp>
      <p:sp>
        <p:nvSpPr>
          <p:cNvPr id="637" name="Shape 4"/>
          <p:cNvSpPr/>
          <p:nvPr/>
        </p:nvSpPr>
        <p:spPr>
          <a:xfrm>
            <a:off x="567000" y="2066400"/>
            <a:ext cx="2523240" cy="2057040"/>
          </a:xfrm>
          <a:prstGeom prst="roundRect">
            <a:avLst>
              <a:gd name="adj" fmla="val 7111"/>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38" name="Text 5"/>
          <p:cNvSpPr/>
          <p:nvPr/>
        </p:nvSpPr>
        <p:spPr>
          <a:xfrm>
            <a:off x="768240" y="2286000"/>
            <a:ext cx="411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ff6b35"/>
                </a:solidFill>
                <a:effectLst/>
                <a:uFillTx/>
                <a:latin typeface="Aptos"/>
                <a:ea typeface="Aptos"/>
              </a:rPr>
              <a:t>01</a:t>
            </a:r>
            <a:endParaRPr b="0" lang="ru-RU" sz="1700" strike="noStrike" u="none">
              <a:solidFill>
                <a:srgbClr val="ffffff"/>
              </a:solidFill>
              <a:effectLst/>
              <a:uFillTx/>
              <a:latin typeface="Arial"/>
            </a:endParaRPr>
          </a:p>
        </p:txBody>
      </p:sp>
      <p:sp>
        <p:nvSpPr>
          <p:cNvPr id="639" name="Text 6"/>
          <p:cNvSpPr/>
          <p:nvPr/>
        </p:nvSpPr>
        <p:spPr>
          <a:xfrm>
            <a:off x="768240" y="2770560"/>
            <a:ext cx="19656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f5f7fa"/>
                </a:solidFill>
                <a:effectLst/>
                <a:uFillTx/>
                <a:latin typeface="Aptos"/>
                <a:ea typeface="Aptos"/>
              </a:rPr>
              <a:t>Access</a:t>
            </a:r>
            <a:endParaRPr b="0" lang="ru-RU" sz="1800" strike="noStrike" u="none">
              <a:solidFill>
                <a:srgbClr val="ffffff"/>
              </a:solidFill>
              <a:effectLst/>
              <a:uFillTx/>
              <a:latin typeface="Arial"/>
            </a:endParaRPr>
          </a:p>
        </p:txBody>
      </p:sp>
      <p:sp>
        <p:nvSpPr>
          <p:cNvPr id="640" name="Text 7"/>
          <p:cNvSpPr/>
          <p:nvPr/>
        </p:nvSpPr>
        <p:spPr>
          <a:xfrm>
            <a:off x="768240" y="3346560"/>
            <a:ext cx="202968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40" strike="noStrike" u="none">
                <a:solidFill>
                  <a:srgbClr val="d8e2ef"/>
                </a:solidFill>
                <a:effectLst/>
                <a:uFillTx/>
                <a:latin typeface="Aptos"/>
                <a:ea typeface="Aptos"/>
              </a:rPr>
              <a:t>Sovereign, healthcare, finance, classified and high-value AI markets.</a:t>
            </a:r>
            <a:endParaRPr b="0" lang="ru-RU" sz="1040" strike="noStrike" u="none">
              <a:solidFill>
                <a:srgbClr val="ffffff"/>
              </a:solidFill>
              <a:effectLst/>
              <a:uFillTx/>
              <a:latin typeface="Arial"/>
            </a:endParaRPr>
          </a:p>
        </p:txBody>
      </p:sp>
      <p:sp>
        <p:nvSpPr>
          <p:cNvPr id="641" name="Shape 8"/>
          <p:cNvSpPr/>
          <p:nvPr/>
        </p:nvSpPr>
        <p:spPr>
          <a:xfrm>
            <a:off x="3374280" y="2066400"/>
            <a:ext cx="2523240" cy="2057040"/>
          </a:xfrm>
          <a:prstGeom prst="roundRect">
            <a:avLst>
              <a:gd name="adj" fmla="val 7111"/>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42" name="Text 9"/>
          <p:cNvSpPr/>
          <p:nvPr/>
        </p:nvSpPr>
        <p:spPr>
          <a:xfrm>
            <a:off x="3575160" y="2286000"/>
            <a:ext cx="411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3bd6e8"/>
                </a:solidFill>
                <a:effectLst/>
                <a:uFillTx/>
                <a:latin typeface="Aptos"/>
                <a:ea typeface="Aptos"/>
              </a:rPr>
              <a:t>02</a:t>
            </a:r>
            <a:endParaRPr b="0" lang="ru-RU" sz="1700" strike="noStrike" u="none">
              <a:solidFill>
                <a:srgbClr val="ffffff"/>
              </a:solidFill>
              <a:effectLst/>
              <a:uFillTx/>
              <a:latin typeface="Arial"/>
            </a:endParaRPr>
          </a:p>
        </p:txBody>
      </p:sp>
      <p:sp>
        <p:nvSpPr>
          <p:cNvPr id="643" name="Text 10"/>
          <p:cNvSpPr/>
          <p:nvPr/>
        </p:nvSpPr>
        <p:spPr>
          <a:xfrm>
            <a:off x="3575160" y="2770560"/>
            <a:ext cx="19656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f5f7fa"/>
                </a:solidFill>
                <a:effectLst/>
                <a:uFillTx/>
                <a:latin typeface="Aptos"/>
                <a:ea typeface="Aptos"/>
              </a:rPr>
              <a:t>Monetize</a:t>
            </a:r>
            <a:endParaRPr b="0" lang="ru-RU" sz="1800" strike="noStrike" u="none">
              <a:solidFill>
                <a:srgbClr val="ffffff"/>
              </a:solidFill>
              <a:effectLst/>
              <a:uFillTx/>
              <a:latin typeface="Arial"/>
            </a:endParaRPr>
          </a:p>
        </p:txBody>
      </p:sp>
      <p:sp>
        <p:nvSpPr>
          <p:cNvPr id="644" name="Text 11"/>
          <p:cNvSpPr/>
          <p:nvPr/>
        </p:nvSpPr>
        <p:spPr>
          <a:xfrm>
            <a:off x="3575160" y="3346560"/>
            <a:ext cx="202968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40" strike="noStrike" u="none">
                <a:solidFill>
                  <a:srgbClr val="d8e2ef"/>
                </a:solidFill>
                <a:effectLst/>
                <a:uFillTx/>
                <a:latin typeface="Aptos"/>
                <a:ea typeface="Aptos"/>
              </a:rPr>
              <a:t>Premium “Confidential AI” deployment tiers and managed services.</a:t>
            </a:r>
            <a:endParaRPr b="0" lang="ru-RU" sz="1040" strike="noStrike" u="none">
              <a:solidFill>
                <a:srgbClr val="ffffff"/>
              </a:solidFill>
              <a:effectLst/>
              <a:uFillTx/>
              <a:latin typeface="Arial"/>
            </a:endParaRPr>
          </a:p>
        </p:txBody>
      </p:sp>
      <p:sp>
        <p:nvSpPr>
          <p:cNvPr id="645" name="Shape 12"/>
          <p:cNvSpPr/>
          <p:nvPr/>
        </p:nvSpPr>
        <p:spPr>
          <a:xfrm>
            <a:off x="6181200" y="2066400"/>
            <a:ext cx="2523240" cy="2057040"/>
          </a:xfrm>
          <a:prstGeom prst="roundRect">
            <a:avLst>
              <a:gd name="adj" fmla="val 7111"/>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46" name="Text 13"/>
          <p:cNvSpPr/>
          <p:nvPr/>
        </p:nvSpPr>
        <p:spPr>
          <a:xfrm>
            <a:off x="6382440" y="2286000"/>
            <a:ext cx="411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5fe1a0"/>
                </a:solidFill>
                <a:effectLst/>
                <a:uFillTx/>
                <a:latin typeface="Aptos"/>
                <a:ea typeface="Aptos"/>
              </a:rPr>
              <a:t>03</a:t>
            </a:r>
            <a:endParaRPr b="0" lang="ru-RU" sz="1700" strike="noStrike" u="none">
              <a:solidFill>
                <a:srgbClr val="ffffff"/>
              </a:solidFill>
              <a:effectLst/>
              <a:uFillTx/>
              <a:latin typeface="Arial"/>
            </a:endParaRPr>
          </a:p>
        </p:txBody>
      </p:sp>
      <p:sp>
        <p:nvSpPr>
          <p:cNvPr id="647" name="Text 14"/>
          <p:cNvSpPr/>
          <p:nvPr/>
        </p:nvSpPr>
        <p:spPr>
          <a:xfrm>
            <a:off x="6382440" y="2770560"/>
            <a:ext cx="19656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f5f7fa"/>
                </a:solidFill>
                <a:effectLst/>
                <a:uFillTx/>
                <a:latin typeface="Aptos"/>
                <a:ea typeface="Aptos"/>
              </a:rPr>
              <a:t>Defend</a:t>
            </a:r>
            <a:endParaRPr b="0" lang="ru-RU" sz="1800" strike="noStrike" u="none">
              <a:solidFill>
                <a:srgbClr val="ffffff"/>
              </a:solidFill>
              <a:effectLst/>
              <a:uFillTx/>
              <a:latin typeface="Arial"/>
            </a:endParaRPr>
          </a:p>
        </p:txBody>
      </p:sp>
      <p:sp>
        <p:nvSpPr>
          <p:cNvPr id="648" name="Text 15"/>
          <p:cNvSpPr/>
          <p:nvPr/>
        </p:nvSpPr>
        <p:spPr>
          <a:xfrm>
            <a:off x="6382440" y="3346560"/>
            <a:ext cx="2029680" cy="5299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40" strike="noStrike" u="none">
                <a:solidFill>
                  <a:srgbClr val="d8e2ef"/>
                </a:solidFill>
                <a:effectLst/>
                <a:uFillTx/>
                <a:latin typeface="Aptos"/>
                <a:ea typeface="Aptos"/>
              </a:rPr>
              <a:t>Protect Cerebras model/IP assets and reduce tenant/operator trust assumptions.</a:t>
            </a:r>
            <a:endParaRPr b="0" lang="ru-RU" sz="1040" strike="noStrike" u="none">
              <a:solidFill>
                <a:srgbClr val="ffffff"/>
              </a:solidFill>
              <a:effectLst/>
              <a:uFillTx/>
              <a:latin typeface="Arial"/>
            </a:endParaRPr>
          </a:p>
        </p:txBody>
      </p:sp>
      <p:sp>
        <p:nvSpPr>
          <p:cNvPr id="649" name="Shape 16"/>
          <p:cNvSpPr/>
          <p:nvPr/>
        </p:nvSpPr>
        <p:spPr>
          <a:xfrm>
            <a:off x="8988480" y="2066400"/>
            <a:ext cx="2523240" cy="2057040"/>
          </a:xfrm>
          <a:prstGeom prst="roundRect">
            <a:avLst>
              <a:gd name="adj" fmla="val 7111"/>
            </a:avLst>
          </a:prstGeom>
          <a:solidFill>
            <a:srgbClr val="121c2e"/>
          </a:solidFill>
          <a:ln w="12700">
            <a:solidFill>
              <a:srgbClr val="24344e"/>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50" name="Text 17"/>
          <p:cNvSpPr/>
          <p:nvPr/>
        </p:nvSpPr>
        <p:spPr>
          <a:xfrm>
            <a:off x="9189720" y="2286000"/>
            <a:ext cx="411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ffd166"/>
                </a:solidFill>
                <a:effectLst/>
                <a:uFillTx/>
                <a:latin typeface="Aptos"/>
                <a:ea typeface="Aptos"/>
              </a:rPr>
              <a:t>04</a:t>
            </a:r>
            <a:endParaRPr b="0" lang="ru-RU" sz="1700" strike="noStrike" u="none">
              <a:solidFill>
                <a:srgbClr val="ffffff"/>
              </a:solidFill>
              <a:effectLst/>
              <a:uFillTx/>
              <a:latin typeface="Arial"/>
            </a:endParaRPr>
          </a:p>
        </p:txBody>
      </p:sp>
      <p:sp>
        <p:nvSpPr>
          <p:cNvPr id="651" name="Text 18"/>
          <p:cNvSpPr/>
          <p:nvPr/>
        </p:nvSpPr>
        <p:spPr>
          <a:xfrm>
            <a:off x="9189720" y="2770560"/>
            <a:ext cx="19656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f5f7fa"/>
                </a:solidFill>
                <a:effectLst/>
                <a:uFillTx/>
                <a:latin typeface="Aptos"/>
                <a:ea typeface="Aptos"/>
              </a:rPr>
              <a:t>Differentiate</a:t>
            </a:r>
            <a:endParaRPr b="0" lang="ru-RU" sz="1800" strike="noStrike" u="none">
              <a:solidFill>
                <a:srgbClr val="ffffff"/>
              </a:solidFill>
              <a:effectLst/>
              <a:uFillTx/>
              <a:latin typeface="Arial"/>
            </a:endParaRPr>
          </a:p>
        </p:txBody>
      </p:sp>
      <p:sp>
        <p:nvSpPr>
          <p:cNvPr id="652" name="Text 19"/>
          <p:cNvSpPr/>
          <p:nvPr/>
        </p:nvSpPr>
        <p:spPr>
          <a:xfrm>
            <a:off x="9189720" y="3346560"/>
            <a:ext cx="202968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40" strike="noStrike" u="none">
                <a:solidFill>
                  <a:srgbClr val="d8e2ef"/>
                </a:solidFill>
                <a:effectLst/>
                <a:uFillTx/>
                <a:latin typeface="Aptos"/>
                <a:ea typeface="Aptos"/>
              </a:rPr>
              <a:t>Define “trusted inference at wafer scale” as a category.</a:t>
            </a:r>
            <a:endParaRPr b="0" lang="ru-RU" sz="1040" strike="noStrike" u="none">
              <a:solidFill>
                <a:srgbClr val="ffffff"/>
              </a:solidFill>
              <a:effectLst/>
              <a:uFillTx/>
              <a:latin typeface="Arial"/>
            </a:endParaRPr>
          </a:p>
        </p:txBody>
      </p:sp>
      <p:sp>
        <p:nvSpPr>
          <p:cNvPr id="653" name="Shape 20"/>
          <p:cNvSpPr/>
          <p:nvPr/>
        </p:nvSpPr>
        <p:spPr>
          <a:xfrm>
            <a:off x="567000" y="4462200"/>
            <a:ext cx="11018160" cy="1188360"/>
          </a:xfrm>
          <a:prstGeom prst="roundRect">
            <a:avLst>
              <a:gd name="adj" fmla="val 12308"/>
            </a:avLst>
          </a:prstGeom>
          <a:solidFill>
            <a:srgbClr val="101b2c"/>
          </a:solidFill>
          <a:ln w="12700">
            <a:solidFill>
              <a:srgbClr val="ff6b35"/>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54" name="Text 21"/>
          <p:cNvSpPr/>
          <p:nvPr/>
        </p:nvSpPr>
        <p:spPr>
          <a:xfrm>
            <a:off x="868680" y="4736520"/>
            <a:ext cx="118836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39" strike="noStrike" u="none">
                <a:solidFill>
                  <a:srgbClr val="ff6b35"/>
                </a:solidFill>
                <a:effectLst/>
                <a:uFillTx/>
                <a:latin typeface="Aptos"/>
                <a:ea typeface="Aptos"/>
              </a:rPr>
              <a:t>EXECUTIVE ASK</a:t>
            </a:r>
            <a:endParaRPr b="0" lang="ru-RU" sz="900" strike="noStrike" u="none">
              <a:solidFill>
                <a:srgbClr val="ffffff"/>
              </a:solidFill>
              <a:effectLst/>
              <a:uFillTx/>
              <a:latin typeface="Arial"/>
            </a:endParaRPr>
          </a:p>
        </p:txBody>
      </p:sp>
      <p:sp>
        <p:nvSpPr>
          <p:cNvPr id="655" name="Text 22"/>
          <p:cNvSpPr/>
          <p:nvPr/>
        </p:nvSpPr>
        <p:spPr>
          <a:xfrm>
            <a:off x="2194560" y="4645080"/>
            <a:ext cx="8823600" cy="59400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520" strike="noStrike" u="none">
                <a:solidFill>
                  <a:srgbClr val="f5f7fa"/>
                </a:solidFill>
                <a:effectLst/>
                <a:uFillTx/>
                <a:latin typeface="Aptos"/>
                <a:ea typeface="Aptos"/>
              </a:rPr>
              <a:t>Authorize a joint C-CCA architecture sprint across Security + WSE/Hardware + Systems + Software, ending in a working attested-inference proof of concept and next-WSE requirements.</a:t>
            </a:r>
            <a:endParaRPr b="0" lang="ru-RU" sz="1520" strike="noStrike" u="none">
              <a:solidFill>
                <a:srgbClr val="ffffff"/>
              </a:solidFill>
              <a:effectLst/>
              <a:uFillTx/>
              <a:latin typeface="Arial"/>
            </a:endParaRPr>
          </a:p>
        </p:txBody>
      </p:sp>
      <p:sp>
        <p:nvSpPr>
          <p:cNvPr id="656" name="Text 23"/>
          <p:cNvSpPr/>
          <p:nvPr/>
        </p:nvSpPr>
        <p:spPr>
          <a:xfrm>
            <a:off x="868680" y="5833800"/>
            <a:ext cx="10058040" cy="29232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0" lang="en-US" sz="1120" strike="noStrike" u="none">
                <a:solidFill>
                  <a:srgbClr val="a9b6c8"/>
                </a:solidFill>
                <a:effectLst/>
                <a:uFillTx/>
                <a:latin typeface="Aptos"/>
                <a:ea typeface="Aptos"/>
              </a:rPr>
              <a:t>Success criterion: a customer can verify where its model, data, and cryptographic authority are — and prove that the cloud operator cannot access them.</a:t>
            </a:r>
            <a:endParaRPr b="0" lang="ru-RU" sz="1120" strike="noStrike" u="none">
              <a:solidFill>
                <a:srgbClr val="ffffff"/>
              </a:solidFill>
              <a:effectLst/>
              <a:uFillTx/>
              <a:latin typeface="Arial"/>
            </a:endParaRPr>
          </a:p>
        </p:txBody>
      </p:sp>
      <p:sp>
        <p:nvSpPr>
          <p:cNvPr id="657" name="Text 24"/>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Executive proposal. Commercial packaging and customer validation should follow the technical PoC.</a:t>
            </a:r>
            <a:endParaRPr b="0" lang="ru-RU" sz="660" strike="noStrike" u="none">
              <a:solidFill>
                <a:srgbClr val="ffffff"/>
              </a:solidFill>
              <a:effectLst/>
              <a:uFillTx/>
              <a:latin typeface="Arial"/>
            </a:endParaRPr>
          </a:p>
        </p:txBody>
      </p:sp>
      <p:sp>
        <p:nvSpPr>
          <p:cNvPr id="658" name="PlaceHolder 1"/>
          <p:cNvSpPr>
            <a:spLocks noGrp="1"/>
          </p:cNvSpPr>
          <p:nvPr>
            <p:ph type="sldNum" idx="19"/>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D4ADDC0E-1785-4FDC-9F78-5F62AF3B8D0F}"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Text 0"/>
          <p:cNvSpPr/>
          <p:nvPr/>
        </p:nvSpPr>
        <p:spPr>
          <a:xfrm>
            <a:off x="567000" y="420480"/>
            <a:ext cx="108810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50" strike="noStrike" u="none">
                <a:solidFill>
                  <a:srgbClr val="ff6b35"/>
                </a:solidFill>
                <a:effectLst/>
                <a:uFillTx/>
                <a:latin typeface="Aptos"/>
                <a:ea typeface="Aptos"/>
              </a:rPr>
              <a:t>APPENDIX • SECURITY INVARIANTS</a:t>
            </a:r>
            <a:endParaRPr b="0" lang="ru-RU" sz="1000" strike="noStrike" u="none">
              <a:solidFill>
                <a:srgbClr val="ffffff"/>
              </a:solidFill>
              <a:effectLst/>
              <a:uFillTx/>
              <a:latin typeface="Arial"/>
            </a:endParaRPr>
          </a:p>
        </p:txBody>
      </p:sp>
      <p:sp>
        <p:nvSpPr>
          <p:cNvPr id="660" name="Text 1"/>
          <p:cNvSpPr/>
          <p:nvPr/>
        </p:nvSpPr>
        <p:spPr>
          <a:xfrm>
            <a:off x="567000" y="713160"/>
            <a:ext cx="10972440" cy="63972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2900" strike="noStrike" u="none">
                <a:solidFill>
                  <a:srgbClr val="f5f7fa"/>
                </a:solidFill>
                <a:effectLst/>
                <a:uFillTx/>
                <a:latin typeface="Aptos"/>
                <a:ea typeface="Aptos"/>
              </a:rPr>
              <a:t>Six rules should remain true regardless of implementation details.</a:t>
            </a:r>
            <a:endParaRPr b="0" lang="ru-RU" sz="2900" strike="noStrike" u="none">
              <a:solidFill>
                <a:srgbClr val="ffffff"/>
              </a:solidFill>
              <a:effectLst/>
              <a:uFillTx/>
              <a:latin typeface="Arial"/>
            </a:endParaRPr>
          </a:p>
        </p:txBody>
      </p:sp>
      <p:sp>
        <p:nvSpPr>
          <p:cNvPr id="661" name="Text 2"/>
          <p:cNvSpPr/>
          <p:nvPr/>
        </p:nvSpPr>
        <p:spPr>
          <a:xfrm>
            <a:off x="585360" y="1362600"/>
            <a:ext cx="106981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9b6c8"/>
                </a:solidFill>
                <a:effectLst/>
                <a:uFillTx/>
                <a:latin typeface="Aptos"/>
                <a:ea typeface="Aptos"/>
              </a:rPr>
              <a:t>These invariants can become the acceptance criteria for silicon, firmware, and software.</a:t>
            </a:r>
            <a:endParaRPr b="0" lang="ru-RU" sz="1250" strike="noStrike" u="none">
              <a:solidFill>
                <a:srgbClr val="ffffff"/>
              </a:solidFill>
              <a:effectLst/>
              <a:uFillTx/>
              <a:latin typeface="Arial"/>
            </a:endParaRPr>
          </a:p>
        </p:txBody>
      </p:sp>
      <p:sp>
        <p:nvSpPr>
          <p:cNvPr id="662" name="Text 3"/>
          <p:cNvSpPr/>
          <p:nvPr/>
        </p:nvSpPr>
        <p:spPr>
          <a:xfrm>
            <a:off x="11109960" y="411480"/>
            <a:ext cx="502560" cy="237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00" strike="noStrike" u="none">
                <a:solidFill>
                  <a:srgbClr val="5f718c"/>
                </a:solidFill>
                <a:effectLst/>
                <a:uFillTx/>
                <a:latin typeface="Aptos"/>
                <a:ea typeface="Aptos"/>
              </a:rPr>
              <a:t>16</a:t>
            </a:r>
            <a:endParaRPr b="0" lang="ru-RU" sz="1000" strike="noStrike" u="none">
              <a:solidFill>
                <a:srgbClr val="ffffff"/>
              </a:solidFill>
              <a:effectLst/>
              <a:uFillTx/>
              <a:latin typeface="Arial"/>
            </a:endParaRPr>
          </a:p>
        </p:txBody>
      </p:sp>
      <p:sp>
        <p:nvSpPr>
          <p:cNvPr id="663" name="Shape 4"/>
          <p:cNvSpPr/>
          <p:nvPr/>
        </p:nvSpPr>
        <p:spPr>
          <a:xfrm>
            <a:off x="658440" y="2011680"/>
            <a:ext cx="5230080" cy="895680"/>
          </a:xfrm>
          <a:prstGeom prst="roundRect">
            <a:avLst>
              <a:gd name="adj" fmla="val 16327"/>
            </a:avLst>
          </a:prstGeom>
          <a:solidFill>
            <a:srgbClr val="121c2e"/>
          </a:solidFill>
          <a:ln w="12700">
            <a:solidFill>
              <a:srgbClr val="5fe1a0"/>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64" name="Text 5"/>
          <p:cNvSpPr/>
          <p:nvPr/>
        </p:nvSpPr>
        <p:spPr>
          <a:xfrm>
            <a:off x="841320" y="2267640"/>
            <a:ext cx="502560" cy="22824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600" strike="noStrike" u="none">
                <a:solidFill>
                  <a:srgbClr val="5fe1a0"/>
                </a:solidFill>
                <a:effectLst/>
                <a:uFillTx/>
                <a:latin typeface="Aptos"/>
                <a:ea typeface="Aptos"/>
              </a:rPr>
              <a:t>01</a:t>
            </a:r>
            <a:endParaRPr b="0" lang="ru-RU" sz="1600" strike="noStrike" u="none">
              <a:solidFill>
                <a:srgbClr val="ffffff"/>
              </a:solidFill>
              <a:effectLst/>
              <a:uFillTx/>
              <a:latin typeface="Arial"/>
            </a:endParaRPr>
          </a:p>
        </p:txBody>
      </p:sp>
      <p:sp>
        <p:nvSpPr>
          <p:cNvPr id="665" name="Text 6"/>
          <p:cNvSpPr/>
          <p:nvPr/>
        </p:nvSpPr>
        <p:spPr>
          <a:xfrm>
            <a:off x="1527120" y="2194560"/>
            <a:ext cx="40687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f5f7fa"/>
                </a:solidFill>
                <a:effectLst/>
                <a:uFillTx/>
                <a:latin typeface="Aptos"/>
                <a:ea typeface="Aptos"/>
              </a:rPr>
              <a:t>No secret release without valid attestation</a:t>
            </a:r>
            <a:endParaRPr b="0" lang="ru-RU" sz="1300" strike="noStrike" u="none">
              <a:solidFill>
                <a:srgbClr val="ffffff"/>
              </a:solidFill>
              <a:effectLst/>
              <a:uFillTx/>
              <a:latin typeface="Arial"/>
            </a:endParaRPr>
          </a:p>
        </p:txBody>
      </p:sp>
      <p:sp>
        <p:nvSpPr>
          <p:cNvPr id="666" name="Shape 7"/>
          <p:cNvSpPr/>
          <p:nvPr/>
        </p:nvSpPr>
        <p:spPr>
          <a:xfrm>
            <a:off x="6217920" y="2011680"/>
            <a:ext cx="5230080" cy="895680"/>
          </a:xfrm>
          <a:prstGeom prst="roundRect">
            <a:avLst>
              <a:gd name="adj" fmla="val 16327"/>
            </a:avLst>
          </a:prstGeom>
          <a:solidFill>
            <a:srgbClr val="162337"/>
          </a:solidFill>
          <a:ln w="12700">
            <a:solidFill>
              <a:srgbClr val="3bd6e8"/>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67" name="Text 8"/>
          <p:cNvSpPr/>
          <p:nvPr/>
        </p:nvSpPr>
        <p:spPr>
          <a:xfrm>
            <a:off x="6400800" y="2267640"/>
            <a:ext cx="502560" cy="22824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600" strike="noStrike" u="none">
                <a:solidFill>
                  <a:srgbClr val="3bd6e8"/>
                </a:solidFill>
                <a:effectLst/>
                <a:uFillTx/>
                <a:latin typeface="Aptos"/>
                <a:ea typeface="Aptos"/>
              </a:rPr>
              <a:t>02</a:t>
            </a:r>
            <a:endParaRPr b="0" lang="ru-RU" sz="1600" strike="noStrike" u="none">
              <a:solidFill>
                <a:srgbClr val="ffffff"/>
              </a:solidFill>
              <a:effectLst/>
              <a:uFillTx/>
              <a:latin typeface="Arial"/>
            </a:endParaRPr>
          </a:p>
        </p:txBody>
      </p:sp>
      <p:sp>
        <p:nvSpPr>
          <p:cNvPr id="668" name="Text 9"/>
          <p:cNvSpPr/>
          <p:nvPr/>
        </p:nvSpPr>
        <p:spPr>
          <a:xfrm>
            <a:off x="7086600" y="2194560"/>
            <a:ext cx="40687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f5f7fa"/>
                </a:solidFill>
                <a:effectLst/>
                <a:uFillTx/>
                <a:latin typeface="Aptos"/>
                <a:ea typeface="Aptos"/>
              </a:rPr>
              <a:t>No host access to confidential execution memory</a:t>
            </a:r>
            <a:endParaRPr b="0" lang="ru-RU" sz="1300" strike="noStrike" u="none">
              <a:solidFill>
                <a:srgbClr val="ffffff"/>
              </a:solidFill>
              <a:effectLst/>
              <a:uFillTx/>
              <a:latin typeface="Arial"/>
            </a:endParaRPr>
          </a:p>
        </p:txBody>
      </p:sp>
      <p:sp>
        <p:nvSpPr>
          <p:cNvPr id="669" name="Shape 10"/>
          <p:cNvSpPr/>
          <p:nvPr/>
        </p:nvSpPr>
        <p:spPr>
          <a:xfrm>
            <a:off x="658440" y="3154680"/>
            <a:ext cx="5230080" cy="895680"/>
          </a:xfrm>
          <a:prstGeom prst="roundRect">
            <a:avLst>
              <a:gd name="adj" fmla="val 16327"/>
            </a:avLst>
          </a:prstGeom>
          <a:solidFill>
            <a:srgbClr val="121c2e"/>
          </a:solidFill>
          <a:ln w="12700">
            <a:solidFill>
              <a:srgbClr val="ff6b35"/>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70" name="Text 11"/>
          <p:cNvSpPr/>
          <p:nvPr/>
        </p:nvSpPr>
        <p:spPr>
          <a:xfrm>
            <a:off x="841320" y="3410640"/>
            <a:ext cx="502560" cy="22824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600" strike="noStrike" u="none">
                <a:solidFill>
                  <a:srgbClr val="ff6b35"/>
                </a:solidFill>
                <a:effectLst/>
                <a:uFillTx/>
                <a:latin typeface="Aptos"/>
                <a:ea typeface="Aptos"/>
              </a:rPr>
              <a:t>03</a:t>
            </a:r>
            <a:endParaRPr b="0" lang="ru-RU" sz="1600" strike="noStrike" u="none">
              <a:solidFill>
                <a:srgbClr val="ffffff"/>
              </a:solidFill>
              <a:effectLst/>
              <a:uFillTx/>
              <a:latin typeface="Arial"/>
            </a:endParaRPr>
          </a:p>
        </p:txBody>
      </p:sp>
      <p:sp>
        <p:nvSpPr>
          <p:cNvPr id="671" name="Text 12"/>
          <p:cNvSpPr/>
          <p:nvPr/>
        </p:nvSpPr>
        <p:spPr>
          <a:xfrm>
            <a:off x="1527120" y="3337560"/>
            <a:ext cx="40687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f5f7fa"/>
                </a:solidFill>
                <a:effectLst/>
                <a:uFillTx/>
                <a:latin typeface="Aptos"/>
                <a:ea typeface="Aptos"/>
              </a:rPr>
              <a:t>No plaintext model leaves the trusted domain</a:t>
            </a:r>
            <a:endParaRPr b="0" lang="ru-RU" sz="1300" strike="noStrike" u="none">
              <a:solidFill>
                <a:srgbClr val="ffffff"/>
              </a:solidFill>
              <a:effectLst/>
              <a:uFillTx/>
              <a:latin typeface="Arial"/>
            </a:endParaRPr>
          </a:p>
        </p:txBody>
      </p:sp>
      <p:sp>
        <p:nvSpPr>
          <p:cNvPr id="672" name="Shape 13"/>
          <p:cNvSpPr/>
          <p:nvPr/>
        </p:nvSpPr>
        <p:spPr>
          <a:xfrm>
            <a:off x="6217920" y="3154680"/>
            <a:ext cx="5230080" cy="895680"/>
          </a:xfrm>
          <a:prstGeom prst="roundRect">
            <a:avLst>
              <a:gd name="adj" fmla="val 16327"/>
            </a:avLst>
          </a:prstGeom>
          <a:solidFill>
            <a:srgbClr val="162337"/>
          </a:solidFill>
          <a:ln w="12700">
            <a:solidFill>
              <a:srgbClr val="ffd166"/>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73" name="Text 14"/>
          <p:cNvSpPr/>
          <p:nvPr/>
        </p:nvSpPr>
        <p:spPr>
          <a:xfrm>
            <a:off x="6400800" y="3410640"/>
            <a:ext cx="502560" cy="22824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600" strike="noStrike" u="none">
                <a:solidFill>
                  <a:srgbClr val="ffd166"/>
                </a:solidFill>
                <a:effectLst/>
                <a:uFillTx/>
                <a:latin typeface="Aptos"/>
                <a:ea typeface="Aptos"/>
              </a:rPr>
              <a:t>04</a:t>
            </a:r>
            <a:endParaRPr b="0" lang="ru-RU" sz="1600" strike="noStrike" u="none">
              <a:solidFill>
                <a:srgbClr val="ffffff"/>
              </a:solidFill>
              <a:effectLst/>
              <a:uFillTx/>
              <a:latin typeface="Arial"/>
            </a:endParaRPr>
          </a:p>
        </p:txBody>
      </p:sp>
      <p:sp>
        <p:nvSpPr>
          <p:cNvPr id="674" name="Text 15"/>
          <p:cNvSpPr/>
          <p:nvPr/>
        </p:nvSpPr>
        <p:spPr>
          <a:xfrm>
            <a:off x="7086600" y="3337560"/>
            <a:ext cx="40687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f5f7fa"/>
                </a:solidFill>
                <a:effectLst/>
                <a:uFillTx/>
                <a:latin typeface="Aptos"/>
                <a:ea typeface="Aptos"/>
              </a:rPr>
              <a:t>No private-key export from the crypto service</a:t>
            </a:r>
            <a:endParaRPr b="0" lang="ru-RU" sz="1300" strike="noStrike" u="none">
              <a:solidFill>
                <a:srgbClr val="ffffff"/>
              </a:solidFill>
              <a:effectLst/>
              <a:uFillTx/>
              <a:latin typeface="Arial"/>
            </a:endParaRPr>
          </a:p>
        </p:txBody>
      </p:sp>
      <p:sp>
        <p:nvSpPr>
          <p:cNvPr id="675" name="Shape 16"/>
          <p:cNvSpPr/>
          <p:nvPr/>
        </p:nvSpPr>
        <p:spPr>
          <a:xfrm>
            <a:off x="658440" y="4297680"/>
            <a:ext cx="5230080" cy="895680"/>
          </a:xfrm>
          <a:prstGeom prst="roundRect">
            <a:avLst>
              <a:gd name="adj" fmla="val 16327"/>
            </a:avLst>
          </a:prstGeom>
          <a:solidFill>
            <a:srgbClr val="121c2e"/>
          </a:solidFill>
          <a:ln w="12700">
            <a:solidFill>
              <a:srgbClr val="71a7ff"/>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76" name="Text 17"/>
          <p:cNvSpPr/>
          <p:nvPr/>
        </p:nvSpPr>
        <p:spPr>
          <a:xfrm>
            <a:off x="841320" y="4553640"/>
            <a:ext cx="502560" cy="22824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600" strike="noStrike" u="none">
                <a:solidFill>
                  <a:srgbClr val="71a7ff"/>
                </a:solidFill>
                <a:effectLst/>
                <a:uFillTx/>
                <a:latin typeface="Aptos"/>
                <a:ea typeface="Aptos"/>
              </a:rPr>
              <a:t>05</a:t>
            </a:r>
            <a:endParaRPr b="0" lang="ru-RU" sz="1600" strike="noStrike" u="none">
              <a:solidFill>
                <a:srgbClr val="ffffff"/>
              </a:solidFill>
              <a:effectLst/>
              <a:uFillTx/>
              <a:latin typeface="Arial"/>
            </a:endParaRPr>
          </a:p>
        </p:txBody>
      </p:sp>
      <p:sp>
        <p:nvSpPr>
          <p:cNvPr id="677" name="Text 18"/>
          <p:cNvSpPr/>
          <p:nvPr/>
        </p:nvSpPr>
        <p:spPr>
          <a:xfrm>
            <a:off x="1527120" y="4480560"/>
            <a:ext cx="40687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f5f7fa"/>
                </a:solidFill>
                <a:effectLst/>
                <a:uFillTx/>
                <a:latin typeface="Aptos"/>
                <a:ea typeface="Aptos"/>
              </a:rPr>
              <a:t>No cross-domain fabric / DMA access</a:t>
            </a:r>
            <a:endParaRPr b="0" lang="ru-RU" sz="1300" strike="noStrike" u="none">
              <a:solidFill>
                <a:srgbClr val="ffffff"/>
              </a:solidFill>
              <a:effectLst/>
              <a:uFillTx/>
              <a:latin typeface="Arial"/>
            </a:endParaRPr>
          </a:p>
        </p:txBody>
      </p:sp>
      <p:sp>
        <p:nvSpPr>
          <p:cNvPr id="678" name="Shape 19"/>
          <p:cNvSpPr/>
          <p:nvPr/>
        </p:nvSpPr>
        <p:spPr>
          <a:xfrm>
            <a:off x="6217920" y="4297680"/>
            <a:ext cx="5230080" cy="895680"/>
          </a:xfrm>
          <a:prstGeom prst="roundRect">
            <a:avLst>
              <a:gd name="adj" fmla="val 16327"/>
            </a:avLst>
          </a:prstGeom>
          <a:solidFill>
            <a:srgbClr val="162337"/>
          </a:solidFill>
          <a:ln w="12700">
            <a:solidFill>
              <a:srgbClr val="ff6b6b"/>
            </a:solidFill>
            <a:round/>
          </a:ln>
          <a:effectLst>
            <a:outerShdw algn="bl" blurRad="0" dir="0" dist="0" kx="0" ky="0" rotWithShape="0" sx="100000" sy="100000">
              <a:srgbClr val="000000">
                <a:alpha val="0"/>
              </a:srgbClr>
            </a:outerShdw>
          </a:effectLst>
        </p:spPr>
        <p:style>
          <a:lnRef idx="0"/>
          <a:fillRef idx="0"/>
          <a:effectRef idx="0"/>
          <a:fontRef idx="minor"/>
        </p:style>
        <p:txBody>
          <a:bodyPr lIns="90000" rIns="90000" tIns="45000" bIns="45000" anchor="t">
            <a:noAutofit/>
          </a:bodyPr>
          <a:p>
            <a:endParaRPr b="0" lang="ru-RU" sz="1800" strike="noStrike" u="none">
              <a:solidFill>
                <a:srgbClr val="ffffff"/>
              </a:solidFill>
              <a:effectLst/>
              <a:uFillTx/>
              <a:latin typeface="Arial"/>
            </a:endParaRPr>
          </a:p>
        </p:txBody>
      </p:sp>
      <p:sp>
        <p:nvSpPr>
          <p:cNvPr id="679" name="Text 20"/>
          <p:cNvSpPr/>
          <p:nvPr/>
        </p:nvSpPr>
        <p:spPr>
          <a:xfrm>
            <a:off x="6400800" y="4553640"/>
            <a:ext cx="502560" cy="22824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600" strike="noStrike" u="none">
                <a:solidFill>
                  <a:srgbClr val="ff6b6b"/>
                </a:solidFill>
                <a:effectLst/>
                <a:uFillTx/>
                <a:latin typeface="Aptos"/>
                <a:ea typeface="Aptos"/>
              </a:rPr>
              <a:t>06</a:t>
            </a:r>
            <a:endParaRPr b="0" lang="ru-RU" sz="1600" strike="noStrike" u="none">
              <a:solidFill>
                <a:srgbClr val="ffffff"/>
              </a:solidFill>
              <a:effectLst/>
              <a:uFillTx/>
              <a:latin typeface="Arial"/>
            </a:endParaRPr>
          </a:p>
        </p:txBody>
      </p:sp>
      <p:sp>
        <p:nvSpPr>
          <p:cNvPr id="680" name="Text 21"/>
          <p:cNvSpPr/>
          <p:nvPr/>
        </p:nvSpPr>
        <p:spPr>
          <a:xfrm>
            <a:off x="7086600" y="4480560"/>
            <a:ext cx="40687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f5f7fa"/>
                </a:solidFill>
                <a:effectLst/>
                <a:uFillTx/>
                <a:latin typeface="Aptos"/>
                <a:ea typeface="Aptos"/>
              </a:rPr>
              <a:t>Destroying the domain destroys its operational key hierarchy</a:t>
            </a:r>
            <a:endParaRPr b="0" lang="ru-RU" sz="1300" strike="noStrike" u="none">
              <a:solidFill>
                <a:srgbClr val="ffffff"/>
              </a:solidFill>
              <a:effectLst/>
              <a:uFillTx/>
              <a:latin typeface="Arial"/>
            </a:endParaRPr>
          </a:p>
        </p:txBody>
      </p:sp>
      <p:sp>
        <p:nvSpPr>
          <p:cNvPr id="681" name="Text 22"/>
          <p:cNvSpPr/>
          <p:nvPr/>
        </p:nvSpPr>
        <p:spPr>
          <a:xfrm>
            <a:off x="658440" y="5961960"/>
            <a:ext cx="102409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a9b6c8"/>
                </a:solidFill>
                <a:effectLst/>
                <a:uFillTx/>
                <a:latin typeface="Aptos"/>
                <a:ea typeface="Aptos"/>
              </a:rPr>
              <a:t>These are architecture invariants; implementations can evolve from software prototype to dedicated silicon.</a:t>
            </a:r>
            <a:endParaRPr b="0" lang="ru-RU" sz="1050" strike="noStrike" u="none">
              <a:solidFill>
                <a:srgbClr val="ffffff"/>
              </a:solidFill>
              <a:effectLst/>
              <a:uFillTx/>
              <a:latin typeface="Arial"/>
            </a:endParaRPr>
          </a:p>
        </p:txBody>
      </p:sp>
      <p:sp>
        <p:nvSpPr>
          <p:cNvPr id="682" name="Text 23"/>
          <p:cNvSpPr/>
          <p:nvPr/>
        </p:nvSpPr>
        <p:spPr>
          <a:xfrm>
            <a:off x="567000" y="6199560"/>
            <a:ext cx="10606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660" strike="noStrike" u="none">
                <a:solidFill>
                  <a:srgbClr val="71839c"/>
                </a:solidFill>
                <a:effectLst/>
                <a:uFillTx/>
                <a:latin typeface="Aptos"/>
                <a:ea typeface="Aptos"/>
              </a:rPr>
              <a:t>Appendix — proposed acceptance criteria.</a:t>
            </a:r>
            <a:endParaRPr b="0" lang="ru-RU" sz="660" strike="noStrike" u="none">
              <a:solidFill>
                <a:srgbClr val="ffffff"/>
              </a:solidFill>
              <a:effectLst/>
              <a:uFillTx/>
              <a:latin typeface="Arial"/>
            </a:endParaRPr>
          </a:p>
        </p:txBody>
      </p:sp>
      <p:sp>
        <p:nvSpPr>
          <p:cNvPr id="683" name="PlaceHolder 1"/>
          <p:cNvSpPr>
            <a:spLocks noGrp="1"/>
          </p:cNvSpPr>
          <p:nvPr>
            <p:ph type="sldNum" idx="20"/>
          </p:nvPr>
        </p:nvSpPr>
        <p:spPr>
          <a:xfrm>
            <a:off x="11731680" y="64375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93a4bd"/>
                </a:solidFill>
                <a:effectLst/>
                <a:uFillTx/>
                <a:latin typeface="Aptos"/>
                <a:ea typeface="Aptos"/>
              </a:defRPr>
            </a:lvl1pPr>
          </a:lstStyle>
          <a:p>
            <a:pPr indent="0" defTabSz="914400">
              <a:lnSpc>
                <a:spcPct val="100000"/>
              </a:lnSpc>
              <a:buNone/>
            </a:pPr>
            <a:fld id="{69DE6CB4-7472-4959-B66E-F67B026D938C}" type="slidenum">
              <a:rPr b="0" lang="en-US" sz="700" strike="noStrike" u="none">
                <a:solidFill>
                  <a:srgbClr val="93a4bd"/>
                </a:solidFill>
                <a:effectLst/>
                <a:uFillTx/>
                <a:latin typeface="Aptos"/>
                <a:ea typeface="Aptos"/>
              </a:rPr>
              <a:t>&lt;number&gt;</a:t>
            </a:fld>
            <a:endParaRPr b="0" lang="ru-RU" sz="7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LibreOffice/25.8.1.1$Linux_X86_64 LibreOffice_project/580$Build-1</Application>
  <AppVersion>15.0000</AppVersion>
  <Words>0</Words>
  <Paragraphs>0</Paragraphs>
  <Company>OpenAI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2026-09-08T19:57:09Z</dcterms:created>
  <dc:creator>OpenAI</dc:creator>
  <dc:description/>
  <dc:language>en-GB</dc:language>
  <cp:lastModifiedBy/>
  <dcterms:modified xsi:type="dcterms:W3CDTF">2026-09-09T02:22:18Z</dcterms:modified>
  <cp:revision>2</cp:revision>
  <dc:subject>Cerebras Confidential Computing Architecture proposal</dc:subject>
  <dc:title>Trusted Intelligence at Wafer Scale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(16:9)</vt:lpwstr>
  </property>
  <property fmtid="{D5CDD505-2E9C-101B-9397-08002B2CF9AE}" pid="4" name="Slides">
    <vt:i4>16</vt:i4>
  </property>
</Properties>
</file>