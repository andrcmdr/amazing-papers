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pitch: Cerebras has made inference speed a strategic differentiator. The next strategic differentiator can be trust: not just “fastest AI,” but “verifiably confidential AI.” This proposal extends confidential computing from CPU memory into the Cerebras wafer-scale execution domain, so model IP, user data, agent credentials, and plaintext cryptographic keys are protected by hardware-backed isolation and attestation.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to executives: This is not a feature checklist. It is a platform-level opportunity. Cerebras already owns the performance story. C-CCA adds a trust story that matters to regulated, sovereign, and high-value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current CS-4 story as the timing argument. Cerebras says developers want responsive agentic applications and hyperscale operators need modular infrastructure. That growth increases the value of confidentiality and attestation because agents increasingly touch protected enterprise data and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distinction. We are not claiming Cerebras lacks security. We are identifying an architectural gap in the public documentation: a CPU CVM can protect CPU memory, but a confidential AI platform needs a trustworthy accelerator execution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Executives should see that the architecture is threat-model driven. The first commercial target is a strong software adversary: host OS, hypervisor, management plane, DMA. Physical side channels can be a separate high-assurance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picture. The CPU CVM is necessary but insufficient. The WSE confidential domain adds hardware-enforced isolation of compute, SRAM, fabric, and DMA. A composite attestation binds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novel part of the proposal. We should not literally clone SGX. A WSE needs a coarse-grained, hardware-enforced spatial security domain across PE, SRAM, routing, and DMA. The CDID becomes the primitive that the rest of the security stack consumes.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promise is end-to-end data-in-use protection. The protected set is larger than “model weights”: prompts, KV cache, activations, retrieved data and agent state can all contain sensitive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cryptography story can be stronger than generic memory encryption. Put a small crypto service inside the confidential domain. Applications receive key handles, not private key bytes. For threshold cryptography, require attested participants and never reconstruct the full key outside the protected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“zero trust” mechanism. Attestation is not just for observability; it becomes the gate in front of the KMS. This is what transforms hardware-backed security into an operational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strategic growth area. A fast inference engine is ideal for agents, but an agent that can sign, transact, query private databases, or call cloud APIs needs confidential credentials. C-CCA can make that safe enough for more sensitive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market prioritization slide. The common denominator is not simply “regulated industry”; it is situations where confidential data, proprietary model IP, and high-value actions coexist. Those customers will pay for verifiable confidentiality if it comes with Cerebras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competitive message: NVIDIA has demonstrated accelerator confidentiality and remote attestation. Intel has demonstrated confidential VMs. Cerebras can combine those concepts with the wafer-scale architecture and potentially make the fabric itself part of the enclave.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starts without waiting for a new chip. A software prototype can prove the trust model, key release protocol, model measurement, and workload lifecycle. That creates concrete requirements for the next WSE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the technology. We are asking for an architecture sprint with a concrete PoC. The product promise is simple: a customer can verify where its model, data and cryptographic authority reside, even when the infrastructure is not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invariants as the technical north star. Any implementation choice should be judged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F6B35"/>
          </a:solidFill>
          <a:ln w="12700">
            <a:solidFill>
              <a:srgbClr val="FF6B35"/>
            </a:solidFill>
            <a:prstDash val="solid"/>
          </a:ln>
        </p:spPr>
      </p:sp>
      <p:sp>
        <p:nvSpPr>
          <p:cNvPr id="3" name="Text 1"/>
          <p:cNvSpPr/>
          <p:nvPr/>
        </p:nvSpPr>
        <p:spPr>
          <a:xfrm>
            <a:off x="502920" y="6473952"/>
            <a:ext cx="7863840" cy="182880"/>
          </a:xfrm>
          <a:prstGeom prst="rect">
            <a:avLst/>
          </a:prstGeom>
          <a:noFill/>
          <a:ln/>
        </p:spPr>
        <p:txBody>
          <a:bodyPr wrap="square" lIns="0" tIns="0" rIns="0" bIns="0" rtlCol="0" anchor="ctr"/>
          <a:lstStyle/>
          <a:p>
            <a:pPr indent="0" marL="0">
              <a:buNone/>
            </a:pPr>
            <a:r>
              <a:rPr lang="en-US" sz="750" b="1" spc="60" kern="0" dirty="0">
                <a:solidFill>
                  <a:srgbClr val="93A4BD"/>
                </a:solidFill>
                <a:latin typeface="Aptos" pitchFamily="34" charset="0"/>
                <a:ea typeface="Aptos" pitchFamily="34" charset="-122"/>
                <a:cs typeface="Aptos" pitchFamily="34" charset="-120"/>
              </a:rPr>
              <a:t>CEREBRAS CONFIDENTIAL COMPUTING ARCHITECTURE  |  PROPOSAL</a:t>
            </a:r>
            <a:endParaRPr lang="en-US" sz="750" dirty="0"/>
          </a:p>
        </p:txBody>
      </p:sp>
      <p:sp>
        <p:nvSpPr>
          <p:cNvPr id="4" name="Text 2"/>
          <p:cNvSpPr/>
          <p:nvPr/>
        </p:nvSpPr>
        <p:spPr>
          <a:xfrm>
            <a:off x="10469880" y="6473952"/>
            <a:ext cx="1188720" cy="182880"/>
          </a:xfrm>
          <a:prstGeom prst="rect">
            <a:avLst/>
          </a:prstGeom>
          <a:noFill/>
          <a:ln/>
        </p:spPr>
        <p:txBody>
          <a:bodyPr wrap="square" lIns="0" tIns="0" rIns="0" bIns="0" rtlCol="0" anchor="ctr"/>
          <a:lstStyle/>
          <a:p>
            <a:pPr algn="r" indent="0" marL="0">
              <a:buNone/>
            </a:pPr>
            <a:r>
              <a:rPr lang="en-US" sz="750" dirty="0">
                <a:solidFill>
                  <a:srgbClr val="93A4BD"/>
                </a:solidFill>
                <a:latin typeface="Aptos" pitchFamily="34" charset="0"/>
                <a:ea typeface="Aptos" pitchFamily="34" charset="-122"/>
                <a:cs typeface="Aptos" pitchFamily="34" charset="-120"/>
              </a:rPr>
              <a:t>September 2026</a:t>
            </a:r>
            <a:endParaRPr lang="en-US" sz="75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rot="900000">
            <a:off x="6995160" y="1005840"/>
            <a:ext cx="3749040" cy="3749040"/>
          </a:xfrm>
          <a:prstGeom prst="arc">
            <a:avLst/>
          </a:prstGeom>
          <a:noFill/>
          <a:ln w="15240">
            <a:solidFill>
              <a:srgbClr val="FF6B35">
                <a:alpha val="22000"/>
              </a:srgbClr>
            </a:solidFill>
            <a:prstDash val="solid"/>
            <a:headEnd type="none"/>
            <a:tailEnd type="none"/>
          </a:ln>
        </p:spPr>
      </p:sp>
      <p:sp>
        <p:nvSpPr>
          <p:cNvPr id="3" name="Shape 1"/>
          <p:cNvSpPr/>
          <p:nvPr/>
        </p:nvSpPr>
        <p:spPr>
          <a:xfrm rot="900000">
            <a:off x="7434072" y="1170432"/>
            <a:ext cx="3749040" cy="3749040"/>
          </a:xfrm>
          <a:prstGeom prst="arc">
            <a:avLst/>
          </a:prstGeom>
          <a:noFill/>
          <a:ln w="15240">
            <a:solidFill>
              <a:srgbClr val="FF6B35">
                <a:alpha val="22000"/>
              </a:srgbClr>
            </a:solidFill>
            <a:prstDash val="solid"/>
            <a:headEnd type="none"/>
            <a:tailEnd type="none"/>
          </a:ln>
        </p:spPr>
      </p:sp>
      <p:sp>
        <p:nvSpPr>
          <p:cNvPr id="4" name="Shape 2"/>
          <p:cNvSpPr/>
          <p:nvPr/>
        </p:nvSpPr>
        <p:spPr>
          <a:xfrm rot="900000">
            <a:off x="7872984" y="1335024"/>
            <a:ext cx="3749040" cy="3749040"/>
          </a:xfrm>
          <a:prstGeom prst="arc">
            <a:avLst/>
          </a:prstGeom>
          <a:noFill/>
          <a:ln w="15240">
            <a:solidFill>
              <a:srgbClr val="FF6B35">
                <a:alpha val="22000"/>
              </a:srgbClr>
            </a:solidFill>
            <a:prstDash val="solid"/>
            <a:headEnd type="none"/>
            <a:tailEnd type="none"/>
          </a:ln>
        </p:spPr>
      </p:sp>
      <p:sp>
        <p:nvSpPr>
          <p:cNvPr id="5" name="Shape 3"/>
          <p:cNvSpPr/>
          <p:nvPr/>
        </p:nvSpPr>
        <p:spPr>
          <a:xfrm rot="900000">
            <a:off x="8311896" y="1499616"/>
            <a:ext cx="3749040" cy="3749040"/>
          </a:xfrm>
          <a:prstGeom prst="arc">
            <a:avLst/>
          </a:prstGeom>
          <a:noFill/>
          <a:ln w="15240">
            <a:solidFill>
              <a:srgbClr val="3BD6E8">
                <a:alpha val="22000"/>
              </a:srgbClr>
            </a:solidFill>
            <a:prstDash val="solid"/>
            <a:headEnd type="none"/>
            <a:tailEnd type="none"/>
          </a:ln>
        </p:spPr>
      </p:sp>
      <p:sp>
        <p:nvSpPr>
          <p:cNvPr id="6" name="Shape 4"/>
          <p:cNvSpPr/>
          <p:nvPr/>
        </p:nvSpPr>
        <p:spPr>
          <a:xfrm rot="900000">
            <a:off x="8750808" y="1664208"/>
            <a:ext cx="3749040" cy="3749040"/>
          </a:xfrm>
          <a:prstGeom prst="arc">
            <a:avLst/>
          </a:prstGeom>
          <a:noFill/>
          <a:ln w="15240">
            <a:solidFill>
              <a:srgbClr val="3BD6E8">
                <a:alpha val="22000"/>
              </a:srgbClr>
            </a:solidFill>
            <a:prstDash val="solid"/>
            <a:headEnd type="none"/>
            <a:tailEnd type="none"/>
          </a:ln>
        </p:spPr>
      </p:sp>
      <p:sp>
        <p:nvSpPr>
          <p:cNvPr id="7" name="Shape 5"/>
          <p:cNvSpPr/>
          <p:nvPr/>
        </p:nvSpPr>
        <p:spPr>
          <a:xfrm rot="900000">
            <a:off x="9189720" y="1828800"/>
            <a:ext cx="3749040" cy="3749040"/>
          </a:xfrm>
          <a:prstGeom prst="arc">
            <a:avLst/>
          </a:prstGeom>
          <a:noFill/>
          <a:ln w="15240">
            <a:solidFill>
              <a:srgbClr val="3BD6E8">
                <a:alpha val="22000"/>
              </a:srgbClr>
            </a:solidFill>
            <a:prstDash val="solid"/>
            <a:headEnd type="none"/>
            <a:tailEnd type="none"/>
          </a:ln>
        </p:spPr>
      </p:sp>
      <p:sp>
        <p:nvSpPr>
          <p:cNvPr id="8" name="Shape 6"/>
          <p:cNvSpPr/>
          <p:nvPr/>
        </p:nvSpPr>
        <p:spPr>
          <a:xfrm rot="900000">
            <a:off x="9628632" y="1993392"/>
            <a:ext cx="3749040" cy="3749040"/>
          </a:xfrm>
          <a:prstGeom prst="arc">
            <a:avLst/>
          </a:prstGeom>
          <a:noFill/>
          <a:ln w="15240">
            <a:solidFill>
              <a:srgbClr val="3BD6E8">
                <a:alpha val="22000"/>
              </a:srgbClr>
            </a:solidFill>
            <a:prstDash val="solid"/>
            <a:headEnd type="none"/>
            <a:tailEnd type="none"/>
          </a:ln>
        </p:spPr>
      </p:sp>
      <p:sp>
        <p:nvSpPr>
          <p:cNvPr id="9" name="Shape 7"/>
          <p:cNvSpPr/>
          <p:nvPr/>
        </p:nvSpPr>
        <p:spPr>
          <a:xfrm rot="900000">
            <a:off x="10067544" y="2157984"/>
            <a:ext cx="3749040" cy="3749040"/>
          </a:xfrm>
          <a:prstGeom prst="arc">
            <a:avLst/>
          </a:prstGeom>
          <a:noFill/>
          <a:ln w="15240">
            <a:solidFill>
              <a:srgbClr val="3BD6E8">
                <a:alpha val="22000"/>
              </a:srgbClr>
            </a:solidFill>
            <a:prstDash val="solid"/>
            <a:headEnd type="none"/>
            <a:tailEnd type="none"/>
          </a:ln>
        </p:spPr>
      </p:sp>
      <p:sp>
        <p:nvSpPr>
          <p:cNvPr id="10" name="Shape 8"/>
          <p:cNvSpPr/>
          <p:nvPr/>
        </p:nvSpPr>
        <p:spPr>
          <a:xfrm>
            <a:off x="7040880" y="1463040"/>
            <a:ext cx="45720" cy="45720"/>
          </a:xfrm>
          <a:prstGeom prst="ellipse">
            <a:avLst/>
          </a:prstGeom>
          <a:solidFill>
            <a:srgbClr val="FF6B35">
              <a:alpha val="75000"/>
            </a:srgbClr>
          </a:solidFill>
          <a:ln w="12700">
            <a:solidFill>
              <a:srgbClr val="FF6B35">
                <a:alpha val="0"/>
              </a:srgbClr>
            </a:solidFill>
            <a:prstDash val="solid"/>
          </a:ln>
        </p:spPr>
      </p:sp>
      <p:sp>
        <p:nvSpPr>
          <p:cNvPr id="11" name="Shape 9"/>
          <p:cNvSpPr/>
          <p:nvPr/>
        </p:nvSpPr>
        <p:spPr>
          <a:xfrm>
            <a:off x="7452360" y="1463040"/>
            <a:ext cx="45720" cy="45720"/>
          </a:xfrm>
          <a:prstGeom prst="ellipse">
            <a:avLst/>
          </a:prstGeom>
          <a:solidFill>
            <a:srgbClr val="FF6B35">
              <a:alpha val="75000"/>
            </a:srgbClr>
          </a:solidFill>
          <a:ln w="12700">
            <a:solidFill>
              <a:srgbClr val="FF6B35">
                <a:alpha val="0"/>
              </a:srgbClr>
            </a:solidFill>
            <a:prstDash val="solid"/>
          </a:ln>
        </p:spPr>
      </p:sp>
      <p:sp>
        <p:nvSpPr>
          <p:cNvPr id="12" name="Shape 10"/>
          <p:cNvSpPr/>
          <p:nvPr/>
        </p:nvSpPr>
        <p:spPr>
          <a:xfrm>
            <a:off x="7863840" y="1463040"/>
            <a:ext cx="45720" cy="45720"/>
          </a:xfrm>
          <a:prstGeom prst="ellipse">
            <a:avLst/>
          </a:prstGeom>
          <a:solidFill>
            <a:srgbClr val="FF6B35">
              <a:alpha val="75000"/>
            </a:srgbClr>
          </a:solidFill>
          <a:ln w="12700">
            <a:solidFill>
              <a:srgbClr val="FF6B35">
                <a:alpha val="0"/>
              </a:srgbClr>
            </a:solidFill>
            <a:prstDash val="solid"/>
          </a:ln>
        </p:spPr>
      </p:sp>
      <p:sp>
        <p:nvSpPr>
          <p:cNvPr id="13" name="Shape 11"/>
          <p:cNvSpPr/>
          <p:nvPr/>
        </p:nvSpPr>
        <p:spPr>
          <a:xfrm>
            <a:off x="8275320" y="1463040"/>
            <a:ext cx="45720" cy="45720"/>
          </a:xfrm>
          <a:prstGeom prst="ellipse">
            <a:avLst/>
          </a:prstGeom>
          <a:solidFill>
            <a:srgbClr val="FF6B35">
              <a:alpha val="75000"/>
            </a:srgbClr>
          </a:solidFill>
          <a:ln w="12700">
            <a:solidFill>
              <a:srgbClr val="FF6B35">
                <a:alpha val="0"/>
              </a:srgbClr>
            </a:solidFill>
            <a:prstDash val="solid"/>
          </a:ln>
        </p:spPr>
      </p:sp>
      <p:sp>
        <p:nvSpPr>
          <p:cNvPr id="14" name="Shape 12"/>
          <p:cNvSpPr/>
          <p:nvPr/>
        </p:nvSpPr>
        <p:spPr>
          <a:xfrm>
            <a:off x="8686800" y="1463040"/>
            <a:ext cx="45720" cy="45720"/>
          </a:xfrm>
          <a:prstGeom prst="ellipse">
            <a:avLst/>
          </a:prstGeom>
          <a:solidFill>
            <a:srgbClr val="FF6B35">
              <a:alpha val="75000"/>
            </a:srgbClr>
          </a:solidFill>
          <a:ln w="12700">
            <a:solidFill>
              <a:srgbClr val="FF6B35">
                <a:alpha val="0"/>
              </a:srgbClr>
            </a:solidFill>
            <a:prstDash val="solid"/>
          </a:ln>
        </p:spPr>
      </p:sp>
      <p:sp>
        <p:nvSpPr>
          <p:cNvPr id="15" name="Shape 13"/>
          <p:cNvSpPr/>
          <p:nvPr/>
        </p:nvSpPr>
        <p:spPr>
          <a:xfrm>
            <a:off x="9098280" y="1463040"/>
            <a:ext cx="45720" cy="45720"/>
          </a:xfrm>
          <a:prstGeom prst="ellipse">
            <a:avLst/>
          </a:prstGeom>
          <a:solidFill>
            <a:srgbClr val="FF6B35">
              <a:alpha val="75000"/>
            </a:srgbClr>
          </a:solidFill>
          <a:ln w="12700">
            <a:solidFill>
              <a:srgbClr val="FF6B35">
                <a:alpha val="0"/>
              </a:srgbClr>
            </a:solidFill>
            <a:prstDash val="solid"/>
          </a:ln>
        </p:spPr>
      </p:sp>
      <p:sp>
        <p:nvSpPr>
          <p:cNvPr id="16" name="Shape 14"/>
          <p:cNvSpPr/>
          <p:nvPr/>
        </p:nvSpPr>
        <p:spPr>
          <a:xfrm>
            <a:off x="9509760" y="1463040"/>
            <a:ext cx="45720" cy="45720"/>
          </a:xfrm>
          <a:prstGeom prst="ellipse">
            <a:avLst/>
          </a:prstGeom>
          <a:solidFill>
            <a:srgbClr val="FF6B35">
              <a:alpha val="75000"/>
            </a:srgbClr>
          </a:solidFill>
          <a:ln w="12700">
            <a:solidFill>
              <a:srgbClr val="FF6B35">
                <a:alpha val="0"/>
              </a:srgbClr>
            </a:solidFill>
            <a:prstDash val="solid"/>
          </a:ln>
        </p:spPr>
      </p:sp>
      <p:sp>
        <p:nvSpPr>
          <p:cNvPr id="17" name="Shape 15"/>
          <p:cNvSpPr/>
          <p:nvPr/>
        </p:nvSpPr>
        <p:spPr>
          <a:xfrm>
            <a:off x="9921240" y="1463040"/>
            <a:ext cx="45720" cy="45720"/>
          </a:xfrm>
          <a:prstGeom prst="ellipse">
            <a:avLst/>
          </a:prstGeom>
          <a:solidFill>
            <a:srgbClr val="FF6B35">
              <a:alpha val="75000"/>
            </a:srgbClr>
          </a:solidFill>
          <a:ln w="12700">
            <a:solidFill>
              <a:srgbClr val="FF6B35">
                <a:alpha val="0"/>
              </a:srgbClr>
            </a:solidFill>
            <a:prstDash val="solid"/>
          </a:ln>
        </p:spPr>
      </p:sp>
      <p:sp>
        <p:nvSpPr>
          <p:cNvPr id="18" name="Shape 16"/>
          <p:cNvSpPr/>
          <p:nvPr/>
        </p:nvSpPr>
        <p:spPr>
          <a:xfrm>
            <a:off x="7040880" y="1874520"/>
            <a:ext cx="45720" cy="45720"/>
          </a:xfrm>
          <a:prstGeom prst="ellipse">
            <a:avLst/>
          </a:prstGeom>
          <a:solidFill>
            <a:srgbClr val="FF6B35">
              <a:alpha val="75000"/>
            </a:srgbClr>
          </a:solidFill>
          <a:ln w="12700">
            <a:solidFill>
              <a:srgbClr val="FF6B35">
                <a:alpha val="0"/>
              </a:srgbClr>
            </a:solidFill>
            <a:prstDash val="solid"/>
          </a:ln>
        </p:spPr>
      </p:sp>
      <p:sp>
        <p:nvSpPr>
          <p:cNvPr id="19" name="Shape 17"/>
          <p:cNvSpPr/>
          <p:nvPr/>
        </p:nvSpPr>
        <p:spPr>
          <a:xfrm>
            <a:off x="7452360" y="1874520"/>
            <a:ext cx="45720" cy="45720"/>
          </a:xfrm>
          <a:prstGeom prst="ellipse">
            <a:avLst/>
          </a:prstGeom>
          <a:solidFill>
            <a:srgbClr val="FF6B35">
              <a:alpha val="75000"/>
            </a:srgbClr>
          </a:solidFill>
          <a:ln w="12700">
            <a:solidFill>
              <a:srgbClr val="FF6B35">
                <a:alpha val="0"/>
              </a:srgbClr>
            </a:solidFill>
            <a:prstDash val="solid"/>
          </a:ln>
        </p:spPr>
      </p:sp>
      <p:sp>
        <p:nvSpPr>
          <p:cNvPr id="20" name="Shape 18"/>
          <p:cNvSpPr/>
          <p:nvPr/>
        </p:nvSpPr>
        <p:spPr>
          <a:xfrm>
            <a:off x="7863840" y="1874520"/>
            <a:ext cx="45720" cy="45720"/>
          </a:xfrm>
          <a:prstGeom prst="ellipse">
            <a:avLst/>
          </a:prstGeom>
          <a:solidFill>
            <a:srgbClr val="FF6B35">
              <a:alpha val="75000"/>
            </a:srgbClr>
          </a:solidFill>
          <a:ln w="12700">
            <a:solidFill>
              <a:srgbClr val="FF6B35">
                <a:alpha val="0"/>
              </a:srgbClr>
            </a:solidFill>
            <a:prstDash val="solid"/>
          </a:ln>
        </p:spPr>
      </p:sp>
      <p:sp>
        <p:nvSpPr>
          <p:cNvPr id="21" name="Shape 19"/>
          <p:cNvSpPr/>
          <p:nvPr/>
        </p:nvSpPr>
        <p:spPr>
          <a:xfrm>
            <a:off x="8275320" y="1874520"/>
            <a:ext cx="45720" cy="45720"/>
          </a:xfrm>
          <a:prstGeom prst="ellipse">
            <a:avLst/>
          </a:prstGeom>
          <a:solidFill>
            <a:srgbClr val="FF6B35">
              <a:alpha val="75000"/>
            </a:srgbClr>
          </a:solidFill>
          <a:ln w="12700">
            <a:solidFill>
              <a:srgbClr val="FF6B35">
                <a:alpha val="0"/>
              </a:srgbClr>
            </a:solidFill>
            <a:prstDash val="solid"/>
          </a:ln>
        </p:spPr>
      </p:sp>
      <p:sp>
        <p:nvSpPr>
          <p:cNvPr id="22" name="Shape 20"/>
          <p:cNvSpPr/>
          <p:nvPr/>
        </p:nvSpPr>
        <p:spPr>
          <a:xfrm>
            <a:off x="8686800" y="1874520"/>
            <a:ext cx="45720" cy="45720"/>
          </a:xfrm>
          <a:prstGeom prst="ellipse">
            <a:avLst/>
          </a:prstGeom>
          <a:solidFill>
            <a:srgbClr val="FF6B35">
              <a:alpha val="75000"/>
            </a:srgbClr>
          </a:solidFill>
          <a:ln w="12700">
            <a:solidFill>
              <a:srgbClr val="FF6B35">
                <a:alpha val="0"/>
              </a:srgbClr>
            </a:solidFill>
            <a:prstDash val="solid"/>
          </a:ln>
        </p:spPr>
      </p:sp>
      <p:sp>
        <p:nvSpPr>
          <p:cNvPr id="23" name="Shape 21"/>
          <p:cNvSpPr/>
          <p:nvPr/>
        </p:nvSpPr>
        <p:spPr>
          <a:xfrm>
            <a:off x="9098280" y="1874520"/>
            <a:ext cx="45720" cy="45720"/>
          </a:xfrm>
          <a:prstGeom prst="ellipse">
            <a:avLst/>
          </a:prstGeom>
          <a:solidFill>
            <a:srgbClr val="FF6B35">
              <a:alpha val="75000"/>
            </a:srgbClr>
          </a:solidFill>
          <a:ln w="12700">
            <a:solidFill>
              <a:srgbClr val="FF6B35">
                <a:alpha val="0"/>
              </a:srgbClr>
            </a:solidFill>
            <a:prstDash val="solid"/>
          </a:ln>
        </p:spPr>
      </p:sp>
      <p:sp>
        <p:nvSpPr>
          <p:cNvPr id="24" name="Shape 22"/>
          <p:cNvSpPr/>
          <p:nvPr/>
        </p:nvSpPr>
        <p:spPr>
          <a:xfrm>
            <a:off x="9509760" y="1874520"/>
            <a:ext cx="45720" cy="45720"/>
          </a:xfrm>
          <a:prstGeom prst="ellipse">
            <a:avLst/>
          </a:prstGeom>
          <a:solidFill>
            <a:srgbClr val="FF6B35">
              <a:alpha val="75000"/>
            </a:srgbClr>
          </a:solidFill>
          <a:ln w="12700">
            <a:solidFill>
              <a:srgbClr val="FF6B35">
                <a:alpha val="0"/>
              </a:srgbClr>
            </a:solidFill>
            <a:prstDash val="solid"/>
          </a:ln>
        </p:spPr>
      </p:sp>
      <p:sp>
        <p:nvSpPr>
          <p:cNvPr id="25" name="Shape 23"/>
          <p:cNvSpPr/>
          <p:nvPr/>
        </p:nvSpPr>
        <p:spPr>
          <a:xfrm>
            <a:off x="9921240" y="1874520"/>
            <a:ext cx="45720" cy="45720"/>
          </a:xfrm>
          <a:prstGeom prst="ellipse">
            <a:avLst/>
          </a:prstGeom>
          <a:solidFill>
            <a:srgbClr val="FF6B35">
              <a:alpha val="75000"/>
            </a:srgbClr>
          </a:solidFill>
          <a:ln w="12700">
            <a:solidFill>
              <a:srgbClr val="FF6B35">
                <a:alpha val="0"/>
              </a:srgbClr>
            </a:solidFill>
            <a:prstDash val="solid"/>
          </a:ln>
        </p:spPr>
      </p:sp>
      <p:sp>
        <p:nvSpPr>
          <p:cNvPr id="26" name="Shape 24"/>
          <p:cNvSpPr/>
          <p:nvPr/>
        </p:nvSpPr>
        <p:spPr>
          <a:xfrm>
            <a:off x="7040880" y="2286000"/>
            <a:ext cx="45720" cy="45720"/>
          </a:xfrm>
          <a:prstGeom prst="ellipse">
            <a:avLst/>
          </a:prstGeom>
          <a:solidFill>
            <a:srgbClr val="FF6B35">
              <a:alpha val="75000"/>
            </a:srgbClr>
          </a:solidFill>
          <a:ln w="12700">
            <a:solidFill>
              <a:srgbClr val="FF6B35">
                <a:alpha val="0"/>
              </a:srgbClr>
            </a:solidFill>
            <a:prstDash val="solid"/>
          </a:ln>
        </p:spPr>
      </p:sp>
      <p:sp>
        <p:nvSpPr>
          <p:cNvPr id="27" name="Shape 25"/>
          <p:cNvSpPr/>
          <p:nvPr/>
        </p:nvSpPr>
        <p:spPr>
          <a:xfrm>
            <a:off x="7452360" y="2286000"/>
            <a:ext cx="45720" cy="45720"/>
          </a:xfrm>
          <a:prstGeom prst="ellipse">
            <a:avLst/>
          </a:prstGeom>
          <a:solidFill>
            <a:srgbClr val="FF6B35">
              <a:alpha val="75000"/>
            </a:srgbClr>
          </a:solidFill>
          <a:ln w="12700">
            <a:solidFill>
              <a:srgbClr val="FF6B35">
                <a:alpha val="0"/>
              </a:srgbClr>
            </a:solidFill>
            <a:prstDash val="solid"/>
          </a:ln>
        </p:spPr>
      </p:sp>
      <p:sp>
        <p:nvSpPr>
          <p:cNvPr id="28" name="Shape 26"/>
          <p:cNvSpPr/>
          <p:nvPr/>
        </p:nvSpPr>
        <p:spPr>
          <a:xfrm>
            <a:off x="7863840" y="2286000"/>
            <a:ext cx="45720" cy="45720"/>
          </a:xfrm>
          <a:prstGeom prst="ellipse">
            <a:avLst/>
          </a:prstGeom>
          <a:solidFill>
            <a:srgbClr val="FF6B35">
              <a:alpha val="75000"/>
            </a:srgbClr>
          </a:solidFill>
          <a:ln w="12700">
            <a:solidFill>
              <a:srgbClr val="FF6B35">
                <a:alpha val="0"/>
              </a:srgbClr>
            </a:solidFill>
            <a:prstDash val="solid"/>
          </a:ln>
        </p:spPr>
      </p:sp>
      <p:sp>
        <p:nvSpPr>
          <p:cNvPr id="29" name="Shape 27"/>
          <p:cNvSpPr/>
          <p:nvPr/>
        </p:nvSpPr>
        <p:spPr>
          <a:xfrm>
            <a:off x="8275320" y="2286000"/>
            <a:ext cx="45720" cy="45720"/>
          </a:xfrm>
          <a:prstGeom prst="ellipse">
            <a:avLst/>
          </a:prstGeom>
          <a:solidFill>
            <a:srgbClr val="FF6B35">
              <a:alpha val="75000"/>
            </a:srgbClr>
          </a:solidFill>
          <a:ln w="12700">
            <a:solidFill>
              <a:srgbClr val="FF6B35">
                <a:alpha val="0"/>
              </a:srgbClr>
            </a:solidFill>
            <a:prstDash val="solid"/>
          </a:ln>
        </p:spPr>
      </p:sp>
      <p:sp>
        <p:nvSpPr>
          <p:cNvPr id="30" name="Shape 28"/>
          <p:cNvSpPr/>
          <p:nvPr/>
        </p:nvSpPr>
        <p:spPr>
          <a:xfrm>
            <a:off x="8686800" y="2286000"/>
            <a:ext cx="45720" cy="45720"/>
          </a:xfrm>
          <a:prstGeom prst="ellipse">
            <a:avLst/>
          </a:prstGeom>
          <a:solidFill>
            <a:srgbClr val="FF6B35">
              <a:alpha val="75000"/>
            </a:srgbClr>
          </a:solidFill>
          <a:ln w="12700">
            <a:solidFill>
              <a:srgbClr val="FF6B35">
                <a:alpha val="0"/>
              </a:srgbClr>
            </a:solidFill>
            <a:prstDash val="solid"/>
          </a:ln>
        </p:spPr>
      </p:sp>
      <p:sp>
        <p:nvSpPr>
          <p:cNvPr id="31" name="Shape 29"/>
          <p:cNvSpPr/>
          <p:nvPr/>
        </p:nvSpPr>
        <p:spPr>
          <a:xfrm>
            <a:off x="9098280" y="2286000"/>
            <a:ext cx="45720" cy="45720"/>
          </a:xfrm>
          <a:prstGeom prst="ellipse">
            <a:avLst/>
          </a:prstGeom>
          <a:solidFill>
            <a:srgbClr val="FF6B35">
              <a:alpha val="75000"/>
            </a:srgbClr>
          </a:solidFill>
          <a:ln w="12700">
            <a:solidFill>
              <a:srgbClr val="FF6B35">
                <a:alpha val="0"/>
              </a:srgbClr>
            </a:solidFill>
            <a:prstDash val="solid"/>
          </a:ln>
        </p:spPr>
      </p:sp>
      <p:sp>
        <p:nvSpPr>
          <p:cNvPr id="32" name="Shape 30"/>
          <p:cNvSpPr/>
          <p:nvPr/>
        </p:nvSpPr>
        <p:spPr>
          <a:xfrm>
            <a:off x="9509760" y="2286000"/>
            <a:ext cx="45720" cy="45720"/>
          </a:xfrm>
          <a:prstGeom prst="ellipse">
            <a:avLst/>
          </a:prstGeom>
          <a:solidFill>
            <a:srgbClr val="FF6B35">
              <a:alpha val="75000"/>
            </a:srgbClr>
          </a:solidFill>
          <a:ln w="12700">
            <a:solidFill>
              <a:srgbClr val="FF6B35">
                <a:alpha val="0"/>
              </a:srgbClr>
            </a:solidFill>
            <a:prstDash val="solid"/>
          </a:ln>
        </p:spPr>
      </p:sp>
      <p:sp>
        <p:nvSpPr>
          <p:cNvPr id="33" name="Shape 31"/>
          <p:cNvSpPr/>
          <p:nvPr/>
        </p:nvSpPr>
        <p:spPr>
          <a:xfrm>
            <a:off x="9921240" y="2286000"/>
            <a:ext cx="45720" cy="45720"/>
          </a:xfrm>
          <a:prstGeom prst="ellipse">
            <a:avLst/>
          </a:prstGeom>
          <a:solidFill>
            <a:srgbClr val="FF6B35">
              <a:alpha val="75000"/>
            </a:srgbClr>
          </a:solidFill>
          <a:ln w="12700">
            <a:solidFill>
              <a:srgbClr val="FF6B35">
                <a:alpha val="0"/>
              </a:srgbClr>
            </a:solidFill>
            <a:prstDash val="solid"/>
          </a:ln>
        </p:spPr>
      </p:sp>
      <p:sp>
        <p:nvSpPr>
          <p:cNvPr id="34" name="Shape 32"/>
          <p:cNvSpPr/>
          <p:nvPr/>
        </p:nvSpPr>
        <p:spPr>
          <a:xfrm>
            <a:off x="7040880" y="2697480"/>
            <a:ext cx="45720" cy="45720"/>
          </a:xfrm>
          <a:prstGeom prst="ellipse">
            <a:avLst/>
          </a:prstGeom>
          <a:solidFill>
            <a:srgbClr val="FF6B35">
              <a:alpha val="75000"/>
            </a:srgbClr>
          </a:solidFill>
          <a:ln w="12700">
            <a:solidFill>
              <a:srgbClr val="FF6B35">
                <a:alpha val="0"/>
              </a:srgbClr>
            </a:solidFill>
            <a:prstDash val="solid"/>
          </a:ln>
        </p:spPr>
      </p:sp>
      <p:sp>
        <p:nvSpPr>
          <p:cNvPr id="35" name="Shape 33"/>
          <p:cNvSpPr/>
          <p:nvPr/>
        </p:nvSpPr>
        <p:spPr>
          <a:xfrm>
            <a:off x="7452360" y="2697480"/>
            <a:ext cx="45720" cy="45720"/>
          </a:xfrm>
          <a:prstGeom prst="ellipse">
            <a:avLst/>
          </a:prstGeom>
          <a:solidFill>
            <a:srgbClr val="FF6B35">
              <a:alpha val="75000"/>
            </a:srgbClr>
          </a:solidFill>
          <a:ln w="12700">
            <a:solidFill>
              <a:srgbClr val="FF6B35">
                <a:alpha val="0"/>
              </a:srgbClr>
            </a:solidFill>
            <a:prstDash val="solid"/>
          </a:ln>
        </p:spPr>
      </p:sp>
      <p:sp>
        <p:nvSpPr>
          <p:cNvPr id="36" name="Shape 34"/>
          <p:cNvSpPr/>
          <p:nvPr/>
        </p:nvSpPr>
        <p:spPr>
          <a:xfrm>
            <a:off x="7863840" y="2697480"/>
            <a:ext cx="45720" cy="45720"/>
          </a:xfrm>
          <a:prstGeom prst="ellipse">
            <a:avLst/>
          </a:prstGeom>
          <a:solidFill>
            <a:srgbClr val="FF6B35">
              <a:alpha val="75000"/>
            </a:srgbClr>
          </a:solidFill>
          <a:ln w="12700">
            <a:solidFill>
              <a:srgbClr val="FF6B35">
                <a:alpha val="0"/>
              </a:srgbClr>
            </a:solidFill>
            <a:prstDash val="solid"/>
          </a:ln>
        </p:spPr>
      </p:sp>
      <p:sp>
        <p:nvSpPr>
          <p:cNvPr id="37" name="Shape 35"/>
          <p:cNvSpPr/>
          <p:nvPr/>
        </p:nvSpPr>
        <p:spPr>
          <a:xfrm>
            <a:off x="8275320" y="2697480"/>
            <a:ext cx="45720" cy="45720"/>
          </a:xfrm>
          <a:prstGeom prst="ellipse">
            <a:avLst/>
          </a:prstGeom>
          <a:solidFill>
            <a:srgbClr val="FF6B35">
              <a:alpha val="75000"/>
            </a:srgbClr>
          </a:solidFill>
          <a:ln w="12700">
            <a:solidFill>
              <a:srgbClr val="FF6B35">
                <a:alpha val="0"/>
              </a:srgbClr>
            </a:solidFill>
            <a:prstDash val="solid"/>
          </a:ln>
        </p:spPr>
      </p:sp>
      <p:sp>
        <p:nvSpPr>
          <p:cNvPr id="38" name="Shape 36"/>
          <p:cNvSpPr/>
          <p:nvPr/>
        </p:nvSpPr>
        <p:spPr>
          <a:xfrm>
            <a:off x="8686800" y="2697480"/>
            <a:ext cx="45720" cy="45720"/>
          </a:xfrm>
          <a:prstGeom prst="ellipse">
            <a:avLst/>
          </a:prstGeom>
          <a:solidFill>
            <a:srgbClr val="FF6B35">
              <a:alpha val="75000"/>
            </a:srgbClr>
          </a:solidFill>
          <a:ln w="12700">
            <a:solidFill>
              <a:srgbClr val="FF6B35">
                <a:alpha val="0"/>
              </a:srgbClr>
            </a:solidFill>
            <a:prstDash val="solid"/>
          </a:ln>
        </p:spPr>
      </p:sp>
      <p:sp>
        <p:nvSpPr>
          <p:cNvPr id="39" name="Shape 37"/>
          <p:cNvSpPr/>
          <p:nvPr/>
        </p:nvSpPr>
        <p:spPr>
          <a:xfrm>
            <a:off x="9098280" y="2697480"/>
            <a:ext cx="45720" cy="45720"/>
          </a:xfrm>
          <a:prstGeom prst="ellipse">
            <a:avLst/>
          </a:prstGeom>
          <a:solidFill>
            <a:srgbClr val="FF6B35">
              <a:alpha val="75000"/>
            </a:srgbClr>
          </a:solidFill>
          <a:ln w="12700">
            <a:solidFill>
              <a:srgbClr val="FF6B35">
                <a:alpha val="0"/>
              </a:srgbClr>
            </a:solidFill>
            <a:prstDash val="solid"/>
          </a:ln>
        </p:spPr>
      </p:sp>
      <p:sp>
        <p:nvSpPr>
          <p:cNvPr id="40" name="Shape 38"/>
          <p:cNvSpPr/>
          <p:nvPr/>
        </p:nvSpPr>
        <p:spPr>
          <a:xfrm>
            <a:off x="9509760" y="2697480"/>
            <a:ext cx="45720" cy="45720"/>
          </a:xfrm>
          <a:prstGeom prst="ellipse">
            <a:avLst/>
          </a:prstGeom>
          <a:solidFill>
            <a:srgbClr val="FF6B35">
              <a:alpha val="75000"/>
            </a:srgbClr>
          </a:solidFill>
          <a:ln w="12700">
            <a:solidFill>
              <a:srgbClr val="FF6B35">
                <a:alpha val="0"/>
              </a:srgbClr>
            </a:solidFill>
            <a:prstDash val="solid"/>
          </a:ln>
        </p:spPr>
      </p:sp>
      <p:sp>
        <p:nvSpPr>
          <p:cNvPr id="41" name="Shape 39"/>
          <p:cNvSpPr/>
          <p:nvPr/>
        </p:nvSpPr>
        <p:spPr>
          <a:xfrm>
            <a:off x="9921240" y="2697480"/>
            <a:ext cx="45720" cy="45720"/>
          </a:xfrm>
          <a:prstGeom prst="ellipse">
            <a:avLst/>
          </a:prstGeom>
          <a:solidFill>
            <a:srgbClr val="FF6B35">
              <a:alpha val="75000"/>
            </a:srgbClr>
          </a:solidFill>
          <a:ln w="12700">
            <a:solidFill>
              <a:srgbClr val="FF6B35">
                <a:alpha val="0"/>
              </a:srgbClr>
            </a:solidFill>
            <a:prstDash val="solid"/>
          </a:ln>
        </p:spPr>
      </p:sp>
      <p:sp>
        <p:nvSpPr>
          <p:cNvPr id="42" name="Shape 40"/>
          <p:cNvSpPr/>
          <p:nvPr/>
        </p:nvSpPr>
        <p:spPr>
          <a:xfrm>
            <a:off x="7040880" y="3108960"/>
            <a:ext cx="45720" cy="45720"/>
          </a:xfrm>
          <a:prstGeom prst="ellipse">
            <a:avLst/>
          </a:prstGeom>
          <a:solidFill>
            <a:srgbClr val="3BD6E8">
              <a:alpha val="75000"/>
            </a:srgbClr>
          </a:solidFill>
          <a:ln w="12700">
            <a:solidFill>
              <a:srgbClr val="3BD6E8">
                <a:alpha val="0"/>
              </a:srgbClr>
            </a:solidFill>
            <a:prstDash val="solid"/>
          </a:ln>
        </p:spPr>
      </p:sp>
      <p:sp>
        <p:nvSpPr>
          <p:cNvPr id="43" name="Shape 41"/>
          <p:cNvSpPr/>
          <p:nvPr/>
        </p:nvSpPr>
        <p:spPr>
          <a:xfrm>
            <a:off x="7452360" y="3108960"/>
            <a:ext cx="45720" cy="45720"/>
          </a:xfrm>
          <a:prstGeom prst="ellipse">
            <a:avLst/>
          </a:prstGeom>
          <a:solidFill>
            <a:srgbClr val="3BD6E8">
              <a:alpha val="75000"/>
            </a:srgbClr>
          </a:solidFill>
          <a:ln w="12700">
            <a:solidFill>
              <a:srgbClr val="3BD6E8">
                <a:alpha val="0"/>
              </a:srgbClr>
            </a:solidFill>
            <a:prstDash val="solid"/>
          </a:ln>
        </p:spPr>
      </p:sp>
      <p:sp>
        <p:nvSpPr>
          <p:cNvPr id="44" name="Shape 42"/>
          <p:cNvSpPr/>
          <p:nvPr/>
        </p:nvSpPr>
        <p:spPr>
          <a:xfrm>
            <a:off x="7863840" y="3108960"/>
            <a:ext cx="45720" cy="45720"/>
          </a:xfrm>
          <a:prstGeom prst="ellipse">
            <a:avLst/>
          </a:prstGeom>
          <a:solidFill>
            <a:srgbClr val="3BD6E8">
              <a:alpha val="75000"/>
            </a:srgbClr>
          </a:solidFill>
          <a:ln w="12700">
            <a:solidFill>
              <a:srgbClr val="3BD6E8">
                <a:alpha val="0"/>
              </a:srgbClr>
            </a:solidFill>
            <a:prstDash val="solid"/>
          </a:ln>
        </p:spPr>
      </p:sp>
      <p:sp>
        <p:nvSpPr>
          <p:cNvPr id="45" name="Shape 43"/>
          <p:cNvSpPr/>
          <p:nvPr/>
        </p:nvSpPr>
        <p:spPr>
          <a:xfrm>
            <a:off x="8275320" y="3108960"/>
            <a:ext cx="45720" cy="45720"/>
          </a:xfrm>
          <a:prstGeom prst="ellipse">
            <a:avLst/>
          </a:prstGeom>
          <a:solidFill>
            <a:srgbClr val="3BD6E8">
              <a:alpha val="75000"/>
            </a:srgbClr>
          </a:solidFill>
          <a:ln w="12700">
            <a:solidFill>
              <a:srgbClr val="3BD6E8">
                <a:alpha val="0"/>
              </a:srgbClr>
            </a:solidFill>
            <a:prstDash val="solid"/>
          </a:ln>
        </p:spPr>
      </p:sp>
      <p:sp>
        <p:nvSpPr>
          <p:cNvPr id="46" name="Shape 44"/>
          <p:cNvSpPr/>
          <p:nvPr/>
        </p:nvSpPr>
        <p:spPr>
          <a:xfrm>
            <a:off x="8686800" y="3108960"/>
            <a:ext cx="45720" cy="45720"/>
          </a:xfrm>
          <a:prstGeom prst="ellipse">
            <a:avLst/>
          </a:prstGeom>
          <a:solidFill>
            <a:srgbClr val="3BD6E8">
              <a:alpha val="75000"/>
            </a:srgbClr>
          </a:solidFill>
          <a:ln w="12700">
            <a:solidFill>
              <a:srgbClr val="3BD6E8">
                <a:alpha val="0"/>
              </a:srgbClr>
            </a:solidFill>
            <a:prstDash val="solid"/>
          </a:ln>
        </p:spPr>
      </p:sp>
      <p:sp>
        <p:nvSpPr>
          <p:cNvPr id="47" name="Shape 45"/>
          <p:cNvSpPr/>
          <p:nvPr/>
        </p:nvSpPr>
        <p:spPr>
          <a:xfrm>
            <a:off x="9098280" y="3108960"/>
            <a:ext cx="45720" cy="45720"/>
          </a:xfrm>
          <a:prstGeom prst="ellipse">
            <a:avLst/>
          </a:prstGeom>
          <a:solidFill>
            <a:srgbClr val="3BD6E8">
              <a:alpha val="75000"/>
            </a:srgbClr>
          </a:solidFill>
          <a:ln w="12700">
            <a:solidFill>
              <a:srgbClr val="3BD6E8">
                <a:alpha val="0"/>
              </a:srgbClr>
            </a:solidFill>
            <a:prstDash val="solid"/>
          </a:ln>
        </p:spPr>
      </p:sp>
      <p:sp>
        <p:nvSpPr>
          <p:cNvPr id="48" name="Shape 46"/>
          <p:cNvSpPr/>
          <p:nvPr/>
        </p:nvSpPr>
        <p:spPr>
          <a:xfrm>
            <a:off x="9509760" y="3108960"/>
            <a:ext cx="45720" cy="45720"/>
          </a:xfrm>
          <a:prstGeom prst="ellipse">
            <a:avLst/>
          </a:prstGeom>
          <a:solidFill>
            <a:srgbClr val="3BD6E8">
              <a:alpha val="75000"/>
            </a:srgbClr>
          </a:solidFill>
          <a:ln w="12700">
            <a:solidFill>
              <a:srgbClr val="3BD6E8">
                <a:alpha val="0"/>
              </a:srgbClr>
            </a:solidFill>
            <a:prstDash val="solid"/>
          </a:ln>
        </p:spPr>
      </p:sp>
      <p:sp>
        <p:nvSpPr>
          <p:cNvPr id="49" name="Shape 47"/>
          <p:cNvSpPr/>
          <p:nvPr/>
        </p:nvSpPr>
        <p:spPr>
          <a:xfrm>
            <a:off x="9921240" y="3108960"/>
            <a:ext cx="45720" cy="45720"/>
          </a:xfrm>
          <a:prstGeom prst="ellipse">
            <a:avLst/>
          </a:prstGeom>
          <a:solidFill>
            <a:srgbClr val="3BD6E8">
              <a:alpha val="75000"/>
            </a:srgbClr>
          </a:solidFill>
          <a:ln w="12700">
            <a:solidFill>
              <a:srgbClr val="3BD6E8">
                <a:alpha val="0"/>
              </a:srgbClr>
            </a:solidFill>
            <a:prstDash val="solid"/>
          </a:ln>
        </p:spPr>
      </p:sp>
      <p:sp>
        <p:nvSpPr>
          <p:cNvPr id="50" name="Shape 48"/>
          <p:cNvSpPr/>
          <p:nvPr/>
        </p:nvSpPr>
        <p:spPr>
          <a:xfrm>
            <a:off x="7040880" y="3520440"/>
            <a:ext cx="45720" cy="45720"/>
          </a:xfrm>
          <a:prstGeom prst="ellipse">
            <a:avLst/>
          </a:prstGeom>
          <a:solidFill>
            <a:srgbClr val="3BD6E8">
              <a:alpha val="75000"/>
            </a:srgbClr>
          </a:solidFill>
          <a:ln w="12700">
            <a:solidFill>
              <a:srgbClr val="3BD6E8">
                <a:alpha val="0"/>
              </a:srgbClr>
            </a:solidFill>
            <a:prstDash val="solid"/>
          </a:ln>
        </p:spPr>
      </p:sp>
      <p:sp>
        <p:nvSpPr>
          <p:cNvPr id="51" name="Shape 49"/>
          <p:cNvSpPr/>
          <p:nvPr/>
        </p:nvSpPr>
        <p:spPr>
          <a:xfrm>
            <a:off x="7452360" y="3520440"/>
            <a:ext cx="45720" cy="45720"/>
          </a:xfrm>
          <a:prstGeom prst="ellipse">
            <a:avLst/>
          </a:prstGeom>
          <a:solidFill>
            <a:srgbClr val="3BD6E8">
              <a:alpha val="75000"/>
            </a:srgbClr>
          </a:solidFill>
          <a:ln w="12700">
            <a:solidFill>
              <a:srgbClr val="3BD6E8">
                <a:alpha val="0"/>
              </a:srgbClr>
            </a:solidFill>
            <a:prstDash val="solid"/>
          </a:ln>
        </p:spPr>
      </p:sp>
      <p:sp>
        <p:nvSpPr>
          <p:cNvPr id="52" name="Shape 50"/>
          <p:cNvSpPr/>
          <p:nvPr/>
        </p:nvSpPr>
        <p:spPr>
          <a:xfrm>
            <a:off x="7863840" y="3520440"/>
            <a:ext cx="45720" cy="45720"/>
          </a:xfrm>
          <a:prstGeom prst="ellipse">
            <a:avLst/>
          </a:prstGeom>
          <a:solidFill>
            <a:srgbClr val="3BD6E8">
              <a:alpha val="75000"/>
            </a:srgbClr>
          </a:solidFill>
          <a:ln w="12700">
            <a:solidFill>
              <a:srgbClr val="3BD6E8">
                <a:alpha val="0"/>
              </a:srgbClr>
            </a:solidFill>
            <a:prstDash val="solid"/>
          </a:ln>
        </p:spPr>
      </p:sp>
      <p:sp>
        <p:nvSpPr>
          <p:cNvPr id="53" name="Shape 51"/>
          <p:cNvSpPr/>
          <p:nvPr/>
        </p:nvSpPr>
        <p:spPr>
          <a:xfrm>
            <a:off x="8275320" y="3520440"/>
            <a:ext cx="45720" cy="45720"/>
          </a:xfrm>
          <a:prstGeom prst="ellipse">
            <a:avLst/>
          </a:prstGeom>
          <a:solidFill>
            <a:srgbClr val="3BD6E8">
              <a:alpha val="75000"/>
            </a:srgbClr>
          </a:solidFill>
          <a:ln w="12700">
            <a:solidFill>
              <a:srgbClr val="3BD6E8">
                <a:alpha val="0"/>
              </a:srgbClr>
            </a:solidFill>
            <a:prstDash val="solid"/>
          </a:ln>
        </p:spPr>
      </p:sp>
      <p:sp>
        <p:nvSpPr>
          <p:cNvPr id="54" name="Shape 52"/>
          <p:cNvSpPr/>
          <p:nvPr/>
        </p:nvSpPr>
        <p:spPr>
          <a:xfrm>
            <a:off x="8686800" y="3520440"/>
            <a:ext cx="45720" cy="45720"/>
          </a:xfrm>
          <a:prstGeom prst="ellipse">
            <a:avLst/>
          </a:prstGeom>
          <a:solidFill>
            <a:srgbClr val="3BD6E8">
              <a:alpha val="75000"/>
            </a:srgbClr>
          </a:solidFill>
          <a:ln w="12700">
            <a:solidFill>
              <a:srgbClr val="3BD6E8">
                <a:alpha val="0"/>
              </a:srgbClr>
            </a:solidFill>
            <a:prstDash val="solid"/>
          </a:ln>
        </p:spPr>
      </p:sp>
      <p:sp>
        <p:nvSpPr>
          <p:cNvPr id="55" name="Shape 53"/>
          <p:cNvSpPr/>
          <p:nvPr/>
        </p:nvSpPr>
        <p:spPr>
          <a:xfrm>
            <a:off x="9098280" y="3520440"/>
            <a:ext cx="45720" cy="45720"/>
          </a:xfrm>
          <a:prstGeom prst="ellipse">
            <a:avLst/>
          </a:prstGeom>
          <a:solidFill>
            <a:srgbClr val="3BD6E8">
              <a:alpha val="75000"/>
            </a:srgbClr>
          </a:solidFill>
          <a:ln w="12700">
            <a:solidFill>
              <a:srgbClr val="3BD6E8">
                <a:alpha val="0"/>
              </a:srgbClr>
            </a:solidFill>
            <a:prstDash val="solid"/>
          </a:ln>
        </p:spPr>
      </p:sp>
      <p:sp>
        <p:nvSpPr>
          <p:cNvPr id="56" name="Shape 54"/>
          <p:cNvSpPr/>
          <p:nvPr/>
        </p:nvSpPr>
        <p:spPr>
          <a:xfrm>
            <a:off x="9509760" y="3520440"/>
            <a:ext cx="45720" cy="45720"/>
          </a:xfrm>
          <a:prstGeom prst="ellipse">
            <a:avLst/>
          </a:prstGeom>
          <a:solidFill>
            <a:srgbClr val="3BD6E8">
              <a:alpha val="75000"/>
            </a:srgbClr>
          </a:solidFill>
          <a:ln w="12700">
            <a:solidFill>
              <a:srgbClr val="3BD6E8">
                <a:alpha val="0"/>
              </a:srgbClr>
            </a:solidFill>
            <a:prstDash val="solid"/>
          </a:ln>
        </p:spPr>
      </p:sp>
      <p:sp>
        <p:nvSpPr>
          <p:cNvPr id="57" name="Shape 55"/>
          <p:cNvSpPr/>
          <p:nvPr/>
        </p:nvSpPr>
        <p:spPr>
          <a:xfrm>
            <a:off x="9921240" y="3520440"/>
            <a:ext cx="45720" cy="45720"/>
          </a:xfrm>
          <a:prstGeom prst="ellipse">
            <a:avLst/>
          </a:prstGeom>
          <a:solidFill>
            <a:srgbClr val="3BD6E8">
              <a:alpha val="75000"/>
            </a:srgbClr>
          </a:solidFill>
          <a:ln w="12700">
            <a:solidFill>
              <a:srgbClr val="3BD6E8">
                <a:alpha val="0"/>
              </a:srgbClr>
            </a:solidFill>
            <a:prstDash val="solid"/>
          </a:ln>
        </p:spPr>
      </p:sp>
      <p:sp>
        <p:nvSpPr>
          <p:cNvPr id="58" name="Shape 56"/>
          <p:cNvSpPr/>
          <p:nvPr/>
        </p:nvSpPr>
        <p:spPr>
          <a:xfrm>
            <a:off x="7040880" y="3931920"/>
            <a:ext cx="45720" cy="45720"/>
          </a:xfrm>
          <a:prstGeom prst="ellipse">
            <a:avLst/>
          </a:prstGeom>
          <a:solidFill>
            <a:srgbClr val="3BD6E8">
              <a:alpha val="75000"/>
            </a:srgbClr>
          </a:solidFill>
          <a:ln w="12700">
            <a:solidFill>
              <a:srgbClr val="3BD6E8">
                <a:alpha val="0"/>
              </a:srgbClr>
            </a:solidFill>
            <a:prstDash val="solid"/>
          </a:ln>
        </p:spPr>
      </p:sp>
      <p:sp>
        <p:nvSpPr>
          <p:cNvPr id="59" name="Shape 57"/>
          <p:cNvSpPr/>
          <p:nvPr/>
        </p:nvSpPr>
        <p:spPr>
          <a:xfrm>
            <a:off x="7452360" y="3931920"/>
            <a:ext cx="45720" cy="45720"/>
          </a:xfrm>
          <a:prstGeom prst="ellipse">
            <a:avLst/>
          </a:prstGeom>
          <a:solidFill>
            <a:srgbClr val="3BD6E8">
              <a:alpha val="75000"/>
            </a:srgbClr>
          </a:solidFill>
          <a:ln w="12700">
            <a:solidFill>
              <a:srgbClr val="3BD6E8">
                <a:alpha val="0"/>
              </a:srgbClr>
            </a:solidFill>
            <a:prstDash val="solid"/>
          </a:ln>
        </p:spPr>
      </p:sp>
      <p:sp>
        <p:nvSpPr>
          <p:cNvPr id="60" name="Shape 58"/>
          <p:cNvSpPr/>
          <p:nvPr/>
        </p:nvSpPr>
        <p:spPr>
          <a:xfrm>
            <a:off x="7863840" y="3931920"/>
            <a:ext cx="45720" cy="45720"/>
          </a:xfrm>
          <a:prstGeom prst="ellipse">
            <a:avLst/>
          </a:prstGeom>
          <a:solidFill>
            <a:srgbClr val="3BD6E8">
              <a:alpha val="75000"/>
            </a:srgbClr>
          </a:solidFill>
          <a:ln w="12700">
            <a:solidFill>
              <a:srgbClr val="3BD6E8">
                <a:alpha val="0"/>
              </a:srgbClr>
            </a:solidFill>
            <a:prstDash val="solid"/>
          </a:ln>
        </p:spPr>
      </p:sp>
      <p:sp>
        <p:nvSpPr>
          <p:cNvPr id="61" name="Shape 59"/>
          <p:cNvSpPr/>
          <p:nvPr/>
        </p:nvSpPr>
        <p:spPr>
          <a:xfrm>
            <a:off x="8275320" y="3931920"/>
            <a:ext cx="45720" cy="45720"/>
          </a:xfrm>
          <a:prstGeom prst="ellipse">
            <a:avLst/>
          </a:prstGeom>
          <a:solidFill>
            <a:srgbClr val="3BD6E8">
              <a:alpha val="75000"/>
            </a:srgbClr>
          </a:solidFill>
          <a:ln w="12700">
            <a:solidFill>
              <a:srgbClr val="3BD6E8">
                <a:alpha val="0"/>
              </a:srgbClr>
            </a:solidFill>
            <a:prstDash val="solid"/>
          </a:ln>
        </p:spPr>
      </p:sp>
      <p:sp>
        <p:nvSpPr>
          <p:cNvPr id="62" name="Shape 60"/>
          <p:cNvSpPr/>
          <p:nvPr/>
        </p:nvSpPr>
        <p:spPr>
          <a:xfrm>
            <a:off x="8686800" y="3931920"/>
            <a:ext cx="45720" cy="45720"/>
          </a:xfrm>
          <a:prstGeom prst="ellipse">
            <a:avLst/>
          </a:prstGeom>
          <a:solidFill>
            <a:srgbClr val="3BD6E8">
              <a:alpha val="75000"/>
            </a:srgbClr>
          </a:solidFill>
          <a:ln w="12700">
            <a:solidFill>
              <a:srgbClr val="3BD6E8">
                <a:alpha val="0"/>
              </a:srgbClr>
            </a:solidFill>
            <a:prstDash val="solid"/>
          </a:ln>
        </p:spPr>
      </p:sp>
      <p:sp>
        <p:nvSpPr>
          <p:cNvPr id="63" name="Shape 61"/>
          <p:cNvSpPr/>
          <p:nvPr/>
        </p:nvSpPr>
        <p:spPr>
          <a:xfrm>
            <a:off x="9098280" y="3931920"/>
            <a:ext cx="45720" cy="45720"/>
          </a:xfrm>
          <a:prstGeom prst="ellipse">
            <a:avLst/>
          </a:prstGeom>
          <a:solidFill>
            <a:srgbClr val="3BD6E8">
              <a:alpha val="75000"/>
            </a:srgbClr>
          </a:solidFill>
          <a:ln w="12700">
            <a:solidFill>
              <a:srgbClr val="3BD6E8">
                <a:alpha val="0"/>
              </a:srgbClr>
            </a:solidFill>
            <a:prstDash val="solid"/>
          </a:ln>
        </p:spPr>
      </p:sp>
      <p:sp>
        <p:nvSpPr>
          <p:cNvPr id="64" name="Shape 62"/>
          <p:cNvSpPr/>
          <p:nvPr/>
        </p:nvSpPr>
        <p:spPr>
          <a:xfrm>
            <a:off x="9509760" y="3931920"/>
            <a:ext cx="45720" cy="45720"/>
          </a:xfrm>
          <a:prstGeom prst="ellipse">
            <a:avLst/>
          </a:prstGeom>
          <a:solidFill>
            <a:srgbClr val="3BD6E8">
              <a:alpha val="75000"/>
            </a:srgbClr>
          </a:solidFill>
          <a:ln w="12700">
            <a:solidFill>
              <a:srgbClr val="3BD6E8">
                <a:alpha val="0"/>
              </a:srgbClr>
            </a:solidFill>
            <a:prstDash val="solid"/>
          </a:ln>
        </p:spPr>
      </p:sp>
      <p:sp>
        <p:nvSpPr>
          <p:cNvPr id="65" name="Shape 63"/>
          <p:cNvSpPr/>
          <p:nvPr/>
        </p:nvSpPr>
        <p:spPr>
          <a:xfrm>
            <a:off x="9921240" y="3931920"/>
            <a:ext cx="45720" cy="45720"/>
          </a:xfrm>
          <a:prstGeom prst="ellipse">
            <a:avLst/>
          </a:prstGeom>
          <a:solidFill>
            <a:srgbClr val="3BD6E8">
              <a:alpha val="75000"/>
            </a:srgbClr>
          </a:solidFill>
          <a:ln w="12700">
            <a:solidFill>
              <a:srgbClr val="3BD6E8">
                <a:alpha val="0"/>
              </a:srgbClr>
            </a:solidFill>
            <a:prstDash val="solid"/>
          </a:ln>
        </p:spPr>
      </p:sp>
      <p:sp>
        <p:nvSpPr>
          <p:cNvPr id="66" name="Text 64"/>
          <p:cNvSpPr txBox="1"/>
          <p:nvPr/>
        </p:nvSpPr>
        <p:spPr>
          <a:xfrm>
            <a:off x="621792" y="566928"/>
            <a:ext cx="3657600" cy="256032"/>
          </a:xfrm>
          <a:prstGeom prst="rect">
            <a:avLst/>
          </a:prstGeom>
          <a:noFill/>
          <a:ln/>
        </p:spPr>
        <p:txBody>
          <a:bodyPr wrap="square" lIns="0" tIns="0" rIns="0" bIns="0" rtlCol="0" anchor="ctr">
            <a:normAutofit/>
          </a:bodyPr>
          <a:lstStyle/>
          <a:p>
            <a:pPr algn="l" indent="0" marL="0">
              <a:buNone/>
            </a:pPr>
            <a:r>
              <a:rPr lang="en-US" sz="1100" b="1" spc="200" kern="0" dirty="0">
                <a:solidFill>
                  <a:srgbClr val="FF6B35"/>
                </a:solidFill>
                <a:latin typeface="Aptos" pitchFamily="34" charset="0"/>
                <a:ea typeface="Aptos" pitchFamily="34" charset="-122"/>
                <a:cs typeface="Aptos" pitchFamily="34" charset="-120"/>
              </a:rPr>
              <a:t>EXECUTIVE PROPOSAL</a:t>
            </a:r>
            <a:endParaRPr lang="en-US" sz="1100" dirty="0"/>
          </a:p>
        </p:txBody>
      </p:sp>
      <p:sp>
        <p:nvSpPr>
          <p:cNvPr id="67" name="Text 65"/>
          <p:cNvSpPr txBox="1"/>
          <p:nvPr/>
        </p:nvSpPr>
        <p:spPr>
          <a:xfrm>
            <a:off x="603504" y="1033272"/>
            <a:ext cx="6035040" cy="1481328"/>
          </a:xfrm>
          <a:prstGeom prst="rect">
            <a:avLst/>
          </a:prstGeom>
          <a:noFill/>
          <a:ln/>
        </p:spPr>
        <p:txBody>
          <a:bodyPr wrap="square" lIns="0" tIns="0" rIns="0" bIns="0" rtlCol="0" anchor="ctr">
            <a:normAutofit/>
          </a:bodyPr>
          <a:lstStyle/>
          <a:p>
            <a:pPr algn="l" indent="0" marL="0">
              <a:buNone/>
            </a:pPr>
            <a:r>
              <a:rPr lang="en-US" sz="3400" b="1" dirty="0">
                <a:solidFill>
                  <a:srgbClr val="F5F7FA"/>
                </a:solidFill>
                <a:latin typeface="Aptos" pitchFamily="34" charset="0"/>
                <a:ea typeface="Aptos" pitchFamily="34" charset="-122"/>
                <a:cs typeface="Aptos" pitchFamily="34" charset="-120"/>
              </a:rPr>
              <a:t>Trusted Intelligence</a:t>
            </a:r>
            <a:endParaRPr lang="en-US" sz="3400" dirty="0"/>
          </a:p>
          <a:p>
            <a:pPr algn="l" indent="0" marL="0">
              <a:buNone/>
            </a:pPr>
            <a:r>
              <a:rPr lang="en-US" sz="3400" b="1" dirty="0">
                <a:solidFill>
                  <a:srgbClr val="F5F7FA"/>
                </a:solidFill>
                <a:latin typeface="Aptos" pitchFamily="34" charset="0"/>
                <a:ea typeface="Aptos" pitchFamily="34" charset="-122"/>
                <a:cs typeface="Aptos" pitchFamily="34" charset="-120"/>
              </a:rPr>
              <a:t>at Wafer Scale</a:t>
            </a:r>
            <a:endParaRPr lang="en-US" sz="3400" dirty="0"/>
          </a:p>
        </p:txBody>
      </p:sp>
      <p:sp>
        <p:nvSpPr>
          <p:cNvPr id="68" name="Text 66"/>
          <p:cNvSpPr txBox="1"/>
          <p:nvPr/>
        </p:nvSpPr>
        <p:spPr>
          <a:xfrm>
            <a:off x="621792" y="2697480"/>
            <a:ext cx="5577840" cy="713232"/>
          </a:xfrm>
          <a:prstGeom prst="rect">
            <a:avLst/>
          </a:prstGeom>
          <a:noFill/>
          <a:ln/>
        </p:spPr>
        <p:txBody>
          <a:bodyPr wrap="square" lIns="0" tIns="0" rIns="0" bIns="0" rtlCol="0" anchor="ctr">
            <a:normAutofit/>
          </a:bodyPr>
          <a:lstStyle/>
          <a:p>
            <a:pPr algn="l" indent="0" marL="0">
              <a:buNone/>
            </a:pPr>
            <a:r>
              <a:rPr lang="en-US" sz="1600" dirty="0">
                <a:solidFill>
                  <a:srgbClr val="D8E2EF"/>
                </a:solidFill>
                <a:latin typeface="Aptos" pitchFamily="34" charset="0"/>
                <a:ea typeface="Aptos" pitchFamily="34" charset="-122"/>
                <a:cs typeface="Aptos" pitchFamily="34" charset="-120"/>
              </a:rPr>
              <a:t>A Cerebras Confidential Computing Architecture (C-CCA)</a:t>
            </a:r>
            <a:endParaRPr lang="en-US" sz="1600" dirty="0"/>
          </a:p>
          <a:p>
            <a:pPr algn="l" indent="0" marL="0">
              <a:buNone/>
            </a:pPr>
            <a:r>
              <a:rPr lang="en-US" sz="1600" dirty="0">
                <a:solidFill>
                  <a:srgbClr val="D8E2EF"/>
                </a:solidFill>
                <a:latin typeface="Aptos" pitchFamily="34" charset="0"/>
                <a:ea typeface="Aptos" pitchFamily="34" charset="-122"/>
                <a:cs typeface="Aptos" pitchFamily="34" charset="-120"/>
              </a:rPr>
              <a:t>for confidential LLM inference, cryptographic protection, and AI agents</a:t>
            </a:r>
            <a:endParaRPr lang="en-US" sz="1600" dirty="0"/>
          </a:p>
        </p:txBody>
      </p:sp>
      <p:sp>
        <p:nvSpPr>
          <p:cNvPr id="69" name="Shape 67"/>
          <p:cNvSpPr/>
          <p:nvPr/>
        </p:nvSpPr>
        <p:spPr>
          <a:xfrm>
            <a:off x="621792" y="3858768"/>
            <a:ext cx="1005840" cy="274320"/>
          </a:xfrm>
          <a:prstGeom prst="roundRect">
            <a:avLst>
              <a:gd name="adj" fmla="val 50000"/>
            </a:avLst>
          </a:prstGeom>
          <a:solidFill>
            <a:srgbClr val="213046"/>
          </a:solidFill>
          <a:ln w="12700">
            <a:solidFill>
              <a:srgbClr val="3BD6E8">
                <a:alpha val="35000"/>
              </a:srgbClr>
            </a:solidFill>
            <a:prstDash val="solid"/>
          </a:ln>
        </p:spPr>
      </p:sp>
      <p:sp>
        <p:nvSpPr>
          <p:cNvPr id="70" name="Text 68"/>
          <p:cNvSpPr txBox="1"/>
          <p:nvPr/>
        </p:nvSpPr>
        <p:spPr>
          <a:xfrm>
            <a:off x="694944" y="3877056"/>
            <a:ext cx="859536" cy="219456"/>
          </a:xfrm>
          <a:prstGeom prst="rect">
            <a:avLst/>
          </a:prstGeom>
          <a:noFill/>
          <a:ln/>
        </p:spPr>
        <p:txBody>
          <a:bodyPr wrap="square" lIns="0" tIns="0" rIns="0" bIns="0" rtlCol="0" anchor="ctr">
            <a:normAutofit/>
          </a:bodyPr>
          <a:lstStyle/>
          <a:p>
            <a:pPr algn="l" indent="0" marL="0">
              <a:buNone/>
            </a:pPr>
            <a:r>
              <a:rPr lang="en-US" sz="850" b="1" dirty="0">
                <a:solidFill>
                  <a:srgbClr val="3BD6E8"/>
                </a:solidFill>
                <a:latin typeface="Aptos" pitchFamily="34" charset="0"/>
                <a:ea typeface="Aptos" pitchFamily="34" charset="-122"/>
                <a:cs typeface="Aptos" pitchFamily="34" charset="-120"/>
              </a:rPr>
              <a:t>CPU CVM</a:t>
            </a:r>
            <a:endParaRPr lang="en-US" sz="850" dirty="0"/>
          </a:p>
        </p:txBody>
      </p:sp>
      <p:sp>
        <p:nvSpPr>
          <p:cNvPr id="71" name="Shape 69"/>
          <p:cNvSpPr/>
          <p:nvPr/>
        </p:nvSpPr>
        <p:spPr>
          <a:xfrm>
            <a:off x="1719072" y="3858768"/>
            <a:ext cx="1417320" cy="274320"/>
          </a:xfrm>
          <a:prstGeom prst="roundRect">
            <a:avLst>
              <a:gd name="adj" fmla="val 50000"/>
            </a:avLst>
          </a:prstGeom>
          <a:solidFill>
            <a:srgbClr val="213046"/>
          </a:solidFill>
          <a:ln w="12700">
            <a:solidFill>
              <a:srgbClr val="FF6B35">
                <a:alpha val="35000"/>
              </a:srgbClr>
            </a:solidFill>
            <a:prstDash val="solid"/>
          </a:ln>
        </p:spPr>
      </p:sp>
      <p:sp>
        <p:nvSpPr>
          <p:cNvPr id="72" name="Text 70"/>
          <p:cNvSpPr txBox="1"/>
          <p:nvPr/>
        </p:nvSpPr>
        <p:spPr>
          <a:xfrm>
            <a:off x="1792224" y="3877056"/>
            <a:ext cx="1271016" cy="219456"/>
          </a:xfrm>
          <a:prstGeom prst="rect">
            <a:avLst/>
          </a:prstGeom>
          <a:noFill/>
          <a:ln/>
        </p:spPr>
        <p:txBody>
          <a:bodyPr wrap="square" lIns="0" tIns="0" rIns="0" bIns="0" rtlCol="0" anchor="ctr">
            <a:normAutofit/>
          </a:bodyPr>
          <a:lstStyle/>
          <a:p>
            <a:pPr algn="l" indent="0" marL="0">
              <a:buNone/>
            </a:pPr>
            <a:r>
              <a:rPr lang="en-US" sz="850" b="1" dirty="0">
                <a:solidFill>
                  <a:srgbClr val="FF6B35"/>
                </a:solidFill>
                <a:latin typeface="Aptos" pitchFamily="34" charset="0"/>
                <a:ea typeface="Aptos" pitchFamily="34" charset="-122"/>
                <a:cs typeface="Aptos" pitchFamily="34" charset="-120"/>
              </a:rPr>
              <a:t>Confidential WSE</a:t>
            </a:r>
            <a:endParaRPr lang="en-US" sz="850" dirty="0"/>
          </a:p>
        </p:txBody>
      </p:sp>
      <p:sp>
        <p:nvSpPr>
          <p:cNvPr id="73" name="Shape 71"/>
          <p:cNvSpPr/>
          <p:nvPr/>
        </p:nvSpPr>
        <p:spPr>
          <a:xfrm>
            <a:off x="3246120" y="3858768"/>
            <a:ext cx="1170432" cy="274320"/>
          </a:xfrm>
          <a:prstGeom prst="roundRect">
            <a:avLst>
              <a:gd name="adj" fmla="val 50000"/>
            </a:avLst>
          </a:prstGeom>
          <a:solidFill>
            <a:srgbClr val="213046"/>
          </a:solidFill>
          <a:ln w="12700">
            <a:solidFill>
              <a:srgbClr val="5FE1A0">
                <a:alpha val="35000"/>
              </a:srgbClr>
            </a:solidFill>
            <a:prstDash val="solid"/>
          </a:ln>
        </p:spPr>
      </p:sp>
      <p:sp>
        <p:nvSpPr>
          <p:cNvPr id="74" name="Text 72"/>
          <p:cNvSpPr txBox="1"/>
          <p:nvPr/>
        </p:nvSpPr>
        <p:spPr>
          <a:xfrm>
            <a:off x="3319272" y="3877056"/>
            <a:ext cx="1024128" cy="219456"/>
          </a:xfrm>
          <a:prstGeom prst="rect">
            <a:avLst/>
          </a:prstGeom>
          <a:noFill/>
          <a:ln/>
        </p:spPr>
        <p:txBody>
          <a:bodyPr wrap="square" lIns="0" tIns="0" rIns="0" bIns="0" rtlCol="0" anchor="ctr">
            <a:normAutofit/>
          </a:bodyPr>
          <a:lstStyle/>
          <a:p>
            <a:pPr algn="l" indent="0" marL="0">
              <a:buNone/>
            </a:pPr>
            <a:r>
              <a:rPr lang="en-US" sz="850" b="1" dirty="0">
                <a:solidFill>
                  <a:srgbClr val="5FE1A0"/>
                </a:solidFill>
                <a:latin typeface="Aptos" pitchFamily="34" charset="0"/>
                <a:ea typeface="Aptos" pitchFamily="34" charset="-122"/>
                <a:cs typeface="Aptos" pitchFamily="34" charset="-120"/>
              </a:rPr>
              <a:t>Attestation</a:t>
            </a:r>
            <a:endParaRPr lang="en-US" sz="850" dirty="0"/>
          </a:p>
        </p:txBody>
      </p:sp>
      <p:sp>
        <p:nvSpPr>
          <p:cNvPr id="75" name="Shape 73"/>
          <p:cNvSpPr/>
          <p:nvPr/>
        </p:nvSpPr>
        <p:spPr>
          <a:xfrm>
            <a:off x="4526280" y="3858768"/>
            <a:ext cx="1143000" cy="274320"/>
          </a:xfrm>
          <a:prstGeom prst="roundRect">
            <a:avLst>
              <a:gd name="adj" fmla="val 50000"/>
            </a:avLst>
          </a:prstGeom>
          <a:solidFill>
            <a:srgbClr val="213046"/>
          </a:solidFill>
          <a:ln w="12700">
            <a:solidFill>
              <a:srgbClr val="FFD166">
                <a:alpha val="35000"/>
              </a:srgbClr>
            </a:solidFill>
            <a:prstDash val="solid"/>
          </a:ln>
        </p:spPr>
      </p:sp>
      <p:sp>
        <p:nvSpPr>
          <p:cNvPr id="76" name="Text 74"/>
          <p:cNvSpPr txBox="1"/>
          <p:nvPr/>
        </p:nvSpPr>
        <p:spPr>
          <a:xfrm>
            <a:off x="4599432" y="3877056"/>
            <a:ext cx="996696" cy="219456"/>
          </a:xfrm>
          <a:prstGeom prst="rect">
            <a:avLst/>
          </a:prstGeom>
          <a:noFill/>
          <a:ln/>
        </p:spPr>
        <p:txBody>
          <a:bodyPr wrap="square" lIns="0" tIns="0" rIns="0" bIns="0" rtlCol="0" anchor="ctr">
            <a:normAutofit/>
          </a:bodyPr>
          <a:lstStyle/>
          <a:p>
            <a:pPr algn="l" indent="0" marL="0">
              <a:buNone/>
            </a:pPr>
            <a:r>
              <a:rPr lang="en-US" sz="850" b="1" dirty="0">
                <a:solidFill>
                  <a:srgbClr val="FFD166"/>
                </a:solidFill>
                <a:latin typeface="Aptos" pitchFamily="34" charset="0"/>
                <a:ea typeface="Aptos" pitchFamily="34" charset="-122"/>
                <a:cs typeface="Aptos" pitchFamily="34" charset="-120"/>
              </a:rPr>
              <a:t>KMS / HSM</a:t>
            </a:r>
            <a:endParaRPr lang="en-US" sz="850" dirty="0"/>
          </a:p>
        </p:txBody>
      </p:sp>
      <p:sp>
        <p:nvSpPr>
          <p:cNvPr id="77" name="Text 75"/>
          <p:cNvSpPr txBox="1"/>
          <p:nvPr/>
        </p:nvSpPr>
        <p:spPr>
          <a:xfrm>
            <a:off x="621792" y="4754880"/>
            <a:ext cx="5760720" cy="548640"/>
          </a:xfrm>
          <a:prstGeom prst="rect">
            <a:avLst/>
          </a:prstGeom>
          <a:noFill/>
          <a:ln/>
        </p:spPr>
        <p:txBody>
          <a:bodyPr wrap="square" lIns="0" tIns="0" rIns="0" bIns="0" rtlCol="0" anchor="ctr">
            <a:normAutofit/>
          </a:bodyPr>
          <a:lstStyle/>
          <a:p>
            <a:pPr algn="l" indent="0" marL="0">
              <a:buNone/>
            </a:pPr>
            <a:r>
              <a:rPr lang="en-US" sz="1030" i="1" dirty="0">
                <a:solidFill>
                  <a:srgbClr val="A9B6C8"/>
                </a:solidFill>
                <a:latin typeface="Aptos" pitchFamily="34" charset="0"/>
                <a:ea typeface="Aptos" pitchFamily="34" charset="-122"/>
                <a:cs typeface="Aptos" pitchFamily="34" charset="-120"/>
              </a:rPr>
              <a:t>Proposal status: new architecture / research direction — not a claim that current WSE-3/CS-4 already exposes a complete TEE.</a:t>
            </a:r>
            <a:endParaRPr lang="en-US" sz="1030" dirty="0"/>
          </a:p>
        </p:txBody>
      </p:sp>
      <p:sp>
        <p:nvSpPr>
          <p:cNvPr id="78" name="Text 76"/>
          <p:cNvSpPr txBox="1"/>
          <p:nvPr/>
        </p:nvSpPr>
        <p:spPr>
          <a:xfrm>
            <a:off x="621792" y="5715000"/>
            <a:ext cx="1828800" cy="256032"/>
          </a:xfrm>
          <a:prstGeom prst="rect">
            <a:avLst/>
          </a:prstGeom>
          <a:noFill/>
          <a:ln/>
        </p:spPr>
        <p:txBody>
          <a:bodyPr wrap="square" lIns="0" tIns="0" rIns="0" bIns="0" rtlCol="0" anchor="ctr">
            <a:normAutofit/>
          </a:bodyPr>
          <a:lstStyle/>
          <a:p>
            <a:pPr algn="l" indent="0" marL="0">
              <a:buNone/>
            </a:pPr>
            <a:r>
              <a:rPr lang="en-US" sz="1000" dirty="0">
                <a:solidFill>
                  <a:srgbClr val="71839C"/>
                </a:solidFill>
                <a:latin typeface="Aptos" pitchFamily="34" charset="0"/>
                <a:ea typeface="Aptos" pitchFamily="34" charset="-122"/>
                <a:cs typeface="Aptos" pitchFamily="34" charset="-120"/>
              </a:rPr>
              <a:t>September 2026</a:t>
            </a:r>
            <a:endParaRPr lang="en-US" sz="100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1 • EXECUTIVE THESIS</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Turn “fastest AI” into “trusted AI.”</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The proposal is a security architecture extension for the Cerebras wafer-scale platform.</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02</a:t>
            </a:r>
            <a:endParaRPr lang="en-US" sz="1000" dirty="0"/>
          </a:p>
        </p:txBody>
      </p:sp>
      <p:sp>
        <p:nvSpPr>
          <p:cNvPr id="6" name="Shape 4"/>
          <p:cNvSpPr/>
          <p:nvPr/>
        </p:nvSpPr>
        <p:spPr>
          <a:xfrm>
            <a:off x="566928" y="2011680"/>
            <a:ext cx="3493008" cy="3246120"/>
          </a:xfrm>
          <a:prstGeom prst="roundRect">
            <a:avLst>
              <a:gd name="adj" fmla="val 4507"/>
            </a:avLst>
          </a:prstGeom>
          <a:solidFill>
            <a:srgbClr val="121C2E"/>
          </a:solidFill>
          <a:ln w="12700">
            <a:solidFill>
              <a:srgbClr val="24344E"/>
            </a:solidFill>
            <a:prstDash val="solid"/>
          </a:ln>
          <a:effectLst>
            <a:outerShdw sx="100000" sy="100000" kx="0" ky="0" algn="bl" rotWithShape="0" blurRad="25400" dist="12700" dir="2700000">
              <a:srgbClr val="000000">
                <a:alpha val="22000"/>
              </a:srgbClr>
            </a:outerShdw>
          </a:effectLst>
        </p:spPr>
      </p:sp>
      <p:sp>
        <p:nvSpPr>
          <p:cNvPr id="7" name="Text 5"/>
          <p:cNvSpPr txBox="1"/>
          <p:nvPr/>
        </p:nvSpPr>
        <p:spPr>
          <a:xfrm>
            <a:off x="795528" y="2231136"/>
            <a:ext cx="411480" cy="320040"/>
          </a:xfrm>
          <a:prstGeom prst="rect">
            <a:avLst/>
          </a:prstGeom>
          <a:noFill/>
          <a:ln/>
        </p:spPr>
        <p:txBody>
          <a:bodyPr wrap="square" lIns="0" tIns="0" rIns="0" bIns="0" rtlCol="0" anchor="ctr">
            <a:normAutofit/>
          </a:bodyPr>
          <a:lstStyle/>
          <a:p>
            <a:pPr algn="l" indent="0" marL="0">
              <a:buNone/>
            </a:pPr>
            <a:r>
              <a:rPr lang="en-US" sz="1800" b="1" dirty="0">
                <a:solidFill>
                  <a:srgbClr val="FF6B35"/>
                </a:solidFill>
                <a:latin typeface="Aptos" pitchFamily="34" charset="0"/>
                <a:ea typeface="Aptos" pitchFamily="34" charset="-122"/>
                <a:cs typeface="Aptos" pitchFamily="34" charset="-120"/>
              </a:rPr>
              <a:t>01</a:t>
            </a:r>
            <a:endParaRPr lang="en-US" sz="1800" dirty="0"/>
          </a:p>
        </p:txBody>
      </p:sp>
      <p:sp>
        <p:nvSpPr>
          <p:cNvPr id="8" name="Text 6"/>
          <p:cNvSpPr txBox="1"/>
          <p:nvPr/>
        </p:nvSpPr>
        <p:spPr>
          <a:xfrm>
            <a:off x="795528" y="2724912"/>
            <a:ext cx="2971800" cy="731520"/>
          </a:xfrm>
          <a:prstGeom prst="rect">
            <a:avLst/>
          </a:prstGeom>
          <a:noFill/>
          <a:ln/>
        </p:spPr>
        <p:txBody>
          <a:bodyPr wrap="square" lIns="0" tIns="0" rIns="0" bIns="0" rtlCol="0" anchor="ctr">
            <a:normAutofit/>
          </a:bodyPr>
          <a:lstStyle/>
          <a:p>
            <a:pPr algn="l" indent="0" marL="0">
              <a:buNone/>
            </a:pPr>
            <a:r>
              <a:rPr lang="en-US" sz="2000" b="1" dirty="0">
                <a:solidFill>
                  <a:srgbClr val="F5F7FA"/>
                </a:solidFill>
                <a:latin typeface="Aptos" pitchFamily="34" charset="0"/>
                <a:ea typeface="Aptos" pitchFamily="34" charset="-122"/>
                <a:cs typeface="Aptos" pitchFamily="34" charset="-120"/>
              </a:rPr>
              <a:t>AI is becoming infrastructure of action</a:t>
            </a:r>
            <a:endParaRPr lang="en-US" sz="2000" dirty="0"/>
          </a:p>
        </p:txBody>
      </p:sp>
      <p:sp>
        <p:nvSpPr>
          <p:cNvPr id="9" name="Text 7"/>
          <p:cNvSpPr txBox="1"/>
          <p:nvPr/>
        </p:nvSpPr>
        <p:spPr>
          <a:xfrm>
            <a:off x="795528" y="3602736"/>
            <a:ext cx="2999232" cy="1170432"/>
          </a:xfrm>
          <a:prstGeom prst="rect">
            <a:avLst/>
          </a:prstGeom>
          <a:noFill/>
          <a:ln/>
        </p:spPr>
        <p:txBody>
          <a:bodyPr wrap="square" lIns="0" tIns="0" rIns="0" bIns="0" rtlCol="0" anchor="ctr">
            <a:normAutofit/>
          </a:bodyPr>
          <a:lstStyle/>
          <a:p>
            <a:pPr algn="l" indent="0" marL="0">
              <a:buNone/>
            </a:pPr>
            <a:r>
              <a:rPr lang="en-US" sz="1220" dirty="0">
                <a:solidFill>
                  <a:srgbClr val="D8E2EF"/>
                </a:solidFill>
                <a:latin typeface="Aptos" pitchFamily="34" charset="0"/>
                <a:ea typeface="Aptos" pitchFamily="34" charset="-122"/>
                <a:cs typeface="Aptos" pitchFamily="34" charset="-120"/>
              </a:rPr>
              <a:t>Agentic workloads create a new security boundary: the model is now connected to data, APIs, wallets, and enterprise credentials.</a:t>
            </a:r>
            <a:endParaRPr lang="en-US" sz="1220" dirty="0"/>
          </a:p>
        </p:txBody>
      </p:sp>
      <p:sp>
        <p:nvSpPr>
          <p:cNvPr id="10" name="Shape 8"/>
          <p:cNvSpPr/>
          <p:nvPr/>
        </p:nvSpPr>
        <p:spPr>
          <a:xfrm>
            <a:off x="795528" y="4901184"/>
            <a:ext cx="2926080" cy="0"/>
          </a:xfrm>
          <a:prstGeom prst="line">
            <a:avLst/>
          </a:prstGeom>
          <a:noFill/>
          <a:ln w="25400">
            <a:solidFill>
              <a:srgbClr val="FF6B35"/>
            </a:solidFill>
            <a:prstDash val="solid"/>
            <a:headEnd type="none"/>
            <a:tailEnd type="none"/>
          </a:ln>
        </p:spPr>
      </p:sp>
      <p:sp>
        <p:nvSpPr>
          <p:cNvPr id="11" name="Shape 9"/>
          <p:cNvSpPr/>
          <p:nvPr/>
        </p:nvSpPr>
        <p:spPr>
          <a:xfrm>
            <a:off x="4343400" y="2011680"/>
            <a:ext cx="3493008" cy="3246120"/>
          </a:xfrm>
          <a:prstGeom prst="roundRect">
            <a:avLst>
              <a:gd name="adj" fmla="val 4507"/>
            </a:avLst>
          </a:prstGeom>
          <a:solidFill>
            <a:srgbClr val="121C2E"/>
          </a:solidFill>
          <a:ln w="12700">
            <a:solidFill>
              <a:srgbClr val="24344E"/>
            </a:solidFill>
            <a:prstDash val="solid"/>
          </a:ln>
          <a:effectLst>
            <a:outerShdw sx="100000" sy="100000" kx="0" ky="0" algn="bl" rotWithShape="0" blurRad="322580000" dist="161290000" dir="162000000000">
              <a:srgbClr val="000000">
                <a:alpha val="2200000000"/>
              </a:srgbClr>
            </a:outerShdw>
          </a:effectLst>
        </p:spPr>
      </p:sp>
      <p:sp>
        <p:nvSpPr>
          <p:cNvPr id="12" name="Text 10"/>
          <p:cNvSpPr txBox="1"/>
          <p:nvPr/>
        </p:nvSpPr>
        <p:spPr>
          <a:xfrm>
            <a:off x="4572000" y="2231136"/>
            <a:ext cx="411480" cy="320040"/>
          </a:xfrm>
          <a:prstGeom prst="rect">
            <a:avLst/>
          </a:prstGeom>
          <a:noFill/>
          <a:ln/>
        </p:spPr>
        <p:txBody>
          <a:bodyPr wrap="square" lIns="0" tIns="0" rIns="0" bIns="0" rtlCol="0" anchor="ctr">
            <a:normAutofit/>
          </a:bodyPr>
          <a:lstStyle/>
          <a:p>
            <a:pPr algn="l" indent="0" marL="0">
              <a:buNone/>
            </a:pPr>
            <a:r>
              <a:rPr lang="en-US" sz="1800" b="1" dirty="0">
                <a:solidFill>
                  <a:srgbClr val="3BD6E8"/>
                </a:solidFill>
                <a:latin typeface="Aptos" pitchFamily="34" charset="0"/>
                <a:ea typeface="Aptos" pitchFamily="34" charset="-122"/>
                <a:cs typeface="Aptos" pitchFamily="34" charset="-120"/>
              </a:rPr>
              <a:t>02</a:t>
            </a:r>
            <a:endParaRPr lang="en-US" sz="1800" dirty="0"/>
          </a:p>
        </p:txBody>
      </p:sp>
      <p:sp>
        <p:nvSpPr>
          <p:cNvPr id="13" name="Text 11"/>
          <p:cNvSpPr txBox="1"/>
          <p:nvPr/>
        </p:nvSpPr>
        <p:spPr>
          <a:xfrm>
            <a:off x="4572000" y="2724912"/>
            <a:ext cx="2971800" cy="731520"/>
          </a:xfrm>
          <a:prstGeom prst="rect">
            <a:avLst/>
          </a:prstGeom>
          <a:noFill/>
          <a:ln/>
        </p:spPr>
        <p:txBody>
          <a:bodyPr wrap="square" lIns="0" tIns="0" rIns="0" bIns="0" rtlCol="0" anchor="ctr">
            <a:normAutofit/>
          </a:bodyPr>
          <a:lstStyle/>
          <a:p>
            <a:pPr algn="l" indent="0" marL="0">
              <a:buNone/>
            </a:pPr>
            <a:r>
              <a:rPr lang="en-US" sz="2000" b="1" dirty="0">
                <a:solidFill>
                  <a:srgbClr val="F5F7FA"/>
                </a:solidFill>
                <a:latin typeface="Aptos" pitchFamily="34" charset="0"/>
                <a:ea typeface="Aptos" pitchFamily="34" charset="-122"/>
                <a:cs typeface="Aptos" pitchFamily="34" charset="-120"/>
              </a:rPr>
              <a:t>Confidential VMs stop at the CPU boundary</a:t>
            </a:r>
            <a:endParaRPr lang="en-US" sz="2000" dirty="0"/>
          </a:p>
        </p:txBody>
      </p:sp>
      <p:sp>
        <p:nvSpPr>
          <p:cNvPr id="14" name="Text 12"/>
          <p:cNvSpPr txBox="1"/>
          <p:nvPr/>
        </p:nvSpPr>
        <p:spPr>
          <a:xfrm>
            <a:off x="4572000" y="3602736"/>
            <a:ext cx="2999232" cy="1170432"/>
          </a:xfrm>
          <a:prstGeom prst="rect">
            <a:avLst/>
          </a:prstGeom>
          <a:noFill/>
          <a:ln/>
        </p:spPr>
        <p:txBody>
          <a:bodyPr wrap="square" lIns="0" tIns="0" rIns="0" bIns="0" rtlCol="0" anchor="ctr">
            <a:normAutofit/>
          </a:bodyPr>
          <a:lstStyle/>
          <a:p>
            <a:pPr algn="l" indent="0" marL="0">
              <a:buNone/>
            </a:pPr>
            <a:r>
              <a:rPr lang="en-US" sz="1220" dirty="0">
                <a:solidFill>
                  <a:srgbClr val="D8E2EF"/>
                </a:solidFill>
                <a:latin typeface="Aptos" pitchFamily="34" charset="0"/>
                <a:ea typeface="Aptos" pitchFamily="34" charset="-122"/>
                <a:cs typeface="Aptos" pitchFamily="34" charset="-120"/>
              </a:rPr>
              <a:t>A CVM protects host memory, but a high-assurance AI platform must also attest and isolate the accelerator execution domain.</a:t>
            </a:r>
            <a:endParaRPr lang="en-US" sz="1220" dirty="0"/>
          </a:p>
        </p:txBody>
      </p:sp>
      <p:sp>
        <p:nvSpPr>
          <p:cNvPr id="15" name="Shape 13"/>
          <p:cNvSpPr/>
          <p:nvPr/>
        </p:nvSpPr>
        <p:spPr>
          <a:xfrm>
            <a:off x="4572000" y="4901184"/>
            <a:ext cx="2926080" cy="0"/>
          </a:xfrm>
          <a:prstGeom prst="line">
            <a:avLst/>
          </a:prstGeom>
          <a:noFill/>
          <a:ln w="25400">
            <a:solidFill>
              <a:srgbClr val="3BD6E8"/>
            </a:solidFill>
            <a:prstDash val="solid"/>
            <a:headEnd type="none"/>
            <a:tailEnd type="none"/>
          </a:ln>
        </p:spPr>
      </p:sp>
      <p:sp>
        <p:nvSpPr>
          <p:cNvPr id="16" name="Shape 14"/>
          <p:cNvSpPr/>
          <p:nvPr/>
        </p:nvSpPr>
        <p:spPr>
          <a:xfrm>
            <a:off x="8119872" y="2011680"/>
            <a:ext cx="3493008" cy="3246120"/>
          </a:xfrm>
          <a:prstGeom prst="roundRect">
            <a:avLst>
              <a:gd name="adj" fmla="val 4507"/>
            </a:avLst>
          </a:prstGeom>
          <a:solidFill>
            <a:srgbClr val="121C2E"/>
          </a:solidFill>
          <a:ln w="12700">
            <a:solidFill>
              <a:srgbClr val="24344E"/>
            </a:solidFill>
            <a:prstDash val="solid"/>
          </a:ln>
          <a:effectLst>
            <a:outerShdw sx="100000" sy="100000" kx="0" ky="0" algn="bl" rotWithShape="0" blurRad="4096766000000" dist="2048383000000" dir="9720000000000000">
              <a:srgbClr val="000000">
                <a:alpha val="220000000000000"/>
              </a:srgbClr>
            </a:outerShdw>
          </a:effectLst>
        </p:spPr>
      </p:sp>
      <p:sp>
        <p:nvSpPr>
          <p:cNvPr id="17" name="Text 15"/>
          <p:cNvSpPr txBox="1"/>
          <p:nvPr/>
        </p:nvSpPr>
        <p:spPr>
          <a:xfrm>
            <a:off x="8348472" y="2231136"/>
            <a:ext cx="411480" cy="320040"/>
          </a:xfrm>
          <a:prstGeom prst="rect">
            <a:avLst/>
          </a:prstGeom>
          <a:noFill/>
          <a:ln/>
        </p:spPr>
        <p:txBody>
          <a:bodyPr wrap="square" lIns="0" tIns="0" rIns="0" bIns="0" rtlCol="0" anchor="ctr">
            <a:normAutofit/>
          </a:bodyPr>
          <a:lstStyle/>
          <a:p>
            <a:pPr algn="l" indent="0" marL="0">
              <a:buNone/>
            </a:pPr>
            <a:r>
              <a:rPr lang="en-US" sz="1800" b="1" dirty="0">
                <a:solidFill>
                  <a:srgbClr val="5FE1A0"/>
                </a:solidFill>
                <a:latin typeface="Aptos" pitchFamily="34" charset="0"/>
                <a:ea typeface="Aptos" pitchFamily="34" charset="-122"/>
                <a:cs typeface="Aptos" pitchFamily="34" charset="-120"/>
              </a:rPr>
              <a:t>03</a:t>
            </a:r>
            <a:endParaRPr lang="en-US" sz="1800" dirty="0"/>
          </a:p>
        </p:txBody>
      </p:sp>
      <p:sp>
        <p:nvSpPr>
          <p:cNvPr id="18" name="Text 16"/>
          <p:cNvSpPr txBox="1"/>
          <p:nvPr/>
        </p:nvSpPr>
        <p:spPr>
          <a:xfrm>
            <a:off x="8348472" y="2724912"/>
            <a:ext cx="2971800" cy="731520"/>
          </a:xfrm>
          <a:prstGeom prst="rect">
            <a:avLst/>
          </a:prstGeom>
          <a:noFill/>
          <a:ln/>
        </p:spPr>
        <p:txBody>
          <a:bodyPr wrap="square" lIns="0" tIns="0" rIns="0" bIns="0" rtlCol="0" anchor="ctr">
            <a:normAutofit/>
          </a:bodyPr>
          <a:lstStyle/>
          <a:p>
            <a:pPr algn="l" indent="0" marL="0">
              <a:buNone/>
            </a:pPr>
            <a:r>
              <a:rPr lang="en-US" sz="2000" b="1" dirty="0">
                <a:solidFill>
                  <a:srgbClr val="F5F7FA"/>
                </a:solidFill>
                <a:latin typeface="Aptos" pitchFamily="34" charset="0"/>
                <a:ea typeface="Aptos" pitchFamily="34" charset="-122"/>
                <a:cs typeface="Aptos" pitchFamily="34" charset="-120"/>
              </a:rPr>
              <a:t>Cerebras can define a new TEE primitive</a:t>
            </a:r>
            <a:endParaRPr lang="en-US" sz="2000" dirty="0"/>
          </a:p>
        </p:txBody>
      </p:sp>
      <p:sp>
        <p:nvSpPr>
          <p:cNvPr id="19" name="Text 17"/>
          <p:cNvSpPr txBox="1"/>
          <p:nvPr/>
        </p:nvSpPr>
        <p:spPr>
          <a:xfrm>
            <a:off x="8348472" y="3602736"/>
            <a:ext cx="2999232" cy="1170432"/>
          </a:xfrm>
          <a:prstGeom prst="rect">
            <a:avLst/>
          </a:prstGeom>
          <a:noFill/>
          <a:ln/>
        </p:spPr>
        <p:txBody>
          <a:bodyPr wrap="square" lIns="0" tIns="0" rIns="0" bIns="0" rtlCol="0" anchor="ctr">
            <a:normAutofit/>
          </a:bodyPr>
          <a:lstStyle/>
          <a:p>
            <a:pPr algn="l" indent="0" marL="0">
              <a:buNone/>
            </a:pPr>
            <a:r>
              <a:rPr lang="en-US" sz="1220" dirty="0">
                <a:solidFill>
                  <a:srgbClr val="D8E2EF"/>
                </a:solidFill>
                <a:latin typeface="Aptos" pitchFamily="34" charset="0"/>
                <a:ea typeface="Aptos" pitchFamily="34" charset="-122"/>
                <a:cs typeface="Aptos" pitchFamily="34" charset="-120"/>
              </a:rPr>
              <a:t>Make the WSE, its SRAM/fabric, model path, and CPU CVM one composite, remotely attested confidential workload.</a:t>
            </a:r>
            <a:endParaRPr lang="en-US" sz="1220" dirty="0"/>
          </a:p>
        </p:txBody>
      </p:sp>
      <p:sp>
        <p:nvSpPr>
          <p:cNvPr id="20" name="Shape 18"/>
          <p:cNvSpPr/>
          <p:nvPr/>
        </p:nvSpPr>
        <p:spPr>
          <a:xfrm>
            <a:off x="8348472" y="4901184"/>
            <a:ext cx="2926080" cy="0"/>
          </a:xfrm>
          <a:prstGeom prst="line">
            <a:avLst/>
          </a:prstGeom>
          <a:noFill/>
          <a:ln w="25400">
            <a:solidFill>
              <a:srgbClr val="5FE1A0"/>
            </a:solidFill>
            <a:prstDash val="solid"/>
            <a:headEnd type="none"/>
            <a:tailEnd type="none"/>
          </a:ln>
        </p:spPr>
      </p:sp>
      <p:sp>
        <p:nvSpPr>
          <p:cNvPr id="21" name="Text 19"/>
          <p:cNvSpPr txBox="1"/>
          <p:nvPr/>
        </p:nvSpPr>
        <p:spPr>
          <a:xfrm>
            <a:off x="566928" y="5596128"/>
            <a:ext cx="1508760" cy="219456"/>
          </a:xfrm>
          <a:prstGeom prst="rect">
            <a:avLst/>
          </a:prstGeom>
          <a:noFill/>
          <a:ln/>
        </p:spPr>
        <p:txBody>
          <a:bodyPr wrap="square" lIns="0" tIns="0" rIns="0" bIns="0" rtlCol="0" anchor="ctr">
            <a:normAutofit/>
          </a:bodyPr>
          <a:lstStyle/>
          <a:p>
            <a:pPr algn="l" indent="0" marL="0">
              <a:buNone/>
            </a:pPr>
            <a:r>
              <a:rPr lang="en-US" sz="800" b="1" spc="120" kern="0" dirty="0">
                <a:solidFill>
                  <a:srgbClr val="FF6B35"/>
                </a:solidFill>
                <a:latin typeface="Aptos" pitchFamily="34" charset="0"/>
                <a:ea typeface="Aptos" pitchFamily="34" charset="-122"/>
                <a:cs typeface="Aptos" pitchFamily="34" charset="-120"/>
              </a:rPr>
              <a:t>EXECUTIVE OUTCOME</a:t>
            </a:r>
            <a:endParaRPr lang="en-US" sz="800" dirty="0"/>
          </a:p>
        </p:txBody>
      </p:sp>
      <p:sp>
        <p:nvSpPr>
          <p:cNvPr id="22" name="Text 20"/>
          <p:cNvSpPr txBox="1"/>
          <p:nvPr/>
        </p:nvSpPr>
        <p:spPr>
          <a:xfrm>
            <a:off x="2048256" y="5559552"/>
            <a:ext cx="8046720" cy="274320"/>
          </a:xfrm>
          <a:prstGeom prst="rect">
            <a:avLst/>
          </a:prstGeom>
          <a:noFill/>
          <a:ln/>
        </p:spPr>
        <p:txBody>
          <a:bodyPr wrap="square" lIns="0" tIns="0" rIns="0" bIns="0" rtlCol="0" anchor="ctr">
            <a:normAutofit/>
          </a:bodyPr>
          <a:lstStyle/>
          <a:p>
            <a:pPr algn="l" indent="0" marL="0">
              <a:buNone/>
            </a:pPr>
            <a:r>
              <a:rPr lang="en-US" sz="1550" b="1" dirty="0">
                <a:solidFill>
                  <a:srgbClr val="F5F7FA"/>
                </a:solidFill>
                <a:latin typeface="Aptos" pitchFamily="34" charset="0"/>
                <a:ea typeface="Aptos" pitchFamily="34" charset="-122"/>
                <a:cs typeface="Aptos" pitchFamily="34" charset="-120"/>
              </a:rPr>
              <a:t>A platform security moat that competitors cannot reproduce in software alone.</a:t>
            </a:r>
            <a:endParaRPr lang="en-US" sz="1550" dirty="0"/>
          </a:p>
        </p:txBody>
      </p:sp>
      <p:sp>
        <p:nvSpPr>
          <p:cNvPr id="23" name="Text 21"/>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Sources: Cerebras CS-4 announcement (Aug 18, 2026); Cerebras company / sovereign AI materials; Intel TDX documentation; NVIDIA attestation documentation.</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2 • WHY NOW</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The AI workload is moving from conversation to action.</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Speed makes agents practical; confidentiality makes them deployable into high-value environments.</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03</a:t>
            </a:r>
            <a:endParaRPr lang="en-US" sz="1000" dirty="0"/>
          </a:p>
        </p:txBody>
      </p:sp>
      <p:sp>
        <p:nvSpPr>
          <p:cNvPr id="6" name="Shape 4"/>
          <p:cNvSpPr/>
          <p:nvPr/>
        </p:nvSpPr>
        <p:spPr>
          <a:xfrm>
            <a:off x="566928" y="1901952"/>
            <a:ext cx="4663440" cy="3794760"/>
          </a:xfrm>
          <a:prstGeom prst="roundRect">
            <a:avLst>
              <a:gd name="adj" fmla="val 3855"/>
            </a:avLst>
          </a:prstGeom>
          <a:solidFill>
            <a:srgbClr val="121C2E"/>
          </a:solidFill>
          <a:ln w="12700">
            <a:solidFill>
              <a:srgbClr val="24344E"/>
            </a:solidFill>
            <a:prstDash val="solid"/>
          </a:ln>
          <a:effectLst>
            <a:outerShdw sx="100000" sy="100000" kx="0" ky="0" algn="bl" rotWithShape="0" blurRad="52028928200000000" dist="26014464100000000" dir="583200000000000000000">
              <a:srgbClr val="000000">
                <a:alpha val="22000000000000000000"/>
              </a:srgbClr>
            </a:outerShdw>
          </a:effectLst>
        </p:spPr>
      </p:sp>
      <p:sp>
        <p:nvSpPr>
          <p:cNvPr id="7" name="Text 5"/>
          <p:cNvSpPr txBox="1"/>
          <p:nvPr/>
        </p:nvSpPr>
        <p:spPr>
          <a:xfrm>
            <a:off x="822960" y="2148840"/>
            <a:ext cx="2194560" cy="228600"/>
          </a:xfrm>
          <a:prstGeom prst="rect">
            <a:avLst/>
          </a:prstGeom>
          <a:noFill/>
          <a:ln/>
        </p:spPr>
        <p:txBody>
          <a:bodyPr wrap="square" lIns="0" tIns="0" rIns="0" bIns="0" rtlCol="0" anchor="ctr">
            <a:normAutofit/>
          </a:bodyPr>
          <a:lstStyle/>
          <a:p>
            <a:pPr algn="l" indent="0" marL="0">
              <a:buNone/>
            </a:pPr>
            <a:r>
              <a:rPr lang="en-US" sz="900" b="1" spc="140" kern="0" dirty="0">
                <a:solidFill>
                  <a:srgbClr val="FF6B35"/>
                </a:solidFill>
                <a:latin typeface="Aptos" pitchFamily="34" charset="0"/>
                <a:ea typeface="Aptos" pitchFamily="34" charset="-122"/>
                <a:cs typeface="Aptos" pitchFamily="34" charset="-120"/>
              </a:rPr>
              <a:t>THE TRAJECTORY</a:t>
            </a:r>
            <a:endParaRPr lang="en-US" sz="900" dirty="0"/>
          </a:p>
        </p:txBody>
      </p:sp>
      <p:sp>
        <p:nvSpPr>
          <p:cNvPr id="8" name="Shape 6"/>
          <p:cNvSpPr/>
          <p:nvPr/>
        </p:nvSpPr>
        <p:spPr>
          <a:xfrm>
            <a:off x="859536" y="2688336"/>
            <a:ext cx="384048" cy="384048"/>
          </a:xfrm>
          <a:prstGeom prst="ellipse">
            <a:avLst/>
          </a:prstGeom>
          <a:solidFill>
            <a:srgbClr val="3BD6E8">
              <a:alpha val="18000"/>
            </a:srgbClr>
          </a:solidFill>
          <a:ln w="15240">
            <a:solidFill>
              <a:srgbClr val="3BD6E8"/>
            </a:solidFill>
            <a:prstDash val="solid"/>
          </a:ln>
        </p:spPr>
      </p:sp>
      <p:sp>
        <p:nvSpPr>
          <p:cNvPr id="9" name="Text 7"/>
          <p:cNvSpPr txBox="1"/>
          <p:nvPr/>
        </p:nvSpPr>
        <p:spPr>
          <a:xfrm>
            <a:off x="859536" y="2697480"/>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3BD6E8"/>
                </a:solidFill>
                <a:latin typeface="Aptos" pitchFamily="34" charset="0"/>
                <a:ea typeface="Aptos" pitchFamily="34" charset="-122"/>
                <a:cs typeface="Aptos" pitchFamily="34" charset="-120"/>
              </a:rPr>
              <a:t>1</a:t>
            </a:r>
            <a:endParaRPr lang="en-US" sz="1500" dirty="0"/>
          </a:p>
        </p:txBody>
      </p:sp>
      <p:sp>
        <p:nvSpPr>
          <p:cNvPr id="10" name="Text 8"/>
          <p:cNvSpPr txBox="1"/>
          <p:nvPr/>
        </p:nvSpPr>
        <p:spPr>
          <a:xfrm>
            <a:off x="1371600" y="2679192"/>
            <a:ext cx="914400" cy="201168"/>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Chat</a:t>
            </a:r>
            <a:endParaRPr lang="en-US" sz="1200" dirty="0"/>
          </a:p>
        </p:txBody>
      </p:sp>
      <p:sp>
        <p:nvSpPr>
          <p:cNvPr id="11" name="Text 9"/>
          <p:cNvSpPr txBox="1"/>
          <p:nvPr/>
        </p:nvSpPr>
        <p:spPr>
          <a:xfrm>
            <a:off x="2240280" y="2679192"/>
            <a:ext cx="1508760" cy="201168"/>
          </a:xfrm>
          <a:prstGeom prst="rect">
            <a:avLst/>
          </a:prstGeom>
          <a:noFill/>
          <a:ln/>
        </p:spPr>
        <p:txBody>
          <a:bodyPr wrap="square" lIns="0" tIns="0" rIns="0" bIns="0" rtlCol="0" anchor="ctr">
            <a:normAutofit/>
          </a:bodyPr>
          <a:lstStyle/>
          <a:p>
            <a:pPr algn="l" indent="0" marL="0">
              <a:buNone/>
            </a:pPr>
            <a:r>
              <a:rPr lang="en-US" sz="1100" dirty="0">
                <a:solidFill>
                  <a:srgbClr val="D8E2EF"/>
                </a:solidFill>
                <a:latin typeface="Aptos" pitchFamily="34" charset="0"/>
                <a:ea typeface="Aptos" pitchFamily="34" charset="-122"/>
                <a:cs typeface="Aptos" pitchFamily="34" charset="-120"/>
              </a:rPr>
              <a:t>Prompt → response</a:t>
            </a:r>
            <a:endParaRPr lang="en-US" sz="1100" dirty="0"/>
          </a:p>
        </p:txBody>
      </p:sp>
      <p:sp>
        <p:nvSpPr>
          <p:cNvPr id="12" name="Text 10"/>
          <p:cNvSpPr txBox="1"/>
          <p:nvPr/>
        </p:nvSpPr>
        <p:spPr>
          <a:xfrm>
            <a:off x="3721608" y="2679192"/>
            <a:ext cx="1234440" cy="201168"/>
          </a:xfrm>
          <a:prstGeom prst="rect">
            <a:avLst/>
          </a:prstGeom>
          <a:noFill/>
          <a:ln/>
        </p:spPr>
        <p:txBody>
          <a:bodyPr wrap="square" lIns="0" tIns="0" rIns="0" bIns="0" rtlCol="0" anchor="ctr">
            <a:normAutofit/>
          </a:bodyPr>
          <a:lstStyle/>
          <a:p>
            <a:pPr algn="r" indent="0" marL="0">
              <a:buNone/>
            </a:pPr>
            <a:r>
              <a:rPr lang="en-US" sz="1000" dirty="0">
                <a:solidFill>
                  <a:srgbClr val="A9B6C8"/>
                </a:solidFill>
                <a:latin typeface="Aptos" pitchFamily="34" charset="0"/>
                <a:ea typeface="Aptos" pitchFamily="34" charset="-122"/>
                <a:cs typeface="Aptos" pitchFamily="34" charset="-120"/>
              </a:rPr>
              <a:t>human-in-the-loop</a:t>
            </a:r>
            <a:endParaRPr lang="en-US" sz="1000" dirty="0"/>
          </a:p>
        </p:txBody>
      </p:sp>
      <p:sp>
        <p:nvSpPr>
          <p:cNvPr id="13" name="Shape 11"/>
          <p:cNvSpPr/>
          <p:nvPr/>
        </p:nvSpPr>
        <p:spPr>
          <a:xfrm>
            <a:off x="859536" y="3438144"/>
            <a:ext cx="384048" cy="384048"/>
          </a:xfrm>
          <a:prstGeom prst="ellipse">
            <a:avLst/>
          </a:prstGeom>
          <a:solidFill>
            <a:srgbClr val="3BD6E8">
              <a:alpha val="18000"/>
            </a:srgbClr>
          </a:solidFill>
          <a:ln w="15240">
            <a:solidFill>
              <a:srgbClr val="3BD6E8"/>
            </a:solidFill>
            <a:prstDash val="solid"/>
          </a:ln>
        </p:spPr>
      </p:sp>
      <p:sp>
        <p:nvSpPr>
          <p:cNvPr id="14" name="Text 12"/>
          <p:cNvSpPr txBox="1"/>
          <p:nvPr/>
        </p:nvSpPr>
        <p:spPr>
          <a:xfrm>
            <a:off x="859536" y="3447288"/>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3BD6E8"/>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1371600" y="3429000"/>
            <a:ext cx="914400" cy="201168"/>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Reasoning</a:t>
            </a:r>
            <a:endParaRPr lang="en-US" sz="1200" dirty="0"/>
          </a:p>
        </p:txBody>
      </p:sp>
      <p:sp>
        <p:nvSpPr>
          <p:cNvPr id="16" name="Text 14"/>
          <p:cNvSpPr txBox="1"/>
          <p:nvPr/>
        </p:nvSpPr>
        <p:spPr>
          <a:xfrm>
            <a:off x="2240280" y="3429000"/>
            <a:ext cx="1508760" cy="201168"/>
          </a:xfrm>
          <a:prstGeom prst="rect">
            <a:avLst/>
          </a:prstGeom>
          <a:noFill/>
          <a:ln/>
        </p:spPr>
        <p:txBody>
          <a:bodyPr wrap="square" lIns="0" tIns="0" rIns="0" bIns="0" rtlCol="0" anchor="ctr">
            <a:normAutofit/>
          </a:bodyPr>
          <a:lstStyle/>
          <a:p>
            <a:pPr algn="l" indent="0" marL="0">
              <a:buNone/>
            </a:pPr>
            <a:r>
              <a:rPr lang="en-US" sz="1100" dirty="0">
                <a:solidFill>
                  <a:srgbClr val="D8E2EF"/>
                </a:solidFill>
                <a:latin typeface="Aptos" pitchFamily="34" charset="0"/>
                <a:ea typeface="Aptos" pitchFamily="34" charset="-122"/>
                <a:cs typeface="Aptos" pitchFamily="34" charset="-120"/>
              </a:rPr>
              <a:t>Longer outputs</a:t>
            </a:r>
            <a:endParaRPr lang="en-US" sz="1100" dirty="0"/>
          </a:p>
        </p:txBody>
      </p:sp>
      <p:sp>
        <p:nvSpPr>
          <p:cNvPr id="17" name="Text 15"/>
          <p:cNvSpPr txBox="1"/>
          <p:nvPr/>
        </p:nvSpPr>
        <p:spPr>
          <a:xfrm>
            <a:off x="3721608" y="3429000"/>
            <a:ext cx="1234440" cy="201168"/>
          </a:xfrm>
          <a:prstGeom prst="rect">
            <a:avLst/>
          </a:prstGeom>
          <a:noFill/>
          <a:ln/>
        </p:spPr>
        <p:txBody>
          <a:bodyPr wrap="square" lIns="0" tIns="0" rIns="0" bIns="0" rtlCol="0" anchor="ctr">
            <a:normAutofit/>
          </a:bodyPr>
          <a:lstStyle/>
          <a:p>
            <a:pPr algn="r" indent="0" marL="0">
              <a:buNone/>
            </a:pPr>
            <a:r>
              <a:rPr lang="en-US" sz="1000" dirty="0">
                <a:solidFill>
                  <a:srgbClr val="A9B6C8"/>
                </a:solidFill>
                <a:latin typeface="Aptos" pitchFamily="34" charset="0"/>
                <a:ea typeface="Aptos" pitchFamily="34" charset="-122"/>
                <a:cs typeface="Aptos" pitchFamily="34" charset="-120"/>
              </a:rPr>
              <a:t>latency matters</a:t>
            </a:r>
            <a:endParaRPr lang="en-US" sz="1000" dirty="0"/>
          </a:p>
        </p:txBody>
      </p:sp>
      <p:sp>
        <p:nvSpPr>
          <p:cNvPr id="18" name="Shape 16"/>
          <p:cNvSpPr/>
          <p:nvPr/>
        </p:nvSpPr>
        <p:spPr>
          <a:xfrm>
            <a:off x="859536" y="4187952"/>
            <a:ext cx="384048" cy="384048"/>
          </a:xfrm>
          <a:prstGeom prst="ellipse">
            <a:avLst/>
          </a:prstGeom>
          <a:solidFill>
            <a:srgbClr val="FF6B35">
              <a:alpha val="18000"/>
            </a:srgbClr>
          </a:solidFill>
          <a:ln w="15240">
            <a:solidFill>
              <a:srgbClr val="FF6B35"/>
            </a:solidFill>
            <a:prstDash val="solid"/>
          </a:ln>
        </p:spPr>
      </p:sp>
      <p:sp>
        <p:nvSpPr>
          <p:cNvPr id="19" name="Text 17"/>
          <p:cNvSpPr txBox="1"/>
          <p:nvPr/>
        </p:nvSpPr>
        <p:spPr>
          <a:xfrm>
            <a:off x="859536" y="4197096"/>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FF6B35"/>
                </a:solidFill>
                <a:latin typeface="Aptos" pitchFamily="34" charset="0"/>
                <a:ea typeface="Aptos" pitchFamily="34" charset="-122"/>
                <a:cs typeface="Aptos" pitchFamily="34" charset="-120"/>
              </a:rPr>
              <a:t>3</a:t>
            </a:r>
            <a:endParaRPr lang="en-US" sz="1500" dirty="0"/>
          </a:p>
        </p:txBody>
      </p:sp>
      <p:sp>
        <p:nvSpPr>
          <p:cNvPr id="20" name="Text 18"/>
          <p:cNvSpPr txBox="1"/>
          <p:nvPr/>
        </p:nvSpPr>
        <p:spPr>
          <a:xfrm>
            <a:off x="1371600" y="4178808"/>
            <a:ext cx="914400" cy="201168"/>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Agents</a:t>
            </a:r>
            <a:endParaRPr lang="en-US" sz="1200" dirty="0"/>
          </a:p>
        </p:txBody>
      </p:sp>
      <p:sp>
        <p:nvSpPr>
          <p:cNvPr id="21" name="Text 19"/>
          <p:cNvSpPr txBox="1"/>
          <p:nvPr/>
        </p:nvSpPr>
        <p:spPr>
          <a:xfrm>
            <a:off x="2240280" y="4178808"/>
            <a:ext cx="1508760" cy="201168"/>
          </a:xfrm>
          <a:prstGeom prst="rect">
            <a:avLst/>
          </a:prstGeom>
          <a:noFill/>
          <a:ln/>
        </p:spPr>
        <p:txBody>
          <a:bodyPr wrap="square" lIns="0" tIns="0" rIns="0" bIns="0" rtlCol="0" anchor="ctr">
            <a:normAutofit/>
          </a:bodyPr>
          <a:lstStyle/>
          <a:p>
            <a:pPr algn="l" indent="0" marL="0">
              <a:buNone/>
            </a:pPr>
            <a:r>
              <a:rPr lang="en-US" sz="1100" dirty="0">
                <a:solidFill>
                  <a:srgbClr val="D8E2EF"/>
                </a:solidFill>
                <a:latin typeface="Aptos" pitchFamily="34" charset="0"/>
                <a:ea typeface="Aptos" pitchFamily="34" charset="-122"/>
                <a:cs typeface="Aptos" pitchFamily="34" charset="-120"/>
              </a:rPr>
              <a:t>Tool calls + APIs</a:t>
            </a:r>
            <a:endParaRPr lang="en-US" sz="1100" dirty="0"/>
          </a:p>
        </p:txBody>
      </p:sp>
      <p:sp>
        <p:nvSpPr>
          <p:cNvPr id="22" name="Text 20"/>
          <p:cNvSpPr txBox="1"/>
          <p:nvPr/>
        </p:nvSpPr>
        <p:spPr>
          <a:xfrm>
            <a:off x="3721608" y="4178808"/>
            <a:ext cx="1234440" cy="201168"/>
          </a:xfrm>
          <a:prstGeom prst="rect">
            <a:avLst/>
          </a:prstGeom>
          <a:noFill/>
          <a:ln/>
        </p:spPr>
        <p:txBody>
          <a:bodyPr wrap="square" lIns="0" tIns="0" rIns="0" bIns="0" rtlCol="0" anchor="ctr">
            <a:normAutofit/>
          </a:bodyPr>
          <a:lstStyle/>
          <a:p>
            <a:pPr algn="r" indent="0" marL="0">
              <a:buNone/>
            </a:pPr>
            <a:r>
              <a:rPr lang="en-US" sz="1000" dirty="0">
                <a:solidFill>
                  <a:srgbClr val="A9B6C8"/>
                </a:solidFill>
                <a:latin typeface="Aptos" pitchFamily="34" charset="0"/>
                <a:ea typeface="Aptos" pitchFamily="34" charset="-122"/>
                <a:cs typeface="Aptos" pitchFamily="34" charset="-120"/>
              </a:rPr>
              <a:t>credentials appear</a:t>
            </a:r>
            <a:endParaRPr lang="en-US" sz="1000" dirty="0"/>
          </a:p>
        </p:txBody>
      </p:sp>
      <p:sp>
        <p:nvSpPr>
          <p:cNvPr id="23" name="Shape 21"/>
          <p:cNvSpPr/>
          <p:nvPr/>
        </p:nvSpPr>
        <p:spPr>
          <a:xfrm>
            <a:off x="859536" y="4937760"/>
            <a:ext cx="384048" cy="384048"/>
          </a:xfrm>
          <a:prstGeom prst="ellipse">
            <a:avLst/>
          </a:prstGeom>
          <a:solidFill>
            <a:srgbClr val="FF6B35">
              <a:alpha val="18000"/>
            </a:srgbClr>
          </a:solidFill>
          <a:ln w="15240">
            <a:solidFill>
              <a:srgbClr val="FF6B35"/>
            </a:solidFill>
            <a:prstDash val="solid"/>
          </a:ln>
        </p:spPr>
      </p:sp>
      <p:sp>
        <p:nvSpPr>
          <p:cNvPr id="24" name="Text 22"/>
          <p:cNvSpPr txBox="1"/>
          <p:nvPr/>
        </p:nvSpPr>
        <p:spPr>
          <a:xfrm>
            <a:off x="859536" y="4946904"/>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FF6B35"/>
                </a:solidFill>
                <a:latin typeface="Aptos" pitchFamily="34" charset="0"/>
                <a:ea typeface="Aptos" pitchFamily="34" charset="-122"/>
                <a:cs typeface="Aptos" pitchFamily="34" charset="-120"/>
              </a:rPr>
              <a:t>4</a:t>
            </a:r>
            <a:endParaRPr lang="en-US" sz="1500" dirty="0"/>
          </a:p>
        </p:txBody>
      </p:sp>
      <p:sp>
        <p:nvSpPr>
          <p:cNvPr id="25" name="Text 23"/>
          <p:cNvSpPr txBox="1"/>
          <p:nvPr/>
        </p:nvSpPr>
        <p:spPr>
          <a:xfrm>
            <a:off x="1371600" y="4928616"/>
            <a:ext cx="914400" cy="201168"/>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Autonomy</a:t>
            </a:r>
            <a:endParaRPr lang="en-US" sz="1200" dirty="0"/>
          </a:p>
        </p:txBody>
      </p:sp>
      <p:sp>
        <p:nvSpPr>
          <p:cNvPr id="26" name="Text 24"/>
          <p:cNvSpPr txBox="1"/>
          <p:nvPr/>
        </p:nvSpPr>
        <p:spPr>
          <a:xfrm>
            <a:off x="2240280" y="4928616"/>
            <a:ext cx="1508760" cy="201168"/>
          </a:xfrm>
          <a:prstGeom prst="rect">
            <a:avLst/>
          </a:prstGeom>
          <a:noFill/>
          <a:ln/>
        </p:spPr>
        <p:txBody>
          <a:bodyPr wrap="square" lIns="0" tIns="0" rIns="0" bIns="0" rtlCol="0" anchor="ctr">
            <a:normAutofit/>
          </a:bodyPr>
          <a:lstStyle/>
          <a:p>
            <a:pPr algn="l" indent="0" marL="0">
              <a:buNone/>
            </a:pPr>
            <a:r>
              <a:rPr lang="en-US" sz="1100" dirty="0">
                <a:solidFill>
                  <a:srgbClr val="D8E2EF"/>
                </a:solidFill>
                <a:latin typeface="Aptos" pitchFamily="34" charset="0"/>
                <a:ea typeface="Aptos" pitchFamily="34" charset="-122"/>
                <a:cs typeface="Aptos" pitchFamily="34" charset="-120"/>
              </a:rPr>
              <a:t>Act on behalf of users</a:t>
            </a:r>
            <a:endParaRPr lang="en-US" sz="1100" dirty="0"/>
          </a:p>
        </p:txBody>
      </p:sp>
      <p:sp>
        <p:nvSpPr>
          <p:cNvPr id="27" name="Text 25"/>
          <p:cNvSpPr txBox="1"/>
          <p:nvPr/>
        </p:nvSpPr>
        <p:spPr>
          <a:xfrm>
            <a:off x="3721608" y="4928616"/>
            <a:ext cx="1234440" cy="201168"/>
          </a:xfrm>
          <a:prstGeom prst="rect">
            <a:avLst/>
          </a:prstGeom>
          <a:noFill/>
          <a:ln/>
        </p:spPr>
        <p:txBody>
          <a:bodyPr wrap="square" lIns="0" tIns="0" rIns="0" bIns="0" rtlCol="0" anchor="ctr">
            <a:normAutofit/>
          </a:bodyPr>
          <a:lstStyle/>
          <a:p>
            <a:pPr algn="r" indent="0" marL="0">
              <a:buNone/>
            </a:pPr>
            <a:r>
              <a:rPr lang="en-US" sz="1000" dirty="0">
                <a:solidFill>
                  <a:srgbClr val="A9B6C8"/>
                </a:solidFill>
                <a:latin typeface="Aptos" pitchFamily="34" charset="0"/>
                <a:ea typeface="Aptos" pitchFamily="34" charset="-122"/>
                <a:cs typeface="Aptos" pitchFamily="34" charset="-120"/>
              </a:rPr>
              <a:t>trust becomes a prerequisite</a:t>
            </a:r>
            <a:endParaRPr lang="en-US" sz="1000" dirty="0"/>
          </a:p>
        </p:txBody>
      </p:sp>
      <p:sp>
        <p:nvSpPr>
          <p:cNvPr id="28" name="Shape 26"/>
          <p:cNvSpPr/>
          <p:nvPr/>
        </p:nvSpPr>
        <p:spPr>
          <a:xfrm>
            <a:off x="5468112" y="1901952"/>
            <a:ext cx="6144768" cy="3794760"/>
          </a:xfrm>
          <a:prstGeom prst="roundRect">
            <a:avLst>
              <a:gd name="adj" fmla="val 3855"/>
            </a:avLst>
          </a:prstGeom>
          <a:solidFill>
            <a:srgbClr val="162337"/>
          </a:solidFill>
          <a:ln w="12700">
            <a:solidFill>
              <a:srgbClr val="24344E"/>
            </a:solidFill>
            <a:prstDash val="solid"/>
          </a:ln>
          <a:effectLst>
            <a:outerShdw sx="100000" sy="100000" kx="0" ky="0" algn="bl" rotWithShape="0" blurRad="660767388140000000000" dist="330383694070000000000" dir="3.4992e+25">
              <a:srgbClr val="000000">
                <a:alpha val="2.2e+24"/>
              </a:srgbClr>
            </a:outerShdw>
          </a:effectLst>
        </p:spPr>
      </p:sp>
      <p:sp>
        <p:nvSpPr>
          <p:cNvPr id="29" name="Text 27"/>
          <p:cNvSpPr txBox="1"/>
          <p:nvPr/>
        </p:nvSpPr>
        <p:spPr>
          <a:xfrm>
            <a:off x="5742432" y="2148840"/>
            <a:ext cx="3840480" cy="228600"/>
          </a:xfrm>
          <a:prstGeom prst="rect">
            <a:avLst/>
          </a:prstGeom>
          <a:noFill/>
          <a:ln/>
        </p:spPr>
        <p:txBody>
          <a:bodyPr wrap="square" lIns="0" tIns="0" rIns="0" bIns="0" rtlCol="0" anchor="ctr">
            <a:normAutofit/>
          </a:bodyPr>
          <a:lstStyle/>
          <a:p>
            <a:pPr algn="l" indent="0" marL="0">
              <a:buNone/>
            </a:pPr>
            <a:r>
              <a:rPr lang="en-US" sz="900" b="1" spc="120" kern="0" dirty="0">
                <a:solidFill>
                  <a:srgbClr val="3BD6E8"/>
                </a:solidFill>
                <a:latin typeface="Aptos" pitchFamily="34" charset="0"/>
                <a:ea typeface="Aptos" pitchFamily="34" charset="-122"/>
                <a:cs typeface="Aptos" pitchFamily="34" charset="-120"/>
              </a:rPr>
              <a:t>CEREBRAS IS ALREADY POSITIONED AT THE FRONTIER</a:t>
            </a:r>
            <a:endParaRPr lang="en-US" sz="900" dirty="0"/>
          </a:p>
        </p:txBody>
      </p:sp>
      <p:sp>
        <p:nvSpPr>
          <p:cNvPr id="30" name="Text 28"/>
          <p:cNvSpPr txBox="1"/>
          <p:nvPr/>
        </p:nvSpPr>
        <p:spPr>
          <a:xfrm>
            <a:off x="5742432" y="2651760"/>
            <a:ext cx="1188720" cy="594360"/>
          </a:xfrm>
          <a:prstGeom prst="rect">
            <a:avLst/>
          </a:prstGeom>
          <a:noFill/>
          <a:ln/>
        </p:spPr>
        <p:txBody>
          <a:bodyPr wrap="square" lIns="0" tIns="0" rIns="0" bIns="0" rtlCol="0" anchor="ctr">
            <a:normAutofit/>
          </a:bodyPr>
          <a:lstStyle/>
          <a:p>
            <a:pPr algn="l" indent="0" marL="0">
              <a:buNone/>
            </a:pPr>
            <a:r>
              <a:rPr lang="en-US" sz="3100" b="1" dirty="0">
                <a:solidFill>
                  <a:srgbClr val="F5F7FA"/>
                </a:solidFill>
                <a:latin typeface="Aptos" pitchFamily="34" charset="0"/>
                <a:ea typeface="Aptos" pitchFamily="34" charset="-122"/>
                <a:cs typeface="Aptos" pitchFamily="34" charset="-120"/>
              </a:rPr>
              <a:t>CS-4</a:t>
            </a:r>
            <a:endParaRPr lang="en-US" sz="3100" dirty="0"/>
          </a:p>
        </p:txBody>
      </p:sp>
      <p:sp>
        <p:nvSpPr>
          <p:cNvPr id="31" name="Text 29"/>
          <p:cNvSpPr txBox="1"/>
          <p:nvPr/>
        </p:nvSpPr>
        <p:spPr>
          <a:xfrm>
            <a:off x="6858000" y="2788920"/>
            <a:ext cx="3886200" cy="301752"/>
          </a:xfrm>
          <a:prstGeom prst="rect">
            <a:avLst/>
          </a:prstGeom>
          <a:noFill/>
          <a:ln/>
        </p:spPr>
        <p:txBody>
          <a:bodyPr wrap="square" lIns="0" tIns="0" rIns="0" bIns="0" rtlCol="0" anchor="ctr">
            <a:normAutofit/>
          </a:bodyPr>
          <a:lstStyle/>
          <a:p>
            <a:pPr algn="l" indent="0" marL="0">
              <a:buNone/>
            </a:pPr>
            <a:r>
              <a:rPr lang="en-US" sz="1500" b="1" dirty="0">
                <a:solidFill>
                  <a:srgbClr val="D8E2EF"/>
                </a:solidFill>
                <a:latin typeface="Aptos" pitchFamily="34" charset="0"/>
                <a:ea typeface="Aptos" pitchFamily="34" charset="-122"/>
                <a:cs typeface="Aptos" pitchFamily="34" charset="-120"/>
              </a:rPr>
              <a:t>3 × WSE-3 Turbo per rack-scale system</a:t>
            </a:r>
            <a:endParaRPr lang="en-US" sz="1500" dirty="0"/>
          </a:p>
        </p:txBody>
      </p:sp>
      <p:sp>
        <p:nvSpPr>
          <p:cNvPr id="32" name="Text 30"/>
          <p:cNvSpPr txBox="1"/>
          <p:nvPr/>
        </p:nvSpPr>
        <p:spPr>
          <a:xfrm>
            <a:off x="5760720" y="3419856"/>
            <a:ext cx="5212080" cy="566928"/>
          </a:xfrm>
          <a:prstGeom prst="rect">
            <a:avLst/>
          </a:prstGeom>
          <a:noFill/>
          <a:ln/>
        </p:spPr>
        <p:txBody>
          <a:bodyPr wrap="square" lIns="0" tIns="0" rIns="0" bIns="0" rtlCol="0" anchor="ctr">
            <a:normAutofit/>
          </a:bodyPr>
          <a:lstStyle/>
          <a:p>
            <a:pPr algn="l" indent="0" marL="0">
              <a:buNone/>
            </a:pPr>
            <a:r>
              <a:rPr lang="en-US" sz="1400" dirty="0">
                <a:solidFill>
                  <a:srgbClr val="F5F7FA"/>
                </a:solidFill>
                <a:latin typeface="Aptos" pitchFamily="34" charset="0"/>
                <a:ea typeface="Aptos" pitchFamily="34" charset="-122"/>
                <a:cs typeface="Aptos" pitchFamily="34" charset="-120"/>
              </a:rPr>
              <a:t>up to 30× faster inference vs. GPU systems</a:t>
            </a:r>
            <a:endParaRPr lang="en-US" sz="1400" dirty="0"/>
          </a:p>
          <a:p>
            <a:pPr algn="l" indent="0" marL="0">
              <a:buNone/>
            </a:pPr>
            <a:r>
              <a:rPr lang="en-US" sz="1400" dirty="0">
                <a:solidFill>
                  <a:srgbClr val="F5F7FA"/>
                </a:solidFill>
                <a:latin typeface="Aptos" pitchFamily="34" charset="0"/>
                <a:ea typeface="Aptos" pitchFamily="34" charset="-122"/>
                <a:cs typeface="Aptos" pitchFamily="34" charset="-120"/>
              </a:rPr>
              <a:t>up to 10× more throughput per watt than CS-3</a:t>
            </a:r>
            <a:endParaRPr lang="en-US" sz="1400" dirty="0"/>
          </a:p>
        </p:txBody>
      </p:sp>
      <p:sp>
        <p:nvSpPr>
          <p:cNvPr id="33" name="Shape 31"/>
          <p:cNvSpPr/>
          <p:nvPr/>
        </p:nvSpPr>
        <p:spPr>
          <a:xfrm>
            <a:off x="5760720" y="4315968"/>
            <a:ext cx="1078992" cy="274320"/>
          </a:xfrm>
          <a:prstGeom prst="roundRect">
            <a:avLst>
              <a:gd name="adj" fmla="val 50000"/>
            </a:avLst>
          </a:prstGeom>
          <a:solidFill>
            <a:srgbClr val="213046"/>
          </a:solidFill>
          <a:ln w="12700">
            <a:solidFill>
              <a:srgbClr val="FF6B35">
                <a:alpha val="35000"/>
              </a:srgbClr>
            </a:solidFill>
            <a:prstDash val="solid"/>
          </a:ln>
        </p:spPr>
      </p:sp>
      <p:sp>
        <p:nvSpPr>
          <p:cNvPr id="34" name="Text 32"/>
          <p:cNvSpPr txBox="1"/>
          <p:nvPr/>
        </p:nvSpPr>
        <p:spPr>
          <a:xfrm>
            <a:off x="5833872" y="4334256"/>
            <a:ext cx="932688" cy="219456"/>
          </a:xfrm>
          <a:prstGeom prst="rect">
            <a:avLst/>
          </a:prstGeom>
          <a:noFill/>
          <a:ln/>
        </p:spPr>
        <p:txBody>
          <a:bodyPr wrap="square" lIns="0" tIns="0" rIns="0" bIns="0" rtlCol="0" anchor="ctr">
            <a:normAutofit/>
          </a:bodyPr>
          <a:lstStyle/>
          <a:p>
            <a:pPr algn="l" indent="0" marL="0">
              <a:buNone/>
            </a:pPr>
            <a:r>
              <a:rPr lang="en-US" sz="850" b="1" dirty="0">
                <a:solidFill>
                  <a:srgbClr val="FF6B35"/>
                </a:solidFill>
                <a:latin typeface="Aptos" pitchFamily="34" charset="0"/>
                <a:ea typeface="Aptos" pitchFamily="34" charset="-122"/>
                <a:cs typeface="Aptos" pitchFamily="34" charset="-120"/>
              </a:rPr>
              <a:t>Agentic AI</a:t>
            </a:r>
            <a:endParaRPr lang="en-US" sz="850" dirty="0"/>
          </a:p>
        </p:txBody>
      </p:sp>
      <p:sp>
        <p:nvSpPr>
          <p:cNvPr id="35" name="Shape 33"/>
          <p:cNvSpPr/>
          <p:nvPr/>
        </p:nvSpPr>
        <p:spPr>
          <a:xfrm>
            <a:off x="6967728" y="4315968"/>
            <a:ext cx="1051560" cy="274320"/>
          </a:xfrm>
          <a:prstGeom prst="roundRect">
            <a:avLst>
              <a:gd name="adj" fmla="val 50000"/>
            </a:avLst>
          </a:prstGeom>
          <a:solidFill>
            <a:srgbClr val="213046"/>
          </a:solidFill>
          <a:ln w="12700">
            <a:solidFill>
              <a:srgbClr val="3BD6E8">
                <a:alpha val="35000"/>
              </a:srgbClr>
            </a:solidFill>
            <a:prstDash val="solid"/>
          </a:ln>
        </p:spPr>
      </p:sp>
      <p:sp>
        <p:nvSpPr>
          <p:cNvPr id="36" name="Text 34"/>
          <p:cNvSpPr txBox="1"/>
          <p:nvPr/>
        </p:nvSpPr>
        <p:spPr>
          <a:xfrm>
            <a:off x="7040880" y="4334256"/>
            <a:ext cx="905256" cy="219456"/>
          </a:xfrm>
          <a:prstGeom prst="rect">
            <a:avLst/>
          </a:prstGeom>
          <a:noFill/>
          <a:ln/>
        </p:spPr>
        <p:txBody>
          <a:bodyPr wrap="square" lIns="0" tIns="0" rIns="0" bIns="0" rtlCol="0" anchor="ctr">
            <a:normAutofit/>
          </a:bodyPr>
          <a:lstStyle/>
          <a:p>
            <a:pPr algn="l" indent="0" marL="0">
              <a:buNone/>
            </a:pPr>
            <a:r>
              <a:rPr lang="en-US" sz="850" b="1" dirty="0">
                <a:solidFill>
                  <a:srgbClr val="3BD6E8"/>
                </a:solidFill>
                <a:latin typeface="Aptos" pitchFamily="34" charset="0"/>
                <a:ea typeface="Aptos" pitchFamily="34" charset="-122"/>
                <a:cs typeface="Aptos" pitchFamily="34" charset="-120"/>
              </a:rPr>
              <a:t>Hyperscale</a:t>
            </a:r>
            <a:endParaRPr lang="en-US" sz="850" dirty="0"/>
          </a:p>
        </p:txBody>
      </p:sp>
      <p:sp>
        <p:nvSpPr>
          <p:cNvPr id="37" name="Shape 35"/>
          <p:cNvSpPr/>
          <p:nvPr/>
        </p:nvSpPr>
        <p:spPr>
          <a:xfrm>
            <a:off x="8156448" y="4315968"/>
            <a:ext cx="1280160" cy="274320"/>
          </a:xfrm>
          <a:prstGeom prst="roundRect">
            <a:avLst>
              <a:gd name="adj" fmla="val 50000"/>
            </a:avLst>
          </a:prstGeom>
          <a:solidFill>
            <a:srgbClr val="213046"/>
          </a:solidFill>
          <a:ln w="12700">
            <a:solidFill>
              <a:srgbClr val="5FE1A0">
                <a:alpha val="35000"/>
              </a:srgbClr>
            </a:solidFill>
            <a:prstDash val="solid"/>
          </a:ln>
        </p:spPr>
      </p:sp>
      <p:sp>
        <p:nvSpPr>
          <p:cNvPr id="38" name="Text 36"/>
          <p:cNvSpPr txBox="1"/>
          <p:nvPr/>
        </p:nvSpPr>
        <p:spPr>
          <a:xfrm>
            <a:off x="8229600" y="4334256"/>
            <a:ext cx="1133856" cy="219456"/>
          </a:xfrm>
          <a:prstGeom prst="rect">
            <a:avLst/>
          </a:prstGeom>
          <a:noFill/>
          <a:ln/>
        </p:spPr>
        <p:txBody>
          <a:bodyPr wrap="square" lIns="0" tIns="0" rIns="0" bIns="0" rtlCol="0" anchor="ctr">
            <a:normAutofit/>
          </a:bodyPr>
          <a:lstStyle/>
          <a:p>
            <a:pPr algn="l" indent="0" marL="0">
              <a:buNone/>
            </a:pPr>
            <a:r>
              <a:rPr lang="en-US" sz="850" b="1" dirty="0">
                <a:solidFill>
                  <a:srgbClr val="5FE1A0"/>
                </a:solidFill>
                <a:latin typeface="Aptos" pitchFamily="34" charset="0"/>
                <a:ea typeface="Aptos" pitchFamily="34" charset="-122"/>
                <a:cs typeface="Aptos" pitchFamily="34" charset="-120"/>
              </a:rPr>
              <a:t>Sovereign AI</a:t>
            </a:r>
            <a:endParaRPr lang="en-US" sz="850" dirty="0"/>
          </a:p>
        </p:txBody>
      </p:sp>
      <p:sp>
        <p:nvSpPr>
          <p:cNvPr id="39" name="Shape 37"/>
          <p:cNvSpPr/>
          <p:nvPr/>
        </p:nvSpPr>
        <p:spPr>
          <a:xfrm>
            <a:off x="9582912" y="4315968"/>
            <a:ext cx="1207008" cy="274320"/>
          </a:xfrm>
          <a:prstGeom prst="roundRect">
            <a:avLst>
              <a:gd name="adj" fmla="val 50000"/>
            </a:avLst>
          </a:prstGeom>
          <a:solidFill>
            <a:srgbClr val="213046"/>
          </a:solidFill>
          <a:ln w="12700">
            <a:solidFill>
              <a:srgbClr val="FFD166">
                <a:alpha val="35000"/>
              </a:srgbClr>
            </a:solidFill>
            <a:prstDash val="solid"/>
          </a:ln>
        </p:spPr>
      </p:sp>
      <p:sp>
        <p:nvSpPr>
          <p:cNvPr id="40" name="Text 38"/>
          <p:cNvSpPr txBox="1"/>
          <p:nvPr/>
        </p:nvSpPr>
        <p:spPr>
          <a:xfrm>
            <a:off x="9656064" y="4334256"/>
            <a:ext cx="1060704" cy="219456"/>
          </a:xfrm>
          <a:prstGeom prst="rect">
            <a:avLst/>
          </a:prstGeom>
          <a:noFill/>
          <a:ln/>
        </p:spPr>
        <p:txBody>
          <a:bodyPr wrap="square" lIns="0" tIns="0" rIns="0" bIns="0" rtlCol="0" anchor="ctr">
            <a:normAutofit/>
          </a:bodyPr>
          <a:lstStyle/>
          <a:p>
            <a:pPr algn="l" indent="0" marL="0">
              <a:buNone/>
            </a:pPr>
            <a:r>
              <a:rPr lang="en-US" sz="850" b="1" dirty="0">
                <a:solidFill>
                  <a:srgbClr val="FFD166"/>
                </a:solidFill>
                <a:latin typeface="Aptos" pitchFamily="34" charset="0"/>
                <a:ea typeface="Aptos" pitchFamily="34" charset="-122"/>
                <a:cs typeface="Aptos" pitchFamily="34" charset="-120"/>
              </a:rPr>
              <a:t>Regulated data</a:t>
            </a:r>
            <a:endParaRPr lang="en-US" sz="850" dirty="0"/>
          </a:p>
        </p:txBody>
      </p:sp>
      <p:sp>
        <p:nvSpPr>
          <p:cNvPr id="41" name="Text 39"/>
          <p:cNvSpPr txBox="1"/>
          <p:nvPr/>
        </p:nvSpPr>
        <p:spPr>
          <a:xfrm>
            <a:off x="5760720" y="4864608"/>
            <a:ext cx="1417320" cy="201168"/>
          </a:xfrm>
          <a:prstGeom prst="rect">
            <a:avLst/>
          </a:prstGeom>
          <a:noFill/>
          <a:ln/>
        </p:spPr>
        <p:txBody>
          <a:bodyPr wrap="square" lIns="0" tIns="0" rIns="0" bIns="0" rtlCol="0" anchor="ctr">
            <a:normAutofit/>
          </a:bodyPr>
          <a:lstStyle/>
          <a:p>
            <a:pPr algn="l" indent="0" marL="0">
              <a:buNone/>
            </a:pPr>
            <a:r>
              <a:rPr lang="en-US" sz="800" b="1" spc="110" kern="0" dirty="0">
                <a:solidFill>
                  <a:srgbClr val="FF6B35"/>
                </a:solidFill>
                <a:latin typeface="Aptos" pitchFamily="34" charset="0"/>
                <a:ea typeface="Aptos" pitchFamily="34" charset="-122"/>
                <a:cs typeface="Aptos" pitchFamily="34" charset="-120"/>
              </a:rPr>
              <a:t>Strategic implication</a:t>
            </a:r>
            <a:endParaRPr lang="en-US" sz="800" dirty="0"/>
          </a:p>
        </p:txBody>
      </p:sp>
      <p:sp>
        <p:nvSpPr>
          <p:cNvPr id="42" name="Text 40"/>
          <p:cNvSpPr txBox="1"/>
          <p:nvPr/>
        </p:nvSpPr>
        <p:spPr>
          <a:xfrm>
            <a:off x="5760720" y="5138928"/>
            <a:ext cx="5074920" cy="365760"/>
          </a:xfrm>
          <a:prstGeom prst="rect">
            <a:avLst/>
          </a:prstGeom>
          <a:noFill/>
          <a:ln/>
        </p:spPr>
        <p:txBody>
          <a:bodyPr wrap="square" lIns="0" tIns="0" rIns="0" bIns="0" rtlCol="0" anchor="ctr">
            <a:normAutofit/>
          </a:bodyPr>
          <a:lstStyle/>
          <a:p>
            <a:pPr algn="l" indent="0" marL="0">
              <a:buNone/>
            </a:pPr>
            <a:r>
              <a:rPr lang="en-US" sz="1520" b="1" dirty="0">
                <a:solidFill>
                  <a:srgbClr val="F5F7FA"/>
                </a:solidFill>
                <a:latin typeface="Aptos" pitchFamily="34" charset="0"/>
                <a:ea typeface="Aptos" pitchFamily="34" charset="-122"/>
                <a:cs typeface="Aptos" pitchFamily="34" charset="-120"/>
              </a:rPr>
              <a:t>At this scale, security must be designed into the platform — not bolted onto the host.</a:t>
            </a:r>
            <a:endParaRPr lang="en-US" sz="1520" dirty="0"/>
          </a:p>
        </p:txBody>
      </p:sp>
      <p:sp>
        <p:nvSpPr>
          <p:cNvPr id="43" name="Text 41"/>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Source: Cerebras, “Introducing Cerebras CS-4: The Fastest AI Just Got Faster” (Aug 18, 2026).</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3 • THE GAP</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A confidential VM protects the CPU — but the AI workload is larger than the CPU.</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The proposed architecture makes the accelerator part of the cryptographic trust boundary.</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04</a:t>
            </a:r>
            <a:endParaRPr lang="en-US" sz="1000" dirty="0"/>
          </a:p>
        </p:txBody>
      </p:sp>
      <p:sp>
        <p:nvSpPr>
          <p:cNvPr id="6" name="Shape 4"/>
          <p:cNvSpPr/>
          <p:nvPr/>
        </p:nvSpPr>
        <p:spPr>
          <a:xfrm>
            <a:off x="566928" y="1874520"/>
            <a:ext cx="11018520" cy="3886200"/>
          </a:xfrm>
          <a:prstGeom prst="roundRect">
            <a:avLst>
              <a:gd name="adj" fmla="val 3765"/>
            </a:avLst>
          </a:prstGeom>
          <a:solidFill>
            <a:srgbClr val="121C2E"/>
          </a:solidFill>
          <a:ln w="12700">
            <a:solidFill>
              <a:srgbClr val="24344E"/>
            </a:solidFill>
            <a:prstDash val="solid"/>
          </a:ln>
          <a:effectLst>
            <a:outerShdw sx="100000" sy="100000" kx="0" ky="0" algn="bl" rotWithShape="0" blurRad="8.391745829378e+24" dist="4.195872914689e+24" dir="2.09952e+30">
              <a:srgbClr val="000000">
                <a:alpha val="2.2e+29"/>
              </a:srgbClr>
            </a:outerShdw>
          </a:effectLst>
        </p:spPr>
      </p:sp>
      <p:sp>
        <p:nvSpPr>
          <p:cNvPr id="7" name="Text 5"/>
          <p:cNvSpPr txBox="1"/>
          <p:nvPr/>
        </p:nvSpPr>
        <p:spPr>
          <a:xfrm>
            <a:off x="868680" y="2139696"/>
            <a:ext cx="2377440" cy="219456"/>
          </a:xfrm>
          <a:prstGeom prst="rect">
            <a:avLst/>
          </a:prstGeom>
          <a:noFill/>
          <a:ln/>
        </p:spPr>
        <p:txBody>
          <a:bodyPr wrap="square" lIns="0" tIns="0" rIns="0" bIns="0" rtlCol="0" anchor="ctr">
            <a:normAutofit/>
          </a:bodyPr>
          <a:lstStyle/>
          <a:p>
            <a:pPr algn="l" indent="0" marL="0">
              <a:buNone/>
            </a:pPr>
            <a:r>
              <a:rPr lang="en-US" sz="900" b="1" spc="130" kern="0" dirty="0">
                <a:solidFill>
                  <a:srgbClr val="A9B6C8"/>
                </a:solidFill>
                <a:latin typeface="Aptos" pitchFamily="34" charset="0"/>
                <a:ea typeface="Aptos" pitchFamily="34" charset="-122"/>
                <a:cs typeface="Aptos" pitchFamily="34" charset="-120"/>
              </a:rPr>
              <a:t>CURRENT / INTERIM MODEL</a:t>
            </a:r>
            <a:endParaRPr lang="en-US" sz="900" dirty="0"/>
          </a:p>
        </p:txBody>
      </p:sp>
      <p:sp>
        <p:nvSpPr>
          <p:cNvPr id="8" name="Shape 6"/>
          <p:cNvSpPr/>
          <p:nvPr/>
        </p:nvSpPr>
        <p:spPr>
          <a:xfrm>
            <a:off x="914400" y="2651760"/>
            <a:ext cx="2148840" cy="1828800"/>
          </a:xfrm>
          <a:prstGeom prst="roundRect">
            <a:avLst>
              <a:gd name="adj" fmla="val 8000"/>
            </a:avLst>
          </a:prstGeom>
          <a:solidFill>
            <a:srgbClr val="17233A"/>
          </a:solidFill>
          <a:ln w="12700">
            <a:solidFill>
              <a:srgbClr val="3BD6E8"/>
            </a:solidFill>
            <a:prstDash val="solid"/>
          </a:ln>
          <a:effectLst>
            <a:outerShdw sx="100000" sy="100000" kx="0" ky="0" algn="bl" rotWithShape="0" blurRad="1.0657517203310059e+29" dist="5.3287586016550295e+28" dir="1.259712e+35">
              <a:srgbClr val="000000">
                <a:alpha val="2.2e+34"/>
              </a:srgbClr>
            </a:outerShdw>
          </a:effectLst>
        </p:spPr>
      </p:sp>
      <p:sp>
        <p:nvSpPr>
          <p:cNvPr id="9" name="Text 7"/>
          <p:cNvSpPr txBox="1"/>
          <p:nvPr/>
        </p:nvSpPr>
        <p:spPr>
          <a:xfrm>
            <a:off x="1143000" y="2889504"/>
            <a:ext cx="1097280" cy="274320"/>
          </a:xfrm>
          <a:prstGeom prst="rect">
            <a:avLst/>
          </a:prstGeom>
          <a:noFill/>
          <a:ln/>
        </p:spPr>
        <p:txBody>
          <a:bodyPr wrap="square" lIns="0" tIns="0" rIns="0" bIns="0" rtlCol="0" anchor="ctr">
            <a:normAutofit/>
          </a:bodyPr>
          <a:lstStyle/>
          <a:p>
            <a:pPr algn="l" indent="0" marL="0">
              <a:buNone/>
            </a:pPr>
            <a:r>
              <a:rPr lang="en-US" sz="2100" b="1" dirty="0">
                <a:solidFill>
                  <a:srgbClr val="F5F7FA"/>
                </a:solidFill>
                <a:latin typeface="Aptos" pitchFamily="34" charset="0"/>
                <a:ea typeface="Aptos" pitchFamily="34" charset="-122"/>
                <a:cs typeface="Aptos" pitchFamily="34" charset="-120"/>
              </a:rPr>
              <a:t>CPU CVM</a:t>
            </a:r>
            <a:endParaRPr lang="en-US" sz="2100" dirty="0"/>
          </a:p>
        </p:txBody>
      </p:sp>
      <p:sp>
        <p:nvSpPr>
          <p:cNvPr id="10" name="Text 8"/>
          <p:cNvSpPr txBox="1"/>
          <p:nvPr/>
        </p:nvSpPr>
        <p:spPr>
          <a:xfrm>
            <a:off x="1143000" y="3310128"/>
            <a:ext cx="1417320" cy="777240"/>
          </a:xfrm>
          <a:prstGeom prst="rect">
            <a:avLst/>
          </a:prstGeom>
          <a:noFill/>
          <a:ln/>
        </p:spPr>
        <p:txBody>
          <a:bodyPr wrap="square" lIns="0" tIns="0" rIns="0" bIns="0" rtlCol="0" anchor="ctr">
            <a:normAutofit/>
          </a:bodyPr>
          <a:lstStyle/>
          <a:p>
            <a:pPr algn="l" indent="0" marL="0">
              <a:buNone/>
            </a:pPr>
            <a:r>
              <a:rPr lang="en-US" sz="1100" dirty="0">
                <a:solidFill>
                  <a:srgbClr val="D8E2EF"/>
                </a:solidFill>
                <a:latin typeface="Aptos" pitchFamily="34" charset="0"/>
                <a:ea typeface="Aptos" pitchFamily="34" charset="-122"/>
                <a:cs typeface="Aptos" pitchFamily="34" charset="-120"/>
              </a:rPr>
              <a:t>Encrypted VM memory</a:t>
            </a:r>
            <a:endParaRPr lang="en-US" sz="1100" dirty="0"/>
          </a:p>
          <a:p>
            <a:pPr algn="l" indent="0" marL="0">
              <a:buNone/>
            </a:pPr>
            <a:r>
              <a:rPr lang="en-US" sz="1100" dirty="0">
                <a:solidFill>
                  <a:srgbClr val="D8E2EF"/>
                </a:solidFill>
                <a:latin typeface="Aptos" pitchFamily="34" charset="0"/>
                <a:ea typeface="Aptos" pitchFamily="34" charset="-122"/>
                <a:cs typeface="Aptos" pitchFamily="34" charset="-120"/>
              </a:rPr>
              <a:t>Remote attestation</a:t>
            </a:r>
            <a:endParaRPr lang="en-US" sz="1100" dirty="0"/>
          </a:p>
          <a:p>
            <a:pPr algn="l" indent="0" marL="0">
              <a:buNone/>
            </a:pPr>
            <a:r>
              <a:rPr lang="en-US" sz="1100" dirty="0">
                <a:solidFill>
                  <a:srgbClr val="D8E2EF"/>
                </a:solidFill>
                <a:latin typeface="Aptos" pitchFamily="34" charset="0"/>
                <a:ea typeface="Aptos" pitchFamily="34" charset="-122"/>
                <a:cs typeface="Aptos" pitchFamily="34" charset="-120"/>
              </a:rPr>
              <a:t>KMS key release</a:t>
            </a:r>
            <a:endParaRPr lang="en-US" sz="1100" dirty="0"/>
          </a:p>
        </p:txBody>
      </p:sp>
      <p:sp>
        <p:nvSpPr>
          <p:cNvPr id="11" name="Shape 9"/>
          <p:cNvSpPr/>
          <p:nvPr/>
        </p:nvSpPr>
        <p:spPr>
          <a:xfrm>
            <a:off x="3182112" y="3584448"/>
            <a:ext cx="841248" cy="0"/>
          </a:xfrm>
          <a:prstGeom prst="line">
            <a:avLst/>
          </a:prstGeom>
          <a:noFill/>
          <a:ln w="25400">
            <a:solidFill>
              <a:srgbClr val="3BD6E8"/>
            </a:solidFill>
            <a:prstDash val="solid"/>
            <a:headEnd type="none"/>
            <a:tailEnd type="triangle"/>
          </a:ln>
        </p:spPr>
      </p:sp>
      <p:sp>
        <p:nvSpPr>
          <p:cNvPr id="12" name="Shape 10"/>
          <p:cNvSpPr/>
          <p:nvPr/>
        </p:nvSpPr>
        <p:spPr>
          <a:xfrm>
            <a:off x="4133088" y="2651760"/>
            <a:ext cx="2148840" cy="1828800"/>
          </a:xfrm>
          <a:prstGeom prst="roundRect">
            <a:avLst>
              <a:gd name="adj" fmla="val 8000"/>
            </a:avLst>
          </a:prstGeom>
          <a:solidFill>
            <a:srgbClr val="2B2330"/>
          </a:solidFill>
          <a:ln w="12700">
            <a:solidFill>
              <a:srgbClr val="FF6B35"/>
            </a:solidFill>
            <a:prstDash val="solid"/>
          </a:ln>
          <a:effectLst>
            <a:outerShdw sx="100000" sy="100000" kx="0" ky="0" algn="bl" rotWithShape="0" blurRad="1.3535046848203775e+33" dist="6.767523424101888e+32" dir="7.558272e+39">
              <a:srgbClr val="000000">
                <a:alpha val="2.2e+39"/>
              </a:srgbClr>
            </a:outerShdw>
          </a:effectLst>
        </p:spPr>
      </p:sp>
      <p:sp>
        <p:nvSpPr>
          <p:cNvPr id="13" name="Text 11"/>
          <p:cNvSpPr txBox="1"/>
          <p:nvPr/>
        </p:nvSpPr>
        <p:spPr>
          <a:xfrm>
            <a:off x="4370832" y="2889504"/>
            <a:ext cx="1097280" cy="274320"/>
          </a:xfrm>
          <a:prstGeom prst="rect">
            <a:avLst/>
          </a:prstGeom>
          <a:noFill/>
          <a:ln/>
        </p:spPr>
        <p:txBody>
          <a:bodyPr wrap="square" lIns="0" tIns="0" rIns="0" bIns="0" rtlCol="0" anchor="ctr">
            <a:normAutofit/>
          </a:bodyPr>
          <a:lstStyle/>
          <a:p>
            <a:pPr algn="l" indent="0" marL="0">
              <a:buNone/>
            </a:pPr>
            <a:r>
              <a:rPr lang="en-US" sz="2100" b="1" dirty="0">
                <a:solidFill>
                  <a:srgbClr val="F5F7FA"/>
                </a:solidFill>
                <a:latin typeface="Aptos" pitchFamily="34" charset="0"/>
                <a:ea typeface="Aptos" pitchFamily="34" charset="-122"/>
                <a:cs typeface="Aptos" pitchFamily="34" charset="-120"/>
              </a:rPr>
              <a:t>WSE / CS</a:t>
            </a:r>
            <a:endParaRPr lang="en-US" sz="2100" dirty="0"/>
          </a:p>
        </p:txBody>
      </p:sp>
      <p:sp>
        <p:nvSpPr>
          <p:cNvPr id="14" name="Text 12"/>
          <p:cNvSpPr txBox="1"/>
          <p:nvPr/>
        </p:nvSpPr>
        <p:spPr>
          <a:xfrm>
            <a:off x="4370832" y="3310128"/>
            <a:ext cx="1417320" cy="777240"/>
          </a:xfrm>
          <a:prstGeom prst="rect">
            <a:avLst/>
          </a:prstGeom>
          <a:noFill/>
          <a:ln/>
        </p:spPr>
        <p:txBody>
          <a:bodyPr wrap="square" lIns="0" tIns="0" rIns="0" bIns="0" rtlCol="0" anchor="ctr">
            <a:normAutofit/>
          </a:bodyPr>
          <a:lstStyle/>
          <a:p>
            <a:pPr algn="l" indent="0" marL="0">
              <a:buNone/>
            </a:pPr>
            <a:r>
              <a:rPr lang="en-US" sz="1100" dirty="0">
                <a:solidFill>
                  <a:srgbClr val="D8E2EF"/>
                </a:solidFill>
                <a:latin typeface="Aptos" pitchFamily="34" charset="0"/>
                <a:ea typeface="Aptos" pitchFamily="34" charset="-122"/>
                <a:cs typeface="Aptos" pitchFamily="34" charset="-120"/>
              </a:rPr>
              <a:t>Model execution</a:t>
            </a:r>
            <a:endParaRPr lang="en-US" sz="1100" dirty="0"/>
          </a:p>
          <a:p>
            <a:pPr algn="l" indent="0" marL="0">
              <a:buNone/>
            </a:pPr>
            <a:r>
              <a:rPr lang="en-US" sz="1100" dirty="0">
                <a:solidFill>
                  <a:srgbClr val="D8E2EF"/>
                </a:solidFill>
                <a:latin typeface="Aptos" pitchFamily="34" charset="0"/>
                <a:ea typeface="Aptos" pitchFamily="34" charset="-122"/>
                <a:cs typeface="Aptos" pitchFamily="34" charset="-120"/>
              </a:rPr>
              <a:t>SRAM / fabric</a:t>
            </a:r>
            <a:endParaRPr lang="en-US" sz="1100" dirty="0"/>
          </a:p>
          <a:p>
            <a:pPr algn="l" indent="0" marL="0">
              <a:buNone/>
            </a:pPr>
            <a:r>
              <a:rPr lang="en-US" sz="1100" dirty="0">
                <a:solidFill>
                  <a:srgbClr val="D8E2EF"/>
                </a:solidFill>
                <a:latin typeface="Aptos" pitchFamily="34" charset="0"/>
                <a:ea typeface="Aptos" pitchFamily="34" charset="-122"/>
                <a:cs typeface="Aptos" pitchFamily="34" charset="-120"/>
              </a:rPr>
              <a:t>I/O / queues</a:t>
            </a:r>
            <a:endParaRPr lang="en-US" sz="1100" dirty="0"/>
          </a:p>
        </p:txBody>
      </p:sp>
      <p:sp>
        <p:nvSpPr>
          <p:cNvPr id="15" name="Text 13"/>
          <p:cNvSpPr txBox="1"/>
          <p:nvPr/>
        </p:nvSpPr>
        <p:spPr>
          <a:xfrm>
            <a:off x="6355080" y="3246120"/>
            <a:ext cx="320040" cy="502920"/>
          </a:xfrm>
          <a:prstGeom prst="rect">
            <a:avLst/>
          </a:prstGeom>
          <a:noFill/>
          <a:ln/>
        </p:spPr>
        <p:txBody>
          <a:bodyPr wrap="square" lIns="0" tIns="0" rIns="0" bIns="0" rtlCol="0" anchor="ctr">
            <a:normAutofit/>
          </a:bodyPr>
          <a:lstStyle/>
          <a:p>
            <a:pPr algn="ctr" indent="0" marL="0">
              <a:buNone/>
            </a:pPr>
            <a:r>
              <a:rPr lang="en-US" sz="3100" b="1" dirty="0">
                <a:solidFill>
                  <a:srgbClr val="FF6B6B"/>
                </a:solidFill>
                <a:latin typeface="Aptos" pitchFamily="34" charset="0"/>
                <a:ea typeface="Aptos" pitchFamily="34" charset="-122"/>
                <a:cs typeface="Aptos" pitchFamily="34" charset="-120"/>
              </a:rPr>
              <a:t>?</a:t>
            </a:r>
            <a:endParaRPr lang="en-US" sz="3100" dirty="0"/>
          </a:p>
        </p:txBody>
      </p:sp>
      <p:sp>
        <p:nvSpPr>
          <p:cNvPr id="16" name="Text 14"/>
          <p:cNvSpPr txBox="1"/>
          <p:nvPr/>
        </p:nvSpPr>
        <p:spPr>
          <a:xfrm>
            <a:off x="6748272" y="2706624"/>
            <a:ext cx="4251960" cy="1234440"/>
          </a:xfrm>
          <a:prstGeom prst="rect">
            <a:avLst/>
          </a:prstGeom>
          <a:noFill/>
          <a:ln/>
        </p:spPr>
        <p:txBody>
          <a:bodyPr wrap="square" lIns="0" tIns="0" rIns="0" bIns="0" rtlCol="0" anchor="ctr">
            <a:normAutofit/>
          </a:bodyPr>
          <a:lstStyle/>
          <a:p>
            <a:pPr algn="l" indent="0" marL="0">
              <a:buNone/>
            </a:pPr>
            <a:r>
              <a:rPr lang="en-US" sz="1200" dirty="0">
                <a:solidFill>
                  <a:srgbClr val="D8E2EF"/>
                </a:solidFill>
                <a:latin typeface="Aptos" pitchFamily="34" charset="0"/>
                <a:ea typeface="Aptos" pitchFamily="34" charset="-122"/>
                <a:cs typeface="Aptos" pitchFamily="34" charset="-120"/>
              </a:rPr>
              <a:t>Public Cerebras materials emphasize WSE/CS-4 performance and system architecture; they do not publicly establish a WSE-level TEE with remote attestation + protected execution memory.</a:t>
            </a:r>
            <a:endParaRPr lang="en-US" sz="1200" dirty="0"/>
          </a:p>
        </p:txBody>
      </p:sp>
      <p:sp>
        <p:nvSpPr>
          <p:cNvPr id="17" name="Shape 15"/>
          <p:cNvSpPr/>
          <p:nvPr/>
        </p:nvSpPr>
        <p:spPr>
          <a:xfrm>
            <a:off x="6766560" y="4059936"/>
            <a:ext cx="960120" cy="274320"/>
          </a:xfrm>
          <a:prstGeom prst="roundRect">
            <a:avLst>
              <a:gd name="adj" fmla="val 50000"/>
            </a:avLst>
          </a:prstGeom>
          <a:solidFill>
            <a:srgbClr val="213046"/>
          </a:solidFill>
          <a:ln w="12700">
            <a:solidFill>
              <a:srgbClr val="FF6B35">
                <a:alpha val="35000"/>
              </a:srgbClr>
            </a:solidFill>
            <a:prstDash val="solid"/>
          </a:ln>
        </p:spPr>
      </p:sp>
      <p:sp>
        <p:nvSpPr>
          <p:cNvPr id="18" name="Text 16"/>
          <p:cNvSpPr txBox="1"/>
          <p:nvPr/>
        </p:nvSpPr>
        <p:spPr>
          <a:xfrm>
            <a:off x="6839712" y="4078224"/>
            <a:ext cx="813816" cy="219456"/>
          </a:xfrm>
          <a:prstGeom prst="rect">
            <a:avLst/>
          </a:prstGeom>
          <a:noFill/>
          <a:ln/>
        </p:spPr>
        <p:txBody>
          <a:bodyPr wrap="square" lIns="0" tIns="0" rIns="0" bIns="0" rtlCol="0" anchor="ctr">
            <a:normAutofit/>
          </a:bodyPr>
          <a:lstStyle/>
          <a:p>
            <a:pPr algn="l" indent="0" marL="0">
              <a:buNone/>
            </a:pPr>
            <a:r>
              <a:rPr lang="en-US" sz="850" b="1" dirty="0">
                <a:solidFill>
                  <a:srgbClr val="FF6B35"/>
                </a:solidFill>
                <a:latin typeface="Aptos" pitchFamily="34" charset="0"/>
                <a:ea typeface="Aptos" pitchFamily="34" charset="-122"/>
                <a:cs typeface="Aptos" pitchFamily="34" charset="-120"/>
              </a:rPr>
              <a:t>PROPOSAL</a:t>
            </a:r>
            <a:endParaRPr lang="en-US" sz="850" dirty="0"/>
          </a:p>
        </p:txBody>
      </p:sp>
      <p:sp>
        <p:nvSpPr>
          <p:cNvPr id="19" name="Text 17"/>
          <p:cNvSpPr txBox="1"/>
          <p:nvPr/>
        </p:nvSpPr>
        <p:spPr>
          <a:xfrm>
            <a:off x="6766560" y="4462272"/>
            <a:ext cx="4160520" cy="621792"/>
          </a:xfrm>
          <a:prstGeom prst="rect">
            <a:avLst/>
          </a:prstGeom>
          <a:noFill/>
          <a:ln/>
        </p:spPr>
        <p:txBody>
          <a:bodyPr wrap="square" lIns="0" tIns="0" rIns="0" bIns="0" rtlCol="0" anchor="ctr">
            <a:normAutofit/>
          </a:bodyPr>
          <a:lstStyle/>
          <a:p>
            <a:pPr algn="l" indent="0" marL="0">
              <a:buNone/>
            </a:pPr>
            <a:r>
              <a:rPr lang="en-US" sz="1700" b="1" dirty="0">
                <a:solidFill>
                  <a:srgbClr val="F5F7FA"/>
                </a:solidFill>
                <a:latin typeface="Aptos" pitchFamily="34" charset="0"/>
                <a:ea typeface="Aptos" pitchFamily="34" charset="-122"/>
                <a:cs typeface="Aptos" pitchFamily="34" charset="-120"/>
              </a:rPr>
              <a:t>Treat CPU CVM + WSE + model path + policy as one composite confidential workload.</a:t>
            </a:r>
            <a:endParaRPr lang="en-US" sz="1700" dirty="0"/>
          </a:p>
        </p:txBody>
      </p:sp>
      <p:sp>
        <p:nvSpPr>
          <p:cNvPr id="20" name="Text 18"/>
          <p:cNvSpPr txBox="1"/>
          <p:nvPr/>
        </p:nvSpPr>
        <p:spPr>
          <a:xfrm>
            <a:off x="914400" y="5230368"/>
            <a:ext cx="3840480" cy="274320"/>
          </a:xfrm>
          <a:prstGeom prst="rect">
            <a:avLst/>
          </a:prstGeom>
          <a:noFill/>
          <a:ln/>
        </p:spPr>
        <p:txBody>
          <a:bodyPr wrap="square" lIns="0" tIns="0" rIns="0" bIns="0" rtlCol="0" anchor="ctr">
            <a:normAutofit/>
          </a:bodyPr>
          <a:lstStyle/>
          <a:p>
            <a:pPr algn="l" indent="0" marL="0">
              <a:buNone/>
            </a:pPr>
            <a:r>
              <a:rPr lang="en-US" sz="1000" i="1" dirty="0">
                <a:solidFill>
                  <a:srgbClr val="A9B6C8"/>
                </a:solidFill>
                <a:latin typeface="Aptos" pitchFamily="34" charset="0"/>
                <a:ea typeface="Aptos" pitchFamily="34" charset="-122"/>
                <a:cs typeface="Aptos" pitchFamily="34" charset="-120"/>
              </a:rPr>
              <a:t>No claim that this exists today — this deck proposes the architecture.</a:t>
            </a:r>
            <a:endParaRPr lang="en-US" sz="1000" dirty="0"/>
          </a:p>
        </p:txBody>
      </p:sp>
      <p:sp>
        <p:nvSpPr>
          <p:cNvPr id="21" name="Text 19"/>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Sources: Cerebras CS-4 / WSE-3 architecture; Intel TDX; NVIDIA confidential GPU attestation.</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4 • THREAT MODEL</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Define the adversary before defining the TEE.</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C-CCA assumes the infrastructure is potentially hostile while the hardware security boundary remains trusted.</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05</a:t>
            </a:r>
            <a:endParaRPr lang="en-US" sz="1000" dirty="0"/>
          </a:p>
        </p:txBody>
      </p:sp>
      <p:sp>
        <p:nvSpPr>
          <p:cNvPr id="6" name="Text 4"/>
          <p:cNvSpPr txBox="1"/>
          <p:nvPr/>
        </p:nvSpPr>
        <p:spPr>
          <a:xfrm>
            <a:off x="566928" y="1993392"/>
            <a:ext cx="2249424" cy="256032"/>
          </a:xfrm>
          <a:prstGeom prst="rect">
            <a:avLst/>
          </a:prstGeom>
          <a:noFill/>
          <a:ln/>
        </p:spPr>
        <p:txBody>
          <a:bodyPr wrap="square" lIns="0" tIns="0" rIns="0" bIns="0" rtlCol="0" anchor="ctr">
            <a:normAutofit/>
          </a:bodyPr>
          <a:lstStyle/>
          <a:p>
            <a:pPr algn="l" indent="0" marL="0">
              <a:buNone/>
            </a:pPr>
            <a:r>
              <a:rPr lang="en-US" sz="850" b="1" spc="80" kern="0" dirty="0">
                <a:solidFill>
                  <a:srgbClr val="A9B6C8"/>
                </a:solidFill>
                <a:latin typeface="Aptos" pitchFamily="34" charset="0"/>
                <a:ea typeface="Aptos" pitchFamily="34" charset="-122"/>
                <a:cs typeface="Aptos" pitchFamily="34" charset="-120"/>
              </a:rPr>
              <a:t>Adversary</a:t>
            </a:r>
            <a:endParaRPr lang="en-US" sz="850" dirty="0"/>
          </a:p>
        </p:txBody>
      </p:sp>
      <p:sp>
        <p:nvSpPr>
          <p:cNvPr id="7" name="Text 5"/>
          <p:cNvSpPr txBox="1"/>
          <p:nvPr/>
        </p:nvSpPr>
        <p:spPr>
          <a:xfrm>
            <a:off x="2907792" y="1993392"/>
            <a:ext cx="3364992" cy="256032"/>
          </a:xfrm>
          <a:prstGeom prst="rect">
            <a:avLst/>
          </a:prstGeom>
          <a:noFill/>
          <a:ln/>
        </p:spPr>
        <p:txBody>
          <a:bodyPr wrap="square" lIns="0" tIns="0" rIns="0" bIns="0" rtlCol="0" anchor="ctr">
            <a:normAutofit/>
          </a:bodyPr>
          <a:lstStyle/>
          <a:p>
            <a:pPr algn="l" indent="0" marL="0">
              <a:buNone/>
            </a:pPr>
            <a:r>
              <a:rPr lang="en-US" sz="850" b="1" spc="80" kern="0" dirty="0">
                <a:solidFill>
                  <a:srgbClr val="A9B6C8"/>
                </a:solidFill>
                <a:latin typeface="Aptos" pitchFamily="34" charset="0"/>
                <a:ea typeface="Aptos" pitchFamily="34" charset="-122"/>
                <a:cs typeface="Aptos" pitchFamily="34" charset="-120"/>
              </a:rPr>
              <a:t>Attack</a:t>
            </a:r>
            <a:endParaRPr lang="en-US" sz="850" dirty="0"/>
          </a:p>
        </p:txBody>
      </p:sp>
      <p:sp>
        <p:nvSpPr>
          <p:cNvPr id="8" name="Text 6"/>
          <p:cNvSpPr txBox="1"/>
          <p:nvPr/>
        </p:nvSpPr>
        <p:spPr>
          <a:xfrm>
            <a:off x="6428232" y="1993392"/>
            <a:ext cx="1005840" cy="256032"/>
          </a:xfrm>
          <a:prstGeom prst="rect">
            <a:avLst/>
          </a:prstGeom>
          <a:noFill/>
          <a:ln/>
        </p:spPr>
        <p:txBody>
          <a:bodyPr wrap="square" lIns="0" tIns="0" rIns="0" bIns="0" rtlCol="0" anchor="ctr">
            <a:normAutofit/>
          </a:bodyPr>
          <a:lstStyle/>
          <a:p>
            <a:pPr algn="l" indent="0" marL="0">
              <a:buNone/>
            </a:pPr>
            <a:r>
              <a:rPr lang="en-US" sz="850" b="1" spc="80" kern="0" dirty="0">
                <a:solidFill>
                  <a:srgbClr val="A9B6C8"/>
                </a:solidFill>
                <a:latin typeface="Aptos" pitchFamily="34" charset="0"/>
                <a:ea typeface="Aptos" pitchFamily="34" charset="-122"/>
                <a:cs typeface="Aptos" pitchFamily="34" charset="-120"/>
              </a:rPr>
              <a:t>C-CCA</a:t>
            </a:r>
            <a:endParaRPr lang="en-US" sz="850" dirty="0"/>
          </a:p>
        </p:txBody>
      </p:sp>
      <p:sp>
        <p:nvSpPr>
          <p:cNvPr id="9" name="Text 7"/>
          <p:cNvSpPr txBox="1"/>
          <p:nvPr/>
        </p:nvSpPr>
        <p:spPr>
          <a:xfrm>
            <a:off x="7516368" y="1993392"/>
            <a:ext cx="2148840" cy="256032"/>
          </a:xfrm>
          <a:prstGeom prst="rect">
            <a:avLst/>
          </a:prstGeom>
          <a:noFill/>
          <a:ln/>
        </p:spPr>
        <p:txBody>
          <a:bodyPr wrap="square" lIns="0" tIns="0" rIns="0" bIns="0" rtlCol="0" anchor="ctr">
            <a:normAutofit/>
          </a:bodyPr>
          <a:lstStyle/>
          <a:p>
            <a:pPr algn="l" indent="0" marL="0">
              <a:buNone/>
            </a:pPr>
            <a:r>
              <a:rPr lang="en-US" sz="850" b="1" spc="80" kern="0" dirty="0">
                <a:solidFill>
                  <a:srgbClr val="A9B6C8"/>
                </a:solidFill>
                <a:latin typeface="Aptos" pitchFamily="34" charset="0"/>
                <a:ea typeface="Aptos" pitchFamily="34" charset="-122"/>
                <a:cs typeface="Aptos" pitchFamily="34" charset="-120"/>
              </a:rPr>
              <a:t>Primary control</a:t>
            </a:r>
            <a:endParaRPr lang="en-US" sz="850" dirty="0"/>
          </a:p>
        </p:txBody>
      </p:sp>
      <p:sp>
        <p:nvSpPr>
          <p:cNvPr id="10" name="Text 8"/>
          <p:cNvSpPr txBox="1"/>
          <p:nvPr/>
        </p:nvSpPr>
        <p:spPr>
          <a:xfrm>
            <a:off x="9829800" y="1993392"/>
            <a:ext cx="1810512" cy="256032"/>
          </a:xfrm>
          <a:prstGeom prst="rect">
            <a:avLst/>
          </a:prstGeom>
          <a:noFill/>
          <a:ln/>
        </p:spPr>
        <p:txBody>
          <a:bodyPr wrap="square" lIns="0" tIns="0" rIns="0" bIns="0" rtlCol="0" anchor="ctr">
            <a:normAutofit/>
          </a:bodyPr>
          <a:lstStyle/>
          <a:p>
            <a:pPr algn="l" indent="0" marL="0">
              <a:buNone/>
            </a:pPr>
            <a:endParaRPr lang="en-US" sz="850" dirty="0"/>
          </a:p>
        </p:txBody>
      </p:sp>
      <p:sp>
        <p:nvSpPr>
          <p:cNvPr id="11" name="Shape 9"/>
          <p:cNvSpPr/>
          <p:nvPr/>
        </p:nvSpPr>
        <p:spPr>
          <a:xfrm>
            <a:off x="566928" y="2359152"/>
            <a:ext cx="11018520" cy="438912"/>
          </a:xfrm>
          <a:prstGeom prst="roundRect">
            <a:avLst>
              <a:gd name="adj" fmla="val 33333"/>
            </a:avLst>
          </a:prstGeom>
          <a:solidFill>
            <a:srgbClr val="121C2E"/>
          </a:solidFill>
          <a:ln w="12700">
            <a:solidFill>
              <a:srgbClr val="22334B"/>
            </a:solidFill>
            <a:prstDash val="solid"/>
          </a:ln>
          <a:effectLst>
            <a:outerShdw sx="100000" sy="100000" kx="0" ky="0" algn="bl" rotWithShape="0" blurRad="1.7189509497218795e+37" dist="8.594754748609397e+36" dir="4.5349632000000006e+44">
              <a:srgbClr val="000000">
                <a:alpha val="2.2e+44"/>
              </a:srgbClr>
            </a:outerShdw>
          </a:effectLst>
        </p:spPr>
      </p:sp>
      <p:sp>
        <p:nvSpPr>
          <p:cNvPr id="12" name="Text 10"/>
          <p:cNvSpPr txBox="1"/>
          <p:nvPr/>
        </p:nvSpPr>
        <p:spPr>
          <a:xfrm>
            <a:off x="749808" y="2441448"/>
            <a:ext cx="1975104" cy="210312"/>
          </a:xfrm>
          <a:prstGeom prst="rect">
            <a:avLst/>
          </a:prstGeom>
          <a:noFill/>
          <a:ln/>
        </p:spPr>
        <p:txBody>
          <a:bodyPr wrap="square" lIns="0" tIns="0" rIns="0" bIns="0" rtlCol="0" anchor="ctr">
            <a:normAutofit/>
          </a:bodyPr>
          <a:lstStyle/>
          <a:p>
            <a:pPr algn="l" indent="0" marL="0">
              <a:buNone/>
            </a:pPr>
            <a:r>
              <a:rPr lang="en-US" sz="1050" b="1" dirty="0">
                <a:solidFill>
                  <a:srgbClr val="F5F7FA"/>
                </a:solidFill>
                <a:latin typeface="Aptos" pitchFamily="34" charset="0"/>
                <a:ea typeface="Aptos" pitchFamily="34" charset="-122"/>
                <a:cs typeface="Aptos" pitchFamily="34" charset="-120"/>
              </a:rPr>
              <a:t>Cloud / data-center operator</a:t>
            </a:r>
            <a:endParaRPr lang="en-US" sz="1050" dirty="0"/>
          </a:p>
        </p:txBody>
      </p:sp>
      <p:sp>
        <p:nvSpPr>
          <p:cNvPr id="13" name="Text 11"/>
          <p:cNvSpPr txBox="1"/>
          <p:nvPr/>
        </p:nvSpPr>
        <p:spPr>
          <a:xfrm>
            <a:off x="3063240" y="2423160"/>
            <a:ext cx="3044952" cy="246888"/>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Read host memory, inspect workload</a:t>
            </a:r>
            <a:endParaRPr lang="en-US" sz="1000" dirty="0"/>
          </a:p>
        </p:txBody>
      </p:sp>
      <p:sp>
        <p:nvSpPr>
          <p:cNvPr id="14" name="Text 12"/>
          <p:cNvSpPr txBox="1"/>
          <p:nvPr/>
        </p:nvSpPr>
        <p:spPr>
          <a:xfrm>
            <a:off x="6574536" y="2423160"/>
            <a:ext cx="658368" cy="246888"/>
          </a:xfrm>
          <a:prstGeom prst="rect">
            <a:avLst/>
          </a:prstGeom>
          <a:noFill/>
          <a:ln/>
        </p:spPr>
        <p:txBody>
          <a:bodyPr wrap="square" lIns="0" tIns="0" rIns="0" bIns="0" rtlCol="0" anchor="ctr">
            <a:normAutofit/>
          </a:bodyPr>
          <a:lstStyle/>
          <a:p>
            <a:pPr algn="ctr" indent="0" marL="0">
              <a:buNone/>
            </a:pPr>
            <a:r>
              <a:rPr lang="en-US" sz="950" b="1" dirty="0">
                <a:solidFill>
                  <a:srgbClr val="5FE1A0"/>
                </a:solidFill>
                <a:latin typeface="Aptos" pitchFamily="34" charset="0"/>
                <a:ea typeface="Aptos" pitchFamily="34" charset="-122"/>
                <a:cs typeface="Aptos" pitchFamily="34" charset="-120"/>
              </a:rPr>
              <a:t>YES</a:t>
            </a:r>
            <a:endParaRPr lang="en-US" sz="950" dirty="0"/>
          </a:p>
        </p:txBody>
      </p:sp>
      <p:sp>
        <p:nvSpPr>
          <p:cNvPr id="15" name="Text 13"/>
          <p:cNvSpPr txBox="1"/>
          <p:nvPr/>
        </p:nvSpPr>
        <p:spPr>
          <a:xfrm>
            <a:off x="7598664" y="2423160"/>
            <a:ext cx="1938528" cy="256032"/>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CVM + WSE isolation</a:t>
            </a:r>
            <a:endParaRPr lang="en-US" sz="1000" dirty="0"/>
          </a:p>
        </p:txBody>
      </p:sp>
      <p:sp>
        <p:nvSpPr>
          <p:cNvPr id="16" name="Shape 14"/>
          <p:cNvSpPr/>
          <p:nvPr/>
        </p:nvSpPr>
        <p:spPr>
          <a:xfrm>
            <a:off x="566928" y="2889504"/>
            <a:ext cx="11018520" cy="438912"/>
          </a:xfrm>
          <a:prstGeom prst="roundRect">
            <a:avLst>
              <a:gd name="adj" fmla="val 33333"/>
            </a:avLst>
          </a:prstGeom>
          <a:solidFill>
            <a:srgbClr val="162337"/>
          </a:solidFill>
          <a:ln w="12700">
            <a:solidFill>
              <a:srgbClr val="22334B"/>
            </a:solidFill>
            <a:prstDash val="solid"/>
          </a:ln>
          <a:effectLst>
            <a:outerShdw sx="100000" sy="100000" kx="0" ky="0" algn="bl" rotWithShape="0" blurRad="2.183067706146787e+41" dist="1.0915338530733935e+41" dir="2.72097792e+49">
              <a:srgbClr val="000000">
                <a:alpha val="2.2e+49"/>
              </a:srgbClr>
            </a:outerShdw>
          </a:effectLst>
        </p:spPr>
      </p:sp>
      <p:sp>
        <p:nvSpPr>
          <p:cNvPr id="17" name="Text 15"/>
          <p:cNvSpPr txBox="1"/>
          <p:nvPr/>
        </p:nvSpPr>
        <p:spPr>
          <a:xfrm>
            <a:off x="749808" y="2971800"/>
            <a:ext cx="1975104" cy="210312"/>
          </a:xfrm>
          <a:prstGeom prst="rect">
            <a:avLst/>
          </a:prstGeom>
          <a:noFill/>
          <a:ln/>
        </p:spPr>
        <p:txBody>
          <a:bodyPr wrap="square" lIns="0" tIns="0" rIns="0" bIns="0" rtlCol="0" anchor="ctr">
            <a:normAutofit/>
          </a:bodyPr>
          <a:lstStyle/>
          <a:p>
            <a:pPr algn="l" indent="0" marL="0">
              <a:buNone/>
            </a:pPr>
            <a:r>
              <a:rPr lang="en-US" sz="1050" b="1" dirty="0">
                <a:solidFill>
                  <a:srgbClr val="F5F7FA"/>
                </a:solidFill>
                <a:latin typeface="Aptos" pitchFamily="34" charset="0"/>
                <a:ea typeface="Aptos" pitchFamily="34" charset="-122"/>
                <a:cs typeface="Aptos" pitchFamily="34" charset="-120"/>
              </a:rPr>
              <a:t>Hypervisor / host OS</a:t>
            </a:r>
            <a:endParaRPr lang="en-US" sz="1050" dirty="0"/>
          </a:p>
        </p:txBody>
      </p:sp>
      <p:sp>
        <p:nvSpPr>
          <p:cNvPr id="18" name="Text 16"/>
          <p:cNvSpPr txBox="1"/>
          <p:nvPr/>
        </p:nvSpPr>
        <p:spPr>
          <a:xfrm>
            <a:off x="3063240" y="2953512"/>
            <a:ext cx="3044952" cy="246888"/>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DMA, memory inspection, control-plane access</a:t>
            </a:r>
            <a:endParaRPr lang="en-US" sz="1000" dirty="0"/>
          </a:p>
        </p:txBody>
      </p:sp>
      <p:sp>
        <p:nvSpPr>
          <p:cNvPr id="19" name="Text 17"/>
          <p:cNvSpPr txBox="1"/>
          <p:nvPr/>
        </p:nvSpPr>
        <p:spPr>
          <a:xfrm>
            <a:off x="6574536" y="2953512"/>
            <a:ext cx="658368" cy="246888"/>
          </a:xfrm>
          <a:prstGeom prst="rect">
            <a:avLst/>
          </a:prstGeom>
          <a:noFill/>
          <a:ln/>
        </p:spPr>
        <p:txBody>
          <a:bodyPr wrap="square" lIns="0" tIns="0" rIns="0" bIns="0" rtlCol="0" anchor="ctr">
            <a:normAutofit/>
          </a:bodyPr>
          <a:lstStyle/>
          <a:p>
            <a:pPr algn="ctr" indent="0" marL="0">
              <a:buNone/>
            </a:pPr>
            <a:r>
              <a:rPr lang="en-US" sz="950" b="1" dirty="0">
                <a:solidFill>
                  <a:srgbClr val="5FE1A0"/>
                </a:solidFill>
                <a:latin typeface="Aptos" pitchFamily="34" charset="0"/>
                <a:ea typeface="Aptos" pitchFamily="34" charset="-122"/>
                <a:cs typeface="Aptos" pitchFamily="34" charset="-120"/>
              </a:rPr>
              <a:t>YES</a:t>
            </a:r>
            <a:endParaRPr lang="en-US" sz="950" dirty="0"/>
          </a:p>
        </p:txBody>
      </p:sp>
      <p:sp>
        <p:nvSpPr>
          <p:cNvPr id="20" name="Text 18"/>
          <p:cNvSpPr txBox="1"/>
          <p:nvPr/>
        </p:nvSpPr>
        <p:spPr>
          <a:xfrm>
            <a:off x="7598664" y="2953512"/>
            <a:ext cx="1938528" cy="256032"/>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Encrypted private memory + I/O controls</a:t>
            </a:r>
            <a:endParaRPr lang="en-US" sz="1000" dirty="0"/>
          </a:p>
        </p:txBody>
      </p:sp>
      <p:sp>
        <p:nvSpPr>
          <p:cNvPr id="21" name="Shape 19"/>
          <p:cNvSpPr/>
          <p:nvPr/>
        </p:nvSpPr>
        <p:spPr>
          <a:xfrm>
            <a:off x="566928" y="3419856"/>
            <a:ext cx="11018520" cy="438912"/>
          </a:xfrm>
          <a:prstGeom prst="roundRect">
            <a:avLst>
              <a:gd name="adj" fmla="val 33333"/>
            </a:avLst>
          </a:prstGeom>
          <a:solidFill>
            <a:srgbClr val="121C2E"/>
          </a:solidFill>
          <a:ln w="12700">
            <a:solidFill>
              <a:srgbClr val="22334B"/>
            </a:solidFill>
            <a:prstDash val="solid"/>
          </a:ln>
          <a:effectLst>
            <a:outerShdw sx="100000" sy="100000" kx="0" ky="0" algn="bl" rotWithShape="0" blurRad="2.7724959868064195e+45" dist="1.3862479934032098e+45" dir="1.6325867520000003e+54">
              <a:srgbClr val="000000">
                <a:alpha val="2.2e+54"/>
              </a:srgbClr>
            </a:outerShdw>
          </a:effectLst>
        </p:spPr>
      </p:sp>
      <p:sp>
        <p:nvSpPr>
          <p:cNvPr id="22" name="Text 20"/>
          <p:cNvSpPr txBox="1"/>
          <p:nvPr/>
        </p:nvSpPr>
        <p:spPr>
          <a:xfrm>
            <a:off x="749808" y="3502152"/>
            <a:ext cx="1975104" cy="210312"/>
          </a:xfrm>
          <a:prstGeom prst="rect">
            <a:avLst/>
          </a:prstGeom>
          <a:noFill/>
          <a:ln/>
        </p:spPr>
        <p:txBody>
          <a:bodyPr wrap="square" lIns="0" tIns="0" rIns="0" bIns="0" rtlCol="0" anchor="ctr">
            <a:normAutofit/>
          </a:bodyPr>
          <a:lstStyle/>
          <a:p>
            <a:pPr algn="l" indent="0" marL="0">
              <a:buNone/>
            </a:pPr>
            <a:r>
              <a:rPr lang="en-US" sz="1050" b="1" dirty="0">
                <a:solidFill>
                  <a:srgbClr val="F5F7FA"/>
                </a:solidFill>
                <a:latin typeface="Aptos" pitchFamily="34" charset="0"/>
                <a:ea typeface="Aptos" pitchFamily="34" charset="-122"/>
                <a:cs typeface="Aptos" pitchFamily="34" charset="-120"/>
              </a:rPr>
              <a:t>Unauthorized firmware / debug</a:t>
            </a:r>
            <a:endParaRPr lang="en-US" sz="1050" dirty="0"/>
          </a:p>
        </p:txBody>
      </p:sp>
      <p:sp>
        <p:nvSpPr>
          <p:cNvPr id="23" name="Text 21"/>
          <p:cNvSpPr txBox="1"/>
          <p:nvPr/>
        </p:nvSpPr>
        <p:spPr>
          <a:xfrm>
            <a:off x="3063240" y="3483864"/>
            <a:ext cx="3044952" cy="246888"/>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Load altered firmware, inspect state</a:t>
            </a:r>
            <a:endParaRPr lang="en-US" sz="1000" dirty="0"/>
          </a:p>
        </p:txBody>
      </p:sp>
      <p:sp>
        <p:nvSpPr>
          <p:cNvPr id="24" name="Text 22"/>
          <p:cNvSpPr txBox="1"/>
          <p:nvPr/>
        </p:nvSpPr>
        <p:spPr>
          <a:xfrm>
            <a:off x="6574536" y="3483864"/>
            <a:ext cx="658368" cy="246888"/>
          </a:xfrm>
          <a:prstGeom prst="rect">
            <a:avLst/>
          </a:prstGeom>
          <a:noFill/>
          <a:ln/>
        </p:spPr>
        <p:txBody>
          <a:bodyPr wrap="square" lIns="0" tIns="0" rIns="0" bIns="0" rtlCol="0" anchor="ctr">
            <a:normAutofit/>
          </a:bodyPr>
          <a:lstStyle/>
          <a:p>
            <a:pPr algn="ctr" indent="0" marL="0">
              <a:buNone/>
            </a:pPr>
            <a:r>
              <a:rPr lang="en-US" sz="950" b="1" dirty="0">
                <a:solidFill>
                  <a:srgbClr val="5FE1A0"/>
                </a:solidFill>
                <a:latin typeface="Aptos" pitchFamily="34" charset="0"/>
                <a:ea typeface="Aptos" pitchFamily="34" charset="-122"/>
                <a:cs typeface="Aptos" pitchFamily="34" charset="-120"/>
              </a:rPr>
              <a:t>YES</a:t>
            </a:r>
            <a:endParaRPr lang="en-US" sz="950" dirty="0"/>
          </a:p>
        </p:txBody>
      </p:sp>
      <p:sp>
        <p:nvSpPr>
          <p:cNvPr id="25" name="Text 23"/>
          <p:cNvSpPr txBox="1"/>
          <p:nvPr/>
        </p:nvSpPr>
        <p:spPr>
          <a:xfrm>
            <a:off x="7598664" y="3483864"/>
            <a:ext cx="1938528" cy="256032"/>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Secure boot + measured boot + gated debug</a:t>
            </a:r>
            <a:endParaRPr lang="en-US" sz="1000" dirty="0"/>
          </a:p>
        </p:txBody>
      </p:sp>
      <p:sp>
        <p:nvSpPr>
          <p:cNvPr id="26" name="Shape 24"/>
          <p:cNvSpPr/>
          <p:nvPr/>
        </p:nvSpPr>
        <p:spPr>
          <a:xfrm>
            <a:off x="566928" y="3950208"/>
            <a:ext cx="11018520" cy="438912"/>
          </a:xfrm>
          <a:prstGeom prst="roundRect">
            <a:avLst>
              <a:gd name="adj" fmla="val 33333"/>
            </a:avLst>
          </a:prstGeom>
          <a:solidFill>
            <a:srgbClr val="162337"/>
          </a:solidFill>
          <a:ln w="12700">
            <a:solidFill>
              <a:srgbClr val="22334B"/>
            </a:solidFill>
            <a:prstDash val="solid"/>
          </a:ln>
          <a:effectLst>
            <a:outerShdw sx="100000" sy="100000" kx="0" ky="0" algn="bl" rotWithShape="0" blurRad="3.5210699032441527e+49" dist="1.7605349516220764e+49" dir="9.795520512000002e+58">
              <a:srgbClr val="000000">
                <a:alpha val="2.2e+59"/>
              </a:srgbClr>
            </a:outerShdw>
          </a:effectLst>
        </p:spPr>
      </p:sp>
      <p:sp>
        <p:nvSpPr>
          <p:cNvPr id="27" name="Text 25"/>
          <p:cNvSpPr txBox="1"/>
          <p:nvPr/>
        </p:nvSpPr>
        <p:spPr>
          <a:xfrm>
            <a:off x="749808" y="4032504"/>
            <a:ext cx="1975104" cy="210312"/>
          </a:xfrm>
          <a:prstGeom prst="rect">
            <a:avLst/>
          </a:prstGeom>
          <a:noFill/>
          <a:ln/>
        </p:spPr>
        <p:txBody>
          <a:bodyPr wrap="square" lIns="0" tIns="0" rIns="0" bIns="0" rtlCol="0" anchor="ctr">
            <a:normAutofit/>
          </a:bodyPr>
          <a:lstStyle/>
          <a:p>
            <a:pPr algn="l" indent="0" marL="0">
              <a:buNone/>
            </a:pPr>
            <a:r>
              <a:rPr lang="en-US" sz="1050" b="1" dirty="0">
                <a:solidFill>
                  <a:srgbClr val="F5F7FA"/>
                </a:solidFill>
                <a:latin typeface="Aptos" pitchFamily="34" charset="0"/>
                <a:ea typeface="Aptos" pitchFamily="34" charset="-122"/>
                <a:cs typeface="Aptos" pitchFamily="34" charset="-120"/>
              </a:rPr>
              <a:t>Cross-tenant accelerator access</a:t>
            </a:r>
            <a:endParaRPr lang="en-US" sz="1050" dirty="0"/>
          </a:p>
        </p:txBody>
      </p:sp>
      <p:sp>
        <p:nvSpPr>
          <p:cNvPr id="28" name="Text 26"/>
          <p:cNvSpPr txBox="1"/>
          <p:nvPr/>
        </p:nvSpPr>
        <p:spPr>
          <a:xfrm>
            <a:off x="3063240" y="4014216"/>
            <a:ext cx="3044952" cy="246888"/>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Read another domain’s SRAM/fabric traffic</a:t>
            </a:r>
            <a:endParaRPr lang="en-US" sz="1000" dirty="0"/>
          </a:p>
        </p:txBody>
      </p:sp>
      <p:sp>
        <p:nvSpPr>
          <p:cNvPr id="29" name="Text 27"/>
          <p:cNvSpPr txBox="1"/>
          <p:nvPr/>
        </p:nvSpPr>
        <p:spPr>
          <a:xfrm>
            <a:off x="6574536" y="4014216"/>
            <a:ext cx="658368" cy="246888"/>
          </a:xfrm>
          <a:prstGeom prst="rect">
            <a:avLst/>
          </a:prstGeom>
          <a:noFill/>
          <a:ln/>
        </p:spPr>
        <p:txBody>
          <a:bodyPr wrap="square" lIns="0" tIns="0" rIns="0" bIns="0" rtlCol="0" anchor="ctr">
            <a:normAutofit/>
          </a:bodyPr>
          <a:lstStyle/>
          <a:p>
            <a:pPr algn="ctr" indent="0" marL="0">
              <a:buNone/>
            </a:pPr>
            <a:r>
              <a:rPr lang="en-US" sz="950" b="1" dirty="0">
                <a:solidFill>
                  <a:srgbClr val="5FE1A0"/>
                </a:solidFill>
                <a:latin typeface="Aptos" pitchFamily="34" charset="0"/>
                <a:ea typeface="Aptos" pitchFamily="34" charset="-122"/>
                <a:cs typeface="Aptos" pitchFamily="34" charset="-120"/>
              </a:rPr>
              <a:t>YES</a:t>
            </a:r>
            <a:endParaRPr lang="en-US" sz="950" dirty="0"/>
          </a:p>
        </p:txBody>
      </p:sp>
      <p:sp>
        <p:nvSpPr>
          <p:cNvPr id="30" name="Text 28"/>
          <p:cNvSpPr txBox="1"/>
          <p:nvPr/>
        </p:nvSpPr>
        <p:spPr>
          <a:xfrm>
            <a:off x="7598664" y="4014216"/>
            <a:ext cx="1938528" cy="256032"/>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Domain IDs + fabric ACL + protected DMA</a:t>
            </a:r>
            <a:endParaRPr lang="en-US" sz="1000" dirty="0"/>
          </a:p>
        </p:txBody>
      </p:sp>
      <p:sp>
        <p:nvSpPr>
          <p:cNvPr id="31" name="Shape 29"/>
          <p:cNvSpPr/>
          <p:nvPr/>
        </p:nvSpPr>
        <p:spPr>
          <a:xfrm>
            <a:off x="566928" y="4480560"/>
            <a:ext cx="11018520" cy="438912"/>
          </a:xfrm>
          <a:prstGeom prst="roundRect">
            <a:avLst>
              <a:gd name="adj" fmla="val 33333"/>
            </a:avLst>
          </a:prstGeom>
          <a:solidFill>
            <a:srgbClr val="121C2E"/>
          </a:solidFill>
          <a:ln w="12700">
            <a:solidFill>
              <a:srgbClr val="22334B"/>
            </a:solidFill>
            <a:prstDash val="solid"/>
          </a:ln>
          <a:effectLst>
            <a:outerShdw sx="100000" sy="100000" kx="0" ky="0" algn="bl" rotWithShape="0" blurRad="4.471758777120074e+53" dist="2.235879388560037e+53" dir="5.877312307200001e+63">
              <a:srgbClr val="000000">
                <a:alpha val="2.2e+64"/>
              </a:srgbClr>
            </a:outerShdw>
          </a:effectLst>
        </p:spPr>
      </p:sp>
      <p:sp>
        <p:nvSpPr>
          <p:cNvPr id="32" name="Text 30"/>
          <p:cNvSpPr txBox="1"/>
          <p:nvPr/>
        </p:nvSpPr>
        <p:spPr>
          <a:xfrm>
            <a:off x="749808" y="4562856"/>
            <a:ext cx="1975104" cy="210312"/>
          </a:xfrm>
          <a:prstGeom prst="rect">
            <a:avLst/>
          </a:prstGeom>
          <a:noFill/>
          <a:ln/>
        </p:spPr>
        <p:txBody>
          <a:bodyPr wrap="square" lIns="0" tIns="0" rIns="0" bIns="0" rtlCol="0" anchor="ctr">
            <a:normAutofit/>
          </a:bodyPr>
          <a:lstStyle/>
          <a:p>
            <a:pPr algn="l" indent="0" marL="0">
              <a:buNone/>
            </a:pPr>
            <a:r>
              <a:rPr lang="en-US" sz="1050" b="1" dirty="0">
                <a:solidFill>
                  <a:srgbClr val="F5F7FA"/>
                </a:solidFill>
                <a:latin typeface="Aptos" pitchFamily="34" charset="0"/>
                <a:ea typeface="Aptos" pitchFamily="34" charset="-122"/>
                <a:cs typeface="Aptos" pitchFamily="34" charset="-120"/>
              </a:rPr>
              <a:t>Replay / rollback</a:t>
            </a:r>
            <a:endParaRPr lang="en-US" sz="1050" dirty="0"/>
          </a:p>
        </p:txBody>
      </p:sp>
      <p:sp>
        <p:nvSpPr>
          <p:cNvPr id="33" name="Text 31"/>
          <p:cNvSpPr txBox="1"/>
          <p:nvPr/>
        </p:nvSpPr>
        <p:spPr>
          <a:xfrm>
            <a:off x="3063240" y="4544568"/>
            <a:ext cx="3044952" cy="246888"/>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Restore stale state / keys</a:t>
            </a:r>
            <a:endParaRPr lang="en-US" sz="1000" dirty="0"/>
          </a:p>
        </p:txBody>
      </p:sp>
      <p:sp>
        <p:nvSpPr>
          <p:cNvPr id="34" name="Text 32"/>
          <p:cNvSpPr txBox="1"/>
          <p:nvPr/>
        </p:nvSpPr>
        <p:spPr>
          <a:xfrm>
            <a:off x="6574536" y="4544568"/>
            <a:ext cx="658368" cy="246888"/>
          </a:xfrm>
          <a:prstGeom prst="rect">
            <a:avLst/>
          </a:prstGeom>
          <a:noFill/>
          <a:ln/>
        </p:spPr>
        <p:txBody>
          <a:bodyPr wrap="square" lIns="0" tIns="0" rIns="0" bIns="0" rtlCol="0" anchor="ctr">
            <a:normAutofit/>
          </a:bodyPr>
          <a:lstStyle/>
          <a:p>
            <a:pPr algn="ctr" indent="0" marL="0">
              <a:buNone/>
            </a:pPr>
            <a:r>
              <a:rPr lang="en-US" sz="950" b="1" dirty="0">
                <a:solidFill>
                  <a:srgbClr val="5FE1A0"/>
                </a:solidFill>
                <a:latin typeface="Aptos" pitchFamily="34" charset="0"/>
                <a:ea typeface="Aptos" pitchFamily="34" charset="-122"/>
                <a:cs typeface="Aptos" pitchFamily="34" charset="-120"/>
              </a:rPr>
              <a:t>YES</a:t>
            </a:r>
            <a:endParaRPr lang="en-US" sz="950" dirty="0"/>
          </a:p>
        </p:txBody>
      </p:sp>
      <p:sp>
        <p:nvSpPr>
          <p:cNvPr id="35" name="Text 33"/>
          <p:cNvSpPr txBox="1"/>
          <p:nvPr/>
        </p:nvSpPr>
        <p:spPr>
          <a:xfrm>
            <a:off x="7598664" y="4544568"/>
            <a:ext cx="1938528" cy="256032"/>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Counters / freshness + sealed state policy</a:t>
            </a:r>
            <a:endParaRPr lang="en-US" sz="1000" dirty="0"/>
          </a:p>
        </p:txBody>
      </p:sp>
      <p:sp>
        <p:nvSpPr>
          <p:cNvPr id="36" name="Shape 34"/>
          <p:cNvSpPr/>
          <p:nvPr/>
        </p:nvSpPr>
        <p:spPr>
          <a:xfrm>
            <a:off x="566928" y="5010912"/>
            <a:ext cx="11018520" cy="438912"/>
          </a:xfrm>
          <a:prstGeom prst="roundRect">
            <a:avLst>
              <a:gd name="adj" fmla="val 33333"/>
            </a:avLst>
          </a:prstGeom>
          <a:solidFill>
            <a:srgbClr val="162337"/>
          </a:solidFill>
          <a:ln w="12700">
            <a:solidFill>
              <a:srgbClr val="22334B"/>
            </a:solidFill>
            <a:prstDash val="solid"/>
          </a:ln>
          <a:effectLst>
            <a:outerShdw sx="100000" sy="100000" kx="0" ky="0" algn="bl" rotWithShape="0" blurRad="5.679133646942494e+57" dist="2.839566823471247e+57" dir="3.526387384320001e+68">
              <a:srgbClr val="000000">
                <a:alpha val="2.2e+69"/>
              </a:srgbClr>
            </a:outerShdw>
          </a:effectLst>
        </p:spPr>
      </p:sp>
      <p:sp>
        <p:nvSpPr>
          <p:cNvPr id="37" name="Text 35"/>
          <p:cNvSpPr txBox="1"/>
          <p:nvPr/>
        </p:nvSpPr>
        <p:spPr>
          <a:xfrm>
            <a:off x="749808" y="5093208"/>
            <a:ext cx="1975104" cy="210312"/>
          </a:xfrm>
          <a:prstGeom prst="rect">
            <a:avLst/>
          </a:prstGeom>
          <a:noFill/>
          <a:ln/>
        </p:spPr>
        <p:txBody>
          <a:bodyPr wrap="square" lIns="0" tIns="0" rIns="0" bIns="0" rtlCol="0" anchor="ctr">
            <a:normAutofit/>
          </a:bodyPr>
          <a:lstStyle/>
          <a:p>
            <a:pPr algn="l" indent="0" marL="0">
              <a:buNone/>
            </a:pPr>
            <a:r>
              <a:rPr lang="en-US" sz="1050" b="1" dirty="0">
                <a:solidFill>
                  <a:srgbClr val="F5F7FA"/>
                </a:solidFill>
                <a:latin typeface="Aptos" pitchFamily="34" charset="0"/>
                <a:ea typeface="Aptos" pitchFamily="34" charset="-122"/>
                <a:cs typeface="Aptos" pitchFamily="34" charset="-120"/>
              </a:rPr>
              <a:t>Advanced physical side channels</a:t>
            </a:r>
            <a:endParaRPr lang="en-US" sz="1050" dirty="0"/>
          </a:p>
        </p:txBody>
      </p:sp>
      <p:sp>
        <p:nvSpPr>
          <p:cNvPr id="38" name="Text 36"/>
          <p:cNvSpPr txBox="1"/>
          <p:nvPr/>
        </p:nvSpPr>
        <p:spPr>
          <a:xfrm>
            <a:off x="3063240" y="5074920"/>
            <a:ext cx="3044952" cy="246888"/>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Power / EM / invasive probing</a:t>
            </a:r>
            <a:endParaRPr lang="en-US" sz="1000" dirty="0"/>
          </a:p>
        </p:txBody>
      </p:sp>
      <p:sp>
        <p:nvSpPr>
          <p:cNvPr id="39" name="Text 37"/>
          <p:cNvSpPr txBox="1"/>
          <p:nvPr/>
        </p:nvSpPr>
        <p:spPr>
          <a:xfrm>
            <a:off x="6574536" y="5074920"/>
            <a:ext cx="658368" cy="246888"/>
          </a:xfrm>
          <a:prstGeom prst="rect">
            <a:avLst/>
          </a:prstGeom>
          <a:noFill/>
          <a:ln/>
        </p:spPr>
        <p:txBody>
          <a:bodyPr wrap="square" lIns="0" tIns="0" rIns="0" bIns="0" rtlCol="0" anchor="ctr">
            <a:normAutofit/>
          </a:bodyPr>
          <a:lstStyle/>
          <a:p>
            <a:pPr algn="ctr" indent="0" marL="0">
              <a:buNone/>
            </a:pPr>
            <a:r>
              <a:rPr lang="en-US" sz="950" b="1" dirty="0">
                <a:solidFill>
                  <a:srgbClr val="FFD166"/>
                </a:solidFill>
                <a:latin typeface="Aptos" pitchFamily="34" charset="0"/>
                <a:ea typeface="Aptos" pitchFamily="34" charset="-122"/>
                <a:cs typeface="Aptos" pitchFamily="34" charset="-120"/>
              </a:rPr>
              <a:t>PARTIAL*</a:t>
            </a:r>
            <a:endParaRPr lang="en-US" sz="950" dirty="0"/>
          </a:p>
        </p:txBody>
      </p:sp>
      <p:sp>
        <p:nvSpPr>
          <p:cNvPr id="40" name="Text 38"/>
          <p:cNvSpPr txBox="1"/>
          <p:nvPr/>
        </p:nvSpPr>
        <p:spPr>
          <a:xfrm>
            <a:off x="7598664" y="5074920"/>
            <a:ext cx="1938528" cy="256032"/>
          </a:xfrm>
          <a:prstGeom prst="rect">
            <a:avLst/>
          </a:prstGeom>
          <a:noFill/>
          <a:ln/>
        </p:spPr>
        <p:txBody>
          <a:bodyPr wrap="square" lIns="0" tIns="0" rIns="0" bIns="0" rtlCol="0" anchor="ctr">
            <a:normAutofit/>
          </a:bodyPr>
          <a:lstStyle/>
          <a:p>
            <a:pPr algn="l" indent="0" marL="0">
              <a:buNone/>
            </a:pPr>
            <a:r>
              <a:rPr lang="en-US" sz="1000" dirty="0">
                <a:solidFill>
                  <a:srgbClr val="D8E2EF"/>
                </a:solidFill>
                <a:latin typeface="Aptos" pitchFamily="34" charset="0"/>
                <a:ea typeface="Aptos" pitchFamily="34" charset="-122"/>
                <a:cs typeface="Aptos" pitchFamily="34" charset="-120"/>
              </a:rPr>
              <a:t>High-assurance mode / packaging research</a:t>
            </a:r>
            <a:endParaRPr lang="en-US" sz="1000" dirty="0"/>
          </a:p>
        </p:txBody>
      </p:sp>
      <p:sp>
        <p:nvSpPr>
          <p:cNvPr id="41" name="Text 39"/>
          <p:cNvSpPr txBox="1"/>
          <p:nvPr/>
        </p:nvSpPr>
        <p:spPr>
          <a:xfrm>
            <a:off x="658368" y="5742432"/>
            <a:ext cx="10332720" cy="256032"/>
          </a:xfrm>
          <a:prstGeom prst="rect">
            <a:avLst/>
          </a:prstGeom>
          <a:noFill/>
          <a:ln/>
        </p:spPr>
        <p:txBody>
          <a:bodyPr wrap="square" lIns="0" tIns="0" rIns="0" bIns="0" rtlCol="0" anchor="ctr">
            <a:normAutofit/>
          </a:bodyPr>
          <a:lstStyle/>
          <a:p>
            <a:pPr algn="l" indent="0" marL="0">
              <a:buNone/>
            </a:pPr>
            <a:r>
              <a:rPr lang="en-US" sz="940" i="1" dirty="0">
                <a:solidFill>
                  <a:srgbClr val="A9B6C8"/>
                </a:solidFill>
                <a:latin typeface="Aptos" pitchFamily="34" charset="0"/>
                <a:ea typeface="Aptos" pitchFamily="34" charset="-122"/>
                <a:cs typeface="Aptos" pitchFamily="34" charset="-120"/>
              </a:rPr>
              <a:t>* Side-channel resistance should be an explicit tier, not an implicit promise. Confidentiality against privileged software is the first product target.</a:t>
            </a:r>
            <a:endParaRPr lang="en-US" sz="940" dirty="0"/>
          </a:p>
        </p:txBody>
      </p:sp>
      <p:sp>
        <p:nvSpPr>
          <p:cNvPr id="42" name="Text 40"/>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Conceptual threat model. Rooted in standard confidential-computing properties: memory confidentiality/integrity, hardware isolation, and remote attestation.</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5 • C-CCA ARCHITECTURE</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Composite TEE: CPU CVM + Confidential WSE + protected model path.</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The unit of trust becomes the workload, not the server.</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06</a:t>
            </a:r>
            <a:endParaRPr lang="en-US" sz="1000" dirty="0"/>
          </a:p>
        </p:txBody>
      </p:sp>
      <p:sp>
        <p:nvSpPr>
          <p:cNvPr id="6" name="Shape 4"/>
          <p:cNvSpPr/>
          <p:nvPr/>
        </p:nvSpPr>
        <p:spPr>
          <a:xfrm>
            <a:off x="640080" y="1828800"/>
            <a:ext cx="10927080" cy="3977640"/>
          </a:xfrm>
          <a:prstGeom prst="roundRect">
            <a:avLst>
              <a:gd name="adj" fmla="val 4138"/>
            </a:avLst>
          </a:prstGeom>
          <a:solidFill>
            <a:srgbClr val="0E1828"/>
          </a:solidFill>
          <a:ln w="19050">
            <a:solidFill>
              <a:srgbClr val="FF6B35"/>
            </a:solidFill>
            <a:prstDash val="solid"/>
          </a:ln>
        </p:spPr>
      </p:sp>
      <p:sp>
        <p:nvSpPr>
          <p:cNvPr id="7" name="Text 5"/>
          <p:cNvSpPr txBox="1"/>
          <p:nvPr/>
        </p:nvSpPr>
        <p:spPr>
          <a:xfrm>
            <a:off x="896112" y="2020824"/>
            <a:ext cx="2926080" cy="219456"/>
          </a:xfrm>
          <a:prstGeom prst="rect">
            <a:avLst/>
          </a:prstGeom>
          <a:noFill/>
          <a:ln/>
        </p:spPr>
        <p:txBody>
          <a:bodyPr wrap="square" lIns="0" tIns="0" rIns="0" bIns="0" rtlCol="0" anchor="ctr">
            <a:normAutofit/>
          </a:bodyPr>
          <a:lstStyle/>
          <a:p>
            <a:pPr algn="l" indent="0" marL="0">
              <a:buNone/>
            </a:pPr>
            <a:r>
              <a:rPr lang="en-US" sz="900" b="1" spc="120" kern="0" dirty="0">
                <a:solidFill>
                  <a:srgbClr val="FF6B35"/>
                </a:solidFill>
                <a:latin typeface="Aptos" pitchFamily="34" charset="0"/>
                <a:ea typeface="Aptos" pitchFamily="34" charset="-122"/>
                <a:cs typeface="Aptos" pitchFamily="34" charset="-120"/>
              </a:rPr>
              <a:t>COMPOSITE CONFIDENTIAL DOMAIN</a:t>
            </a:r>
            <a:endParaRPr lang="en-US" sz="900" dirty="0"/>
          </a:p>
        </p:txBody>
      </p:sp>
      <p:sp>
        <p:nvSpPr>
          <p:cNvPr id="8" name="Shape 6"/>
          <p:cNvSpPr/>
          <p:nvPr/>
        </p:nvSpPr>
        <p:spPr>
          <a:xfrm>
            <a:off x="4526280" y="1417320"/>
            <a:ext cx="3154680" cy="585216"/>
          </a:xfrm>
          <a:prstGeom prst="roundRect">
            <a:avLst>
              <a:gd name="adj" fmla="val 25000"/>
            </a:avLst>
          </a:prstGeom>
          <a:solidFill>
            <a:srgbClr val="17233A"/>
          </a:solidFill>
          <a:ln w="12700">
            <a:solidFill>
              <a:srgbClr val="5FE1A0"/>
            </a:solidFill>
            <a:prstDash val="solid"/>
          </a:ln>
          <a:effectLst>
            <a:outerShdw sx="100000" sy="100000" kx="0" ky="0" algn="bl" rotWithShape="0" blurRad="7.212499731616968e+61" dist="3.606249865808484e+61" dir="2.1158324305920003e+73">
              <a:srgbClr val="000000">
                <a:alpha val="2.2e+74"/>
              </a:srgbClr>
            </a:outerShdw>
          </a:effectLst>
        </p:spPr>
      </p:sp>
      <p:sp>
        <p:nvSpPr>
          <p:cNvPr id="9" name="Text 7"/>
          <p:cNvSpPr txBox="1"/>
          <p:nvPr/>
        </p:nvSpPr>
        <p:spPr>
          <a:xfrm>
            <a:off x="4745736" y="1600200"/>
            <a:ext cx="2697480" cy="219456"/>
          </a:xfrm>
          <a:prstGeom prst="rect">
            <a:avLst/>
          </a:prstGeom>
          <a:noFill/>
          <a:ln/>
        </p:spPr>
        <p:txBody>
          <a:bodyPr wrap="square" lIns="0" tIns="0" rIns="0" bIns="0" rtlCol="0" anchor="ctr">
            <a:normAutofit/>
          </a:bodyPr>
          <a:lstStyle/>
          <a:p>
            <a:pPr algn="ctr" indent="0" marL="0">
              <a:buNone/>
            </a:pPr>
            <a:r>
              <a:rPr lang="en-US" sz="1100" b="1" dirty="0">
                <a:solidFill>
                  <a:srgbClr val="F5F7FA"/>
                </a:solidFill>
                <a:latin typeface="Aptos" pitchFamily="34" charset="0"/>
                <a:ea typeface="Aptos" pitchFamily="34" charset="-122"/>
                <a:cs typeface="Aptos" pitchFamily="34" charset="-120"/>
              </a:rPr>
              <a:t>Attestation + Policy + KMS/HSM</a:t>
            </a:r>
            <a:endParaRPr lang="en-US" sz="1100" dirty="0"/>
          </a:p>
        </p:txBody>
      </p:sp>
      <p:sp>
        <p:nvSpPr>
          <p:cNvPr id="10" name="Shape 8"/>
          <p:cNvSpPr/>
          <p:nvPr/>
        </p:nvSpPr>
        <p:spPr>
          <a:xfrm>
            <a:off x="6080760" y="1993392"/>
            <a:ext cx="0" cy="-164592"/>
          </a:xfrm>
          <a:prstGeom prst="line">
            <a:avLst/>
          </a:prstGeom>
          <a:noFill/>
          <a:ln w="25400">
            <a:solidFill>
              <a:srgbClr val="5FE1A0"/>
            </a:solidFill>
            <a:prstDash val="solid"/>
            <a:headEnd type="none"/>
            <a:tailEnd type="triangle"/>
          </a:ln>
        </p:spPr>
      </p:sp>
      <p:sp>
        <p:nvSpPr>
          <p:cNvPr id="11" name="Shape 9"/>
          <p:cNvSpPr/>
          <p:nvPr/>
        </p:nvSpPr>
        <p:spPr>
          <a:xfrm>
            <a:off x="960120" y="2487168"/>
            <a:ext cx="2834640" cy="2514600"/>
          </a:xfrm>
          <a:prstGeom prst="roundRect">
            <a:avLst>
              <a:gd name="adj" fmla="val 5818"/>
            </a:avLst>
          </a:prstGeom>
          <a:solidFill>
            <a:srgbClr val="121C2E"/>
          </a:solidFill>
          <a:ln w="12700">
            <a:solidFill>
              <a:srgbClr val="3BD6E8"/>
            </a:solidFill>
            <a:prstDash val="solid"/>
          </a:ln>
          <a:effectLst>
            <a:outerShdw sx="100000" sy="100000" kx="0" ky="0" algn="bl" rotWithShape="0" blurRad="9.15987465915355e+65" dist="4.579937329576775e+65" dir="1.2694994583552002e+78">
              <a:srgbClr val="000000">
                <a:alpha val="2.2000000000000002e+79"/>
              </a:srgbClr>
            </a:outerShdw>
          </a:effectLst>
        </p:spPr>
      </p:sp>
      <p:sp>
        <p:nvSpPr>
          <p:cNvPr id="12" name="Text 10"/>
          <p:cNvSpPr txBox="1"/>
          <p:nvPr/>
        </p:nvSpPr>
        <p:spPr>
          <a:xfrm>
            <a:off x="1207008" y="2724912"/>
            <a:ext cx="2148840" cy="256032"/>
          </a:xfrm>
          <a:prstGeom prst="rect">
            <a:avLst/>
          </a:prstGeom>
          <a:noFill/>
          <a:ln/>
        </p:spPr>
        <p:txBody>
          <a:bodyPr wrap="square" lIns="0" tIns="0" rIns="0" bIns="0" rtlCol="0" anchor="ctr">
            <a:normAutofit/>
          </a:bodyPr>
          <a:lstStyle/>
          <a:p>
            <a:pPr algn="l" indent="0" marL="0">
              <a:buNone/>
            </a:pPr>
            <a:r>
              <a:rPr lang="en-US" sz="1300" b="1" dirty="0">
                <a:solidFill>
                  <a:srgbClr val="3BD6E8"/>
                </a:solidFill>
                <a:latin typeface="Aptos" pitchFamily="34" charset="0"/>
                <a:ea typeface="Aptos" pitchFamily="34" charset="-122"/>
                <a:cs typeface="Aptos" pitchFamily="34" charset="-120"/>
              </a:rPr>
              <a:t>CPU CONFIDENTIAL VM</a:t>
            </a:r>
            <a:endParaRPr lang="en-US" sz="1300" dirty="0"/>
          </a:p>
        </p:txBody>
      </p:sp>
      <p:sp>
        <p:nvSpPr>
          <p:cNvPr id="13" name="Shape 11"/>
          <p:cNvSpPr/>
          <p:nvPr/>
        </p:nvSpPr>
        <p:spPr>
          <a:xfrm>
            <a:off x="1170432" y="3182112"/>
            <a:ext cx="2331720" cy="274320"/>
          </a:xfrm>
          <a:prstGeom prst="roundRect">
            <a:avLst>
              <a:gd name="adj" fmla="val 50000"/>
            </a:avLst>
          </a:prstGeom>
          <a:solidFill>
            <a:srgbClr val="17233A"/>
          </a:solidFill>
          <a:ln w="12700">
            <a:solidFill>
              <a:srgbClr val="3BD6E8">
                <a:alpha val="35000"/>
              </a:srgbClr>
            </a:solidFill>
            <a:prstDash val="solid"/>
          </a:ln>
        </p:spPr>
      </p:sp>
      <p:sp>
        <p:nvSpPr>
          <p:cNvPr id="14" name="Text 12"/>
          <p:cNvSpPr txBox="1"/>
          <p:nvPr/>
        </p:nvSpPr>
        <p:spPr>
          <a:xfrm>
            <a:off x="1243584" y="3200400"/>
            <a:ext cx="2185416" cy="219456"/>
          </a:xfrm>
          <a:prstGeom prst="rect">
            <a:avLst/>
          </a:prstGeom>
          <a:noFill/>
          <a:ln/>
        </p:spPr>
        <p:txBody>
          <a:bodyPr wrap="square" lIns="0" tIns="0" rIns="0" bIns="0" rtlCol="0" anchor="ctr">
            <a:normAutofit/>
          </a:bodyPr>
          <a:lstStyle/>
          <a:p>
            <a:pPr algn="l" indent="0" marL="0">
              <a:buNone/>
            </a:pPr>
            <a:r>
              <a:rPr lang="en-US" sz="850" b="1" dirty="0">
                <a:solidFill>
                  <a:srgbClr val="3BD6E8"/>
                </a:solidFill>
                <a:latin typeface="Aptos" pitchFamily="34" charset="0"/>
                <a:ea typeface="Aptos" pitchFamily="34" charset="-122"/>
                <a:cs typeface="Aptos" pitchFamily="34" charset="-120"/>
              </a:rPr>
              <a:t>Inference controller</a:t>
            </a:r>
            <a:endParaRPr lang="en-US" sz="850" dirty="0"/>
          </a:p>
        </p:txBody>
      </p:sp>
      <p:sp>
        <p:nvSpPr>
          <p:cNvPr id="15" name="Shape 13"/>
          <p:cNvSpPr/>
          <p:nvPr/>
        </p:nvSpPr>
        <p:spPr>
          <a:xfrm>
            <a:off x="1170432" y="3611880"/>
            <a:ext cx="2331720" cy="274320"/>
          </a:xfrm>
          <a:prstGeom prst="roundRect">
            <a:avLst>
              <a:gd name="adj" fmla="val 50000"/>
            </a:avLst>
          </a:prstGeom>
          <a:solidFill>
            <a:srgbClr val="17233A"/>
          </a:solidFill>
          <a:ln w="12700">
            <a:solidFill>
              <a:srgbClr val="3BD6E8">
                <a:alpha val="35000"/>
              </a:srgbClr>
            </a:solidFill>
            <a:prstDash val="solid"/>
          </a:ln>
        </p:spPr>
      </p:sp>
      <p:sp>
        <p:nvSpPr>
          <p:cNvPr id="16" name="Text 14"/>
          <p:cNvSpPr txBox="1"/>
          <p:nvPr/>
        </p:nvSpPr>
        <p:spPr>
          <a:xfrm>
            <a:off x="1243584" y="3630168"/>
            <a:ext cx="2185416" cy="219456"/>
          </a:xfrm>
          <a:prstGeom prst="rect">
            <a:avLst/>
          </a:prstGeom>
          <a:noFill/>
          <a:ln/>
        </p:spPr>
        <p:txBody>
          <a:bodyPr wrap="square" lIns="0" tIns="0" rIns="0" bIns="0" rtlCol="0" anchor="ctr">
            <a:normAutofit/>
          </a:bodyPr>
          <a:lstStyle/>
          <a:p>
            <a:pPr algn="l" indent="0" marL="0">
              <a:buNone/>
            </a:pPr>
            <a:r>
              <a:rPr lang="en-US" sz="850" b="1" dirty="0">
                <a:solidFill>
                  <a:srgbClr val="3BD6E8"/>
                </a:solidFill>
                <a:latin typeface="Aptos" pitchFamily="34" charset="0"/>
                <a:ea typeface="Aptos" pitchFamily="34" charset="-122"/>
                <a:cs typeface="Aptos" pitchFamily="34" charset="-120"/>
              </a:rPr>
              <a:t>Crypto service</a:t>
            </a:r>
            <a:endParaRPr lang="en-US" sz="850" dirty="0"/>
          </a:p>
        </p:txBody>
      </p:sp>
      <p:sp>
        <p:nvSpPr>
          <p:cNvPr id="17" name="Shape 15"/>
          <p:cNvSpPr/>
          <p:nvPr/>
        </p:nvSpPr>
        <p:spPr>
          <a:xfrm>
            <a:off x="1170432" y="4041648"/>
            <a:ext cx="2331720" cy="274320"/>
          </a:xfrm>
          <a:prstGeom prst="roundRect">
            <a:avLst>
              <a:gd name="adj" fmla="val 50000"/>
            </a:avLst>
          </a:prstGeom>
          <a:solidFill>
            <a:srgbClr val="17233A"/>
          </a:solidFill>
          <a:ln w="12700">
            <a:solidFill>
              <a:srgbClr val="3BD6E8">
                <a:alpha val="35000"/>
              </a:srgbClr>
            </a:solidFill>
            <a:prstDash val="solid"/>
          </a:ln>
        </p:spPr>
      </p:sp>
      <p:sp>
        <p:nvSpPr>
          <p:cNvPr id="18" name="Text 16"/>
          <p:cNvSpPr txBox="1"/>
          <p:nvPr/>
        </p:nvSpPr>
        <p:spPr>
          <a:xfrm>
            <a:off x="1243584" y="4059936"/>
            <a:ext cx="2185416" cy="219456"/>
          </a:xfrm>
          <a:prstGeom prst="rect">
            <a:avLst/>
          </a:prstGeom>
          <a:noFill/>
          <a:ln/>
        </p:spPr>
        <p:txBody>
          <a:bodyPr wrap="square" lIns="0" tIns="0" rIns="0" bIns="0" rtlCol="0" anchor="ctr">
            <a:normAutofit/>
          </a:bodyPr>
          <a:lstStyle/>
          <a:p>
            <a:pPr algn="l" indent="0" marL="0">
              <a:buNone/>
            </a:pPr>
            <a:r>
              <a:rPr lang="en-US" sz="850" b="1" dirty="0">
                <a:solidFill>
                  <a:srgbClr val="3BD6E8"/>
                </a:solidFill>
                <a:latin typeface="Aptos" pitchFamily="34" charset="0"/>
                <a:ea typeface="Aptos" pitchFamily="34" charset="-122"/>
                <a:cs typeface="Aptos" pitchFamily="34" charset="-120"/>
              </a:rPr>
              <a:t>Secret broker</a:t>
            </a:r>
            <a:endParaRPr lang="en-US" sz="850" dirty="0"/>
          </a:p>
        </p:txBody>
      </p:sp>
      <p:sp>
        <p:nvSpPr>
          <p:cNvPr id="19" name="Shape 17"/>
          <p:cNvSpPr/>
          <p:nvPr/>
        </p:nvSpPr>
        <p:spPr>
          <a:xfrm>
            <a:off x="1170432" y="4471416"/>
            <a:ext cx="2331720" cy="274320"/>
          </a:xfrm>
          <a:prstGeom prst="roundRect">
            <a:avLst>
              <a:gd name="adj" fmla="val 50000"/>
            </a:avLst>
          </a:prstGeom>
          <a:solidFill>
            <a:srgbClr val="17233A"/>
          </a:solidFill>
          <a:ln w="12700">
            <a:solidFill>
              <a:srgbClr val="3BD6E8">
                <a:alpha val="35000"/>
              </a:srgbClr>
            </a:solidFill>
            <a:prstDash val="solid"/>
          </a:ln>
        </p:spPr>
      </p:sp>
      <p:sp>
        <p:nvSpPr>
          <p:cNvPr id="20" name="Text 18"/>
          <p:cNvSpPr txBox="1"/>
          <p:nvPr/>
        </p:nvSpPr>
        <p:spPr>
          <a:xfrm>
            <a:off x="1243584" y="4489704"/>
            <a:ext cx="2185416" cy="219456"/>
          </a:xfrm>
          <a:prstGeom prst="rect">
            <a:avLst/>
          </a:prstGeom>
          <a:noFill/>
          <a:ln/>
        </p:spPr>
        <p:txBody>
          <a:bodyPr wrap="square" lIns="0" tIns="0" rIns="0" bIns="0" rtlCol="0" anchor="ctr">
            <a:normAutofit/>
          </a:bodyPr>
          <a:lstStyle/>
          <a:p>
            <a:pPr algn="l" indent="0" marL="0">
              <a:buNone/>
            </a:pPr>
            <a:r>
              <a:rPr lang="en-US" sz="850" b="1" dirty="0">
                <a:solidFill>
                  <a:srgbClr val="3BD6E8"/>
                </a:solidFill>
                <a:latin typeface="Aptos" pitchFamily="34" charset="0"/>
                <a:ea typeface="Aptos" pitchFamily="34" charset="-122"/>
                <a:cs typeface="Aptos" pitchFamily="34" charset="-120"/>
              </a:rPr>
              <a:t>Policy / attestation agent</a:t>
            </a:r>
            <a:endParaRPr lang="en-US" sz="850" dirty="0"/>
          </a:p>
        </p:txBody>
      </p:sp>
      <p:sp>
        <p:nvSpPr>
          <p:cNvPr id="21" name="Text 19"/>
          <p:cNvSpPr txBox="1"/>
          <p:nvPr/>
        </p:nvSpPr>
        <p:spPr>
          <a:xfrm>
            <a:off x="3913632" y="3273552"/>
            <a:ext cx="1078992" cy="530352"/>
          </a:xfrm>
          <a:prstGeom prst="rect">
            <a:avLst/>
          </a:prstGeom>
          <a:noFill/>
          <a:ln/>
        </p:spPr>
        <p:txBody>
          <a:bodyPr wrap="square" lIns="0" tIns="0" rIns="0" bIns="0" rtlCol="0" anchor="ctr">
            <a:normAutofit/>
          </a:bodyPr>
          <a:lstStyle/>
          <a:p>
            <a:pPr algn="ctr" indent="0" marL="0">
              <a:buNone/>
            </a:pPr>
            <a:r>
              <a:rPr lang="en-US" sz="950" b="1" dirty="0">
                <a:solidFill>
                  <a:srgbClr val="FF6B35"/>
                </a:solidFill>
                <a:latin typeface="Aptos" pitchFamily="34" charset="0"/>
                <a:ea typeface="Aptos" pitchFamily="34" charset="-122"/>
                <a:cs typeface="Aptos" pitchFamily="34" charset="-120"/>
              </a:rPr>
              <a:t>authenticated</a:t>
            </a:r>
            <a:endParaRPr lang="en-US" sz="950" dirty="0"/>
          </a:p>
          <a:p>
            <a:pPr algn="ctr" indent="0" marL="0">
              <a:buNone/>
            </a:pPr>
            <a:r>
              <a:rPr lang="en-US" sz="950" b="1" dirty="0">
                <a:solidFill>
                  <a:srgbClr val="FF6B35"/>
                </a:solidFill>
                <a:latin typeface="Aptos" pitchFamily="34" charset="0"/>
                <a:ea typeface="Aptos" pitchFamily="34" charset="-122"/>
                <a:cs typeface="Aptos" pitchFamily="34" charset="-120"/>
              </a:rPr>
              <a:t>secure channel</a:t>
            </a:r>
            <a:endParaRPr lang="en-US" sz="950" dirty="0"/>
          </a:p>
        </p:txBody>
      </p:sp>
      <p:sp>
        <p:nvSpPr>
          <p:cNvPr id="22" name="Shape 20"/>
          <p:cNvSpPr/>
          <p:nvPr/>
        </p:nvSpPr>
        <p:spPr>
          <a:xfrm>
            <a:off x="3767328" y="3703320"/>
            <a:ext cx="749808" cy="0"/>
          </a:xfrm>
          <a:prstGeom prst="line">
            <a:avLst/>
          </a:prstGeom>
          <a:noFill/>
          <a:ln w="25400">
            <a:solidFill>
              <a:srgbClr val="FF6B35"/>
            </a:solidFill>
            <a:prstDash val="solid"/>
            <a:headEnd type="none"/>
            <a:tailEnd type="triangle"/>
          </a:ln>
        </p:spPr>
      </p:sp>
      <p:sp>
        <p:nvSpPr>
          <p:cNvPr id="23" name="Shape 21"/>
          <p:cNvSpPr/>
          <p:nvPr/>
        </p:nvSpPr>
        <p:spPr>
          <a:xfrm>
            <a:off x="5440680" y="3703320"/>
            <a:ext cx="548640" cy="0"/>
          </a:xfrm>
          <a:prstGeom prst="line">
            <a:avLst/>
          </a:prstGeom>
          <a:noFill/>
          <a:ln w="25400">
            <a:solidFill>
              <a:srgbClr val="FF6B35"/>
            </a:solidFill>
            <a:prstDash val="solid"/>
            <a:headEnd type="none"/>
            <a:tailEnd type="triangle"/>
          </a:ln>
        </p:spPr>
      </p:sp>
      <p:sp>
        <p:nvSpPr>
          <p:cNvPr id="24" name="Shape 22"/>
          <p:cNvSpPr/>
          <p:nvPr/>
        </p:nvSpPr>
        <p:spPr>
          <a:xfrm>
            <a:off x="5541264" y="2487168"/>
            <a:ext cx="4572000" cy="2514600"/>
          </a:xfrm>
          <a:prstGeom prst="roundRect">
            <a:avLst>
              <a:gd name="adj" fmla="val 5818"/>
            </a:avLst>
          </a:prstGeom>
          <a:solidFill>
            <a:srgbClr val="1A2133"/>
          </a:solidFill>
          <a:ln w="12700">
            <a:solidFill>
              <a:srgbClr val="FF6B35"/>
            </a:solidFill>
            <a:prstDash val="solid"/>
          </a:ln>
          <a:effectLst>
            <a:outerShdw sx="100000" sy="100000" kx="0" ky="0" algn="bl" rotWithShape="0" blurRad="1.1633040817125008e+70" dist="5.816520408562504e+69" dir="7.616996750131201e+82">
              <a:srgbClr val="000000">
                <a:alpha val="2.2000000000000003e+84"/>
              </a:srgbClr>
            </a:outerShdw>
          </a:effectLst>
        </p:spPr>
      </p:sp>
      <p:sp>
        <p:nvSpPr>
          <p:cNvPr id="25" name="Text 23"/>
          <p:cNvSpPr txBox="1"/>
          <p:nvPr/>
        </p:nvSpPr>
        <p:spPr>
          <a:xfrm>
            <a:off x="5797296" y="2724912"/>
            <a:ext cx="2926080" cy="256032"/>
          </a:xfrm>
          <a:prstGeom prst="rect">
            <a:avLst/>
          </a:prstGeom>
          <a:noFill/>
          <a:ln/>
        </p:spPr>
        <p:txBody>
          <a:bodyPr wrap="square" lIns="0" tIns="0" rIns="0" bIns="0" rtlCol="0" anchor="ctr">
            <a:normAutofit/>
          </a:bodyPr>
          <a:lstStyle/>
          <a:p>
            <a:pPr algn="l" indent="0" marL="0">
              <a:buNone/>
            </a:pPr>
            <a:r>
              <a:rPr lang="en-US" sz="1300" b="1" dirty="0">
                <a:solidFill>
                  <a:srgbClr val="FF6B35"/>
                </a:solidFill>
                <a:latin typeface="Aptos" pitchFamily="34" charset="0"/>
                <a:ea typeface="Aptos" pitchFamily="34" charset="-122"/>
                <a:cs typeface="Aptos" pitchFamily="34" charset="-120"/>
              </a:rPr>
              <a:t>WSE CONFIDENTIAL DOMAIN</a:t>
            </a:r>
            <a:endParaRPr lang="en-US" sz="1300" dirty="0"/>
          </a:p>
        </p:txBody>
      </p:sp>
      <p:sp>
        <p:nvSpPr>
          <p:cNvPr id="26" name="Shape 24"/>
          <p:cNvSpPr/>
          <p:nvPr/>
        </p:nvSpPr>
        <p:spPr>
          <a:xfrm>
            <a:off x="5797296" y="3182112"/>
            <a:ext cx="521208" cy="256032"/>
          </a:xfrm>
          <a:prstGeom prst="rect">
            <a:avLst/>
          </a:prstGeom>
          <a:solidFill>
            <a:srgbClr val="FF6B35">
              <a:alpha val="18000"/>
            </a:srgbClr>
          </a:solidFill>
          <a:ln w="8890">
            <a:solidFill>
              <a:srgbClr val="FF6B35">
                <a:alpha val="65000"/>
              </a:srgbClr>
            </a:solidFill>
            <a:prstDash val="solid"/>
          </a:ln>
        </p:spPr>
      </p:sp>
      <p:sp>
        <p:nvSpPr>
          <p:cNvPr id="27" name="Shape 25"/>
          <p:cNvSpPr/>
          <p:nvPr/>
        </p:nvSpPr>
        <p:spPr>
          <a:xfrm>
            <a:off x="5797296" y="3566160"/>
            <a:ext cx="521208" cy="256032"/>
          </a:xfrm>
          <a:prstGeom prst="rect">
            <a:avLst/>
          </a:prstGeom>
          <a:solidFill>
            <a:srgbClr val="FF6B35">
              <a:alpha val="18000"/>
            </a:srgbClr>
          </a:solidFill>
          <a:ln w="8890">
            <a:solidFill>
              <a:srgbClr val="FF6B35">
                <a:alpha val="65000"/>
              </a:srgbClr>
            </a:solidFill>
            <a:prstDash val="solid"/>
          </a:ln>
        </p:spPr>
      </p:sp>
      <p:sp>
        <p:nvSpPr>
          <p:cNvPr id="28" name="Shape 26"/>
          <p:cNvSpPr/>
          <p:nvPr/>
        </p:nvSpPr>
        <p:spPr>
          <a:xfrm>
            <a:off x="5797296" y="3950208"/>
            <a:ext cx="521208" cy="256032"/>
          </a:xfrm>
          <a:prstGeom prst="rect">
            <a:avLst/>
          </a:prstGeom>
          <a:solidFill>
            <a:srgbClr val="FF6B35">
              <a:alpha val="18000"/>
            </a:srgbClr>
          </a:solidFill>
          <a:ln w="8890">
            <a:solidFill>
              <a:srgbClr val="FF6B35">
                <a:alpha val="65000"/>
              </a:srgbClr>
            </a:solidFill>
            <a:prstDash val="solid"/>
          </a:ln>
        </p:spPr>
      </p:sp>
      <p:sp>
        <p:nvSpPr>
          <p:cNvPr id="29" name="Shape 27"/>
          <p:cNvSpPr/>
          <p:nvPr/>
        </p:nvSpPr>
        <p:spPr>
          <a:xfrm>
            <a:off x="5797296" y="4334256"/>
            <a:ext cx="521208" cy="256032"/>
          </a:xfrm>
          <a:prstGeom prst="rect">
            <a:avLst/>
          </a:prstGeom>
          <a:solidFill>
            <a:srgbClr val="3BD6E8">
              <a:alpha val="18000"/>
            </a:srgbClr>
          </a:solidFill>
          <a:ln w="8890">
            <a:solidFill>
              <a:srgbClr val="3BD6E8">
                <a:alpha val="65000"/>
              </a:srgbClr>
            </a:solidFill>
            <a:prstDash val="solid"/>
          </a:ln>
        </p:spPr>
      </p:sp>
      <p:sp>
        <p:nvSpPr>
          <p:cNvPr id="30" name="Shape 28"/>
          <p:cNvSpPr/>
          <p:nvPr/>
        </p:nvSpPr>
        <p:spPr>
          <a:xfrm>
            <a:off x="6473952" y="3182112"/>
            <a:ext cx="521208" cy="256032"/>
          </a:xfrm>
          <a:prstGeom prst="rect">
            <a:avLst/>
          </a:prstGeom>
          <a:solidFill>
            <a:srgbClr val="FF6B35">
              <a:alpha val="18000"/>
            </a:srgbClr>
          </a:solidFill>
          <a:ln w="8890">
            <a:solidFill>
              <a:srgbClr val="FF6B35">
                <a:alpha val="65000"/>
              </a:srgbClr>
            </a:solidFill>
            <a:prstDash val="solid"/>
          </a:ln>
        </p:spPr>
      </p:sp>
      <p:sp>
        <p:nvSpPr>
          <p:cNvPr id="31" name="Shape 29"/>
          <p:cNvSpPr/>
          <p:nvPr/>
        </p:nvSpPr>
        <p:spPr>
          <a:xfrm>
            <a:off x="6473952" y="3566160"/>
            <a:ext cx="521208" cy="256032"/>
          </a:xfrm>
          <a:prstGeom prst="rect">
            <a:avLst/>
          </a:prstGeom>
          <a:solidFill>
            <a:srgbClr val="FF6B35">
              <a:alpha val="18000"/>
            </a:srgbClr>
          </a:solidFill>
          <a:ln w="8890">
            <a:solidFill>
              <a:srgbClr val="FF6B35">
                <a:alpha val="65000"/>
              </a:srgbClr>
            </a:solidFill>
            <a:prstDash val="solid"/>
          </a:ln>
        </p:spPr>
      </p:sp>
      <p:sp>
        <p:nvSpPr>
          <p:cNvPr id="32" name="Shape 30"/>
          <p:cNvSpPr/>
          <p:nvPr/>
        </p:nvSpPr>
        <p:spPr>
          <a:xfrm>
            <a:off x="6473952" y="3950208"/>
            <a:ext cx="521208" cy="256032"/>
          </a:xfrm>
          <a:prstGeom prst="rect">
            <a:avLst/>
          </a:prstGeom>
          <a:solidFill>
            <a:srgbClr val="FF6B35">
              <a:alpha val="18000"/>
            </a:srgbClr>
          </a:solidFill>
          <a:ln w="8890">
            <a:solidFill>
              <a:srgbClr val="FF6B35">
                <a:alpha val="65000"/>
              </a:srgbClr>
            </a:solidFill>
            <a:prstDash val="solid"/>
          </a:ln>
        </p:spPr>
      </p:sp>
      <p:sp>
        <p:nvSpPr>
          <p:cNvPr id="33" name="Shape 31"/>
          <p:cNvSpPr/>
          <p:nvPr/>
        </p:nvSpPr>
        <p:spPr>
          <a:xfrm>
            <a:off x="6473952" y="4334256"/>
            <a:ext cx="521208" cy="256032"/>
          </a:xfrm>
          <a:prstGeom prst="rect">
            <a:avLst/>
          </a:prstGeom>
          <a:solidFill>
            <a:srgbClr val="3BD6E8">
              <a:alpha val="18000"/>
            </a:srgbClr>
          </a:solidFill>
          <a:ln w="8890">
            <a:solidFill>
              <a:srgbClr val="3BD6E8">
                <a:alpha val="65000"/>
              </a:srgbClr>
            </a:solidFill>
            <a:prstDash val="solid"/>
          </a:ln>
        </p:spPr>
      </p:sp>
      <p:sp>
        <p:nvSpPr>
          <p:cNvPr id="34" name="Shape 32"/>
          <p:cNvSpPr/>
          <p:nvPr/>
        </p:nvSpPr>
        <p:spPr>
          <a:xfrm>
            <a:off x="7150608" y="3182112"/>
            <a:ext cx="521208" cy="256032"/>
          </a:xfrm>
          <a:prstGeom prst="rect">
            <a:avLst/>
          </a:prstGeom>
          <a:solidFill>
            <a:srgbClr val="FF6B35">
              <a:alpha val="18000"/>
            </a:srgbClr>
          </a:solidFill>
          <a:ln w="8890">
            <a:solidFill>
              <a:srgbClr val="FF6B35">
                <a:alpha val="65000"/>
              </a:srgbClr>
            </a:solidFill>
            <a:prstDash val="solid"/>
          </a:ln>
        </p:spPr>
      </p:sp>
      <p:sp>
        <p:nvSpPr>
          <p:cNvPr id="35" name="Shape 33"/>
          <p:cNvSpPr/>
          <p:nvPr/>
        </p:nvSpPr>
        <p:spPr>
          <a:xfrm>
            <a:off x="7150608" y="3566160"/>
            <a:ext cx="521208" cy="256032"/>
          </a:xfrm>
          <a:prstGeom prst="rect">
            <a:avLst/>
          </a:prstGeom>
          <a:solidFill>
            <a:srgbClr val="FF6B35">
              <a:alpha val="18000"/>
            </a:srgbClr>
          </a:solidFill>
          <a:ln w="8890">
            <a:solidFill>
              <a:srgbClr val="FF6B35">
                <a:alpha val="65000"/>
              </a:srgbClr>
            </a:solidFill>
            <a:prstDash val="solid"/>
          </a:ln>
        </p:spPr>
      </p:sp>
      <p:sp>
        <p:nvSpPr>
          <p:cNvPr id="36" name="Shape 34"/>
          <p:cNvSpPr/>
          <p:nvPr/>
        </p:nvSpPr>
        <p:spPr>
          <a:xfrm>
            <a:off x="7150608" y="3950208"/>
            <a:ext cx="521208" cy="256032"/>
          </a:xfrm>
          <a:prstGeom prst="rect">
            <a:avLst/>
          </a:prstGeom>
          <a:solidFill>
            <a:srgbClr val="FF6B35">
              <a:alpha val="18000"/>
            </a:srgbClr>
          </a:solidFill>
          <a:ln w="8890">
            <a:solidFill>
              <a:srgbClr val="FF6B35">
                <a:alpha val="65000"/>
              </a:srgbClr>
            </a:solidFill>
            <a:prstDash val="solid"/>
          </a:ln>
        </p:spPr>
      </p:sp>
      <p:sp>
        <p:nvSpPr>
          <p:cNvPr id="37" name="Shape 35"/>
          <p:cNvSpPr/>
          <p:nvPr/>
        </p:nvSpPr>
        <p:spPr>
          <a:xfrm>
            <a:off x="7150608" y="4334256"/>
            <a:ext cx="521208" cy="256032"/>
          </a:xfrm>
          <a:prstGeom prst="rect">
            <a:avLst/>
          </a:prstGeom>
          <a:solidFill>
            <a:srgbClr val="3BD6E8">
              <a:alpha val="18000"/>
            </a:srgbClr>
          </a:solidFill>
          <a:ln w="8890">
            <a:solidFill>
              <a:srgbClr val="3BD6E8">
                <a:alpha val="65000"/>
              </a:srgbClr>
            </a:solidFill>
            <a:prstDash val="solid"/>
          </a:ln>
        </p:spPr>
      </p:sp>
      <p:sp>
        <p:nvSpPr>
          <p:cNvPr id="38" name="Shape 36"/>
          <p:cNvSpPr/>
          <p:nvPr/>
        </p:nvSpPr>
        <p:spPr>
          <a:xfrm>
            <a:off x="7827264" y="3182112"/>
            <a:ext cx="521208" cy="256032"/>
          </a:xfrm>
          <a:prstGeom prst="rect">
            <a:avLst/>
          </a:prstGeom>
          <a:solidFill>
            <a:srgbClr val="FF6B35">
              <a:alpha val="18000"/>
            </a:srgbClr>
          </a:solidFill>
          <a:ln w="8890">
            <a:solidFill>
              <a:srgbClr val="FF6B35">
                <a:alpha val="65000"/>
              </a:srgbClr>
            </a:solidFill>
            <a:prstDash val="solid"/>
          </a:ln>
        </p:spPr>
      </p:sp>
      <p:sp>
        <p:nvSpPr>
          <p:cNvPr id="39" name="Shape 37"/>
          <p:cNvSpPr/>
          <p:nvPr/>
        </p:nvSpPr>
        <p:spPr>
          <a:xfrm>
            <a:off x="7827264" y="3566160"/>
            <a:ext cx="521208" cy="256032"/>
          </a:xfrm>
          <a:prstGeom prst="rect">
            <a:avLst/>
          </a:prstGeom>
          <a:solidFill>
            <a:srgbClr val="FF6B35">
              <a:alpha val="18000"/>
            </a:srgbClr>
          </a:solidFill>
          <a:ln w="8890">
            <a:solidFill>
              <a:srgbClr val="FF6B35">
                <a:alpha val="65000"/>
              </a:srgbClr>
            </a:solidFill>
            <a:prstDash val="solid"/>
          </a:ln>
        </p:spPr>
      </p:sp>
      <p:sp>
        <p:nvSpPr>
          <p:cNvPr id="40" name="Shape 38"/>
          <p:cNvSpPr/>
          <p:nvPr/>
        </p:nvSpPr>
        <p:spPr>
          <a:xfrm>
            <a:off x="7827264" y="3950208"/>
            <a:ext cx="521208" cy="256032"/>
          </a:xfrm>
          <a:prstGeom prst="rect">
            <a:avLst/>
          </a:prstGeom>
          <a:solidFill>
            <a:srgbClr val="FF6B35">
              <a:alpha val="18000"/>
            </a:srgbClr>
          </a:solidFill>
          <a:ln w="8890">
            <a:solidFill>
              <a:srgbClr val="FF6B35">
                <a:alpha val="65000"/>
              </a:srgbClr>
            </a:solidFill>
            <a:prstDash val="solid"/>
          </a:ln>
        </p:spPr>
      </p:sp>
      <p:sp>
        <p:nvSpPr>
          <p:cNvPr id="41" name="Shape 39"/>
          <p:cNvSpPr/>
          <p:nvPr/>
        </p:nvSpPr>
        <p:spPr>
          <a:xfrm>
            <a:off x="7827264" y="4334256"/>
            <a:ext cx="521208" cy="256032"/>
          </a:xfrm>
          <a:prstGeom prst="rect">
            <a:avLst/>
          </a:prstGeom>
          <a:solidFill>
            <a:srgbClr val="3BD6E8">
              <a:alpha val="18000"/>
            </a:srgbClr>
          </a:solidFill>
          <a:ln w="8890">
            <a:solidFill>
              <a:srgbClr val="3BD6E8">
                <a:alpha val="65000"/>
              </a:srgbClr>
            </a:solidFill>
            <a:prstDash val="solid"/>
          </a:ln>
        </p:spPr>
      </p:sp>
      <p:sp>
        <p:nvSpPr>
          <p:cNvPr id="42" name="Shape 40"/>
          <p:cNvSpPr/>
          <p:nvPr/>
        </p:nvSpPr>
        <p:spPr>
          <a:xfrm>
            <a:off x="8503920" y="3182112"/>
            <a:ext cx="521208" cy="256032"/>
          </a:xfrm>
          <a:prstGeom prst="rect">
            <a:avLst/>
          </a:prstGeom>
          <a:solidFill>
            <a:srgbClr val="3BD6E8">
              <a:alpha val="18000"/>
            </a:srgbClr>
          </a:solidFill>
          <a:ln w="8890">
            <a:solidFill>
              <a:srgbClr val="3BD6E8">
                <a:alpha val="65000"/>
              </a:srgbClr>
            </a:solidFill>
            <a:prstDash val="solid"/>
          </a:ln>
        </p:spPr>
      </p:sp>
      <p:sp>
        <p:nvSpPr>
          <p:cNvPr id="43" name="Shape 41"/>
          <p:cNvSpPr/>
          <p:nvPr/>
        </p:nvSpPr>
        <p:spPr>
          <a:xfrm>
            <a:off x="8503920" y="3566160"/>
            <a:ext cx="521208" cy="256032"/>
          </a:xfrm>
          <a:prstGeom prst="rect">
            <a:avLst/>
          </a:prstGeom>
          <a:solidFill>
            <a:srgbClr val="3BD6E8">
              <a:alpha val="18000"/>
            </a:srgbClr>
          </a:solidFill>
          <a:ln w="8890">
            <a:solidFill>
              <a:srgbClr val="3BD6E8">
                <a:alpha val="65000"/>
              </a:srgbClr>
            </a:solidFill>
            <a:prstDash val="solid"/>
          </a:ln>
        </p:spPr>
      </p:sp>
      <p:sp>
        <p:nvSpPr>
          <p:cNvPr id="44" name="Shape 42"/>
          <p:cNvSpPr/>
          <p:nvPr/>
        </p:nvSpPr>
        <p:spPr>
          <a:xfrm>
            <a:off x="8503920" y="3950208"/>
            <a:ext cx="521208" cy="256032"/>
          </a:xfrm>
          <a:prstGeom prst="rect">
            <a:avLst/>
          </a:prstGeom>
          <a:solidFill>
            <a:srgbClr val="3BD6E8">
              <a:alpha val="18000"/>
            </a:srgbClr>
          </a:solidFill>
          <a:ln w="8890">
            <a:solidFill>
              <a:srgbClr val="3BD6E8">
                <a:alpha val="65000"/>
              </a:srgbClr>
            </a:solidFill>
            <a:prstDash val="solid"/>
          </a:ln>
        </p:spPr>
      </p:sp>
      <p:sp>
        <p:nvSpPr>
          <p:cNvPr id="45" name="Shape 43"/>
          <p:cNvSpPr/>
          <p:nvPr/>
        </p:nvSpPr>
        <p:spPr>
          <a:xfrm>
            <a:off x="8503920" y="4334256"/>
            <a:ext cx="521208" cy="256032"/>
          </a:xfrm>
          <a:prstGeom prst="rect">
            <a:avLst/>
          </a:prstGeom>
          <a:solidFill>
            <a:srgbClr val="3BD6E8">
              <a:alpha val="18000"/>
            </a:srgbClr>
          </a:solidFill>
          <a:ln w="8890">
            <a:solidFill>
              <a:srgbClr val="3BD6E8">
                <a:alpha val="65000"/>
              </a:srgbClr>
            </a:solidFill>
            <a:prstDash val="solid"/>
          </a:ln>
        </p:spPr>
      </p:sp>
      <p:sp>
        <p:nvSpPr>
          <p:cNvPr id="46" name="Text 44"/>
          <p:cNvSpPr txBox="1"/>
          <p:nvPr/>
        </p:nvSpPr>
        <p:spPr>
          <a:xfrm>
            <a:off x="5797296" y="4480560"/>
            <a:ext cx="3968496" cy="38404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Domain-tagged PE/SRAM  •  Fabric ACL  •  Secure DMA  •  Memory integrity</a:t>
            </a:r>
            <a:endParaRPr lang="en-US" sz="980" dirty="0"/>
          </a:p>
        </p:txBody>
      </p:sp>
      <p:sp>
        <p:nvSpPr>
          <p:cNvPr id="47" name="Shape 45"/>
          <p:cNvSpPr/>
          <p:nvPr/>
        </p:nvSpPr>
        <p:spPr>
          <a:xfrm>
            <a:off x="3822192" y="5257800"/>
            <a:ext cx="4526280" cy="420624"/>
          </a:xfrm>
          <a:prstGeom prst="roundRect">
            <a:avLst>
              <a:gd name="adj" fmla="val 34783"/>
            </a:avLst>
          </a:prstGeom>
          <a:solidFill>
            <a:srgbClr val="1B2940"/>
          </a:solidFill>
          <a:ln w="12700">
            <a:solidFill>
              <a:srgbClr val="FFD166"/>
            </a:solidFill>
            <a:prstDash val="solid"/>
          </a:ln>
          <a:effectLst>
            <a:outerShdw sx="100000" sy="100000" kx="0" ky="0" algn="bl" rotWithShape="0" blurRad="1.477396183774876e+74" dist="7.38698091887438e+73" dir="4.57019805007872e+87">
              <a:srgbClr val="000000">
                <a:alpha val="2.2000000000000003e+89"/>
              </a:srgbClr>
            </a:outerShdw>
          </a:effectLst>
        </p:spPr>
      </p:sp>
      <p:sp>
        <p:nvSpPr>
          <p:cNvPr id="48" name="Text 46"/>
          <p:cNvSpPr txBox="1"/>
          <p:nvPr/>
        </p:nvSpPr>
        <p:spPr>
          <a:xfrm>
            <a:off x="4005072" y="5367528"/>
            <a:ext cx="4160520" cy="201168"/>
          </a:xfrm>
          <a:prstGeom prst="rect">
            <a:avLst/>
          </a:prstGeom>
          <a:noFill/>
          <a:ln/>
        </p:spPr>
        <p:txBody>
          <a:bodyPr wrap="square" lIns="0" tIns="0" rIns="0" bIns="0" rtlCol="0" anchor="ctr">
            <a:normAutofit/>
          </a:bodyPr>
          <a:lstStyle/>
          <a:p>
            <a:pPr algn="ctr" indent="0" marL="0">
              <a:buNone/>
            </a:pPr>
            <a:r>
              <a:rPr lang="en-US" sz="1020" b="1" dirty="0">
                <a:solidFill>
                  <a:srgbClr val="FFD166"/>
                </a:solidFill>
                <a:latin typeface="Aptos" pitchFamily="34" charset="0"/>
                <a:ea typeface="Aptos" pitchFamily="34" charset="-122"/>
                <a:cs typeface="Aptos" pitchFamily="34" charset="-120"/>
              </a:rPr>
              <a:t>Protected model / KV-cache path  →  MemoryX / I/O</a:t>
            </a:r>
            <a:endParaRPr lang="en-US" sz="1020" dirty="0"/>
          </a:p>
        </p:txBody>
      </p:sp>
      <p:sp>
        <p:nvSpPr>
          <p:cNvPr id="49" name="Text 47"/>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Reference points: Intel TDX protected VM + attestation; NVIDIA GPU confidential computing + attestation; Cerebras WSE/CS-4 wafer-scale architecture.</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6 • WSE CONFIDENTIAL DOMAIN</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Apply enclave semantics to wafer-scale execution.</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Use spatial security domains rather than attempting hundreds of thousands of tiny enclaves.</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07</a:t>
            </a:r>
            <a:endParaRPr lang="en-US" sz="1000" dirty="0"/>
          </a:p>
        </p:txBody>
      </p:sp>
      <p:sp>
        <p:nvSpPr>
          <p:cNvPr id="6" name="Shape 4"/>
          <p:cNvSpPr/>
          <p:nvPr/>
        </p:nvSpPr>
        <p:spPr>
          <a:xfrm>
            <a:off x="566928" y="1847088"/>
            <a:ext cx="6446520" cy="3931920"/>
          </a:xfrm>
          <a:prstGeom prst="roundRect">
            <a:avLst>
              <a:gd name="adj" fmla="val 3721"/>
            </a:avLst>
          </a:prstGeom>
          <a:solidFill>
            <a:srgbClr val="121C2E"/>
          </a:solidFill>
          <a:ln w="12700">
            <a:solidFill>
              <a:srgbClr val="24344E"/>
            </a:solidFill>
            <a:prstDash val="solid"/>
          </a:ln>
          <a:effectLst>
            <a:outerShdw sx="100000" sy="100000" kx="0" ky="0" algn="bl" rotWithShape="0" blurRad="1.8762931533940924e+78" dist="9.381465766970462e+77" dir="2.742118830047232e+92">
              <a:srgbClr val="000000">
                <a:alpha val="2.2e+94"/>
              </a:srgbClr>
            </a:outerShdw>
          </a:effectLst>
        </p:spPr>
      </p:sp>
      <p:sp>
        <p:nvSpPr>
          <p:cNvPr id="7" name="Text 5"/>
          <p:cNvSpPr txBox="1"/>
          <p:nvPr/>
        </p:nvSpPr>
        <p:spPr>
          <a:xfrm>
            <a:off x="832104" y="2121408"/>
            <a:ext cx="3383280" cy="228600"/>
          </a:xfrm>
          <a:prstGeom prst="rect">
            <a:avLst/>
          </a:prstGeom>
          <a:noFill/>
          <a:ln/>
        </p:spPr>
        <p:txBody>
          <a:bodyPr wrap="square" lIns="0" tIns="0" rIns="0" bIns="0" rtlCol="0" anchor="ctr">
            <a:normAutofit/>
          </a:bodyPr>
          <a:lstStyle/>
          <a:p>
            <a:pPr algn="l" indent="0" marL="0">
              <a:buNone/>
            </a:pPr>
            <a:r>
              <a:rPr lang="en-US" sz="900" b="1" spc="125" kern="0" dirty="0">
                <a:solidFill>
                  <a:srgbClr val="FF6B35"/>
                </a:solidFill>
                <a:latin typeface="Aptos" pitchFamily="34" charset="0"/>
                <a:ea typeface="Aptos" pitchFamily="34" charset="-122"/>
                <a:cs typeface="Aptos" pitchFamily="34" charset="-120"/>
              </a:rPr>
              <a:t>PROPOSED WSE SECURITY PRIMITIVES</a:t>
            </a:r>
            <a:endParaRPr lang="en-US" sz="900" dirty="0"/>
          </a:p>
        </p:txBody>
      </p:sp>
      <p:sp>
        <p:nvSpPr>
          <p:cNvPr id="8" name="Shape 6"/>
          <p:cNvSpPr/>
          <p:nvPr/>
        </p:nvSpPr>
        <p:spPr>
          <a:xfrm>
            <a:off x="822960" y="2615184"/>
            <a:ext cx="749808" cy="274320"/>
          </a:xfrm>
          <a:prstGeom prst="roundRect">
            <a:avLst>
              <a:gd name="adj" fmla="val 50000"/>
            </a:avLst>
          </a:prstGeom>
          <a:solidFill>
            <a:srgbClr val="17233A"/>
          </a:solidFill>
          <a:ln w="12700">
            <a:solidFill>
              <a:srgbClr val="FF6B35">
                <a:alpha val="35000"/>
              </a:srgbClr>
            </a:solidFill>
            <a:prstDash val="solid"/>
          </a:ln>
        </p:spPr>
      </p:sp>
      <p:sp>
        <p:nvSpPr>
          <p:cNvPr id="9" name="Text 7"/>
          <p:cNvSpPr txBox="1"/>
          <p:nvPr/>
        </p:nvSpPr>
        <p:spPr>
          <a:xfrm>
            <a:off x="896112" y="2633472"/>
            <a:ext cx="603504" cy="219456"/>
          </a:xfrm>
          <a:prstGeom prst="rect">
            <a:avLst/>
          </a:prstGeom>
          <a:noFill/>
          <a:ln/>
        </p:spPr>
        <p:txBody>
          <a:bodyPr wrap="square" lIns="0" tIns="0" rIns="0" bIns="0" rtlCol="0" anchor="ctr">
            <a:normAutofit/>
          </a:bodyPr>
          <a:lstStyle/>
          <a:p>
            <a:pPr algn="l" indent="0" marL="0">
              <a:buNone/>
            </a:pPr>
            <a:r>
              <a:rPr lang="en-US" sz="850" b="1" dirty="0">
                <a:solidFill>
                  <a:srgbClr val="FF6B35"/>
                </a:solidFill>
                <a:latin typeface="Aptos" pitchFamily="34" charset="0"/>
                <a:ea typeface="Aptos" pitchFamily="34" charset="-122"/>
                <a:cs typeface="Aptos" pitchFamily="34" charset="-120"/>
              </a:rPr>
              <a:t>CDID</a:t>
            </a:r>
            <a:endParaRPr lang="en-US" sz="850" dirty="0"/>
          </a:p>
        </p:txBody>
      </p:sp>
      <p:sp>
        <p:nvSpPr>
          <p:cNvPr id="10" name="Text 8"/>
          <p:cNvSpPr txBox="1"/>
          <p:nvPr/>
        </p:nvSpPr>
        <p:spPr>
          <a:xfrm>
            <a:off x="1691640" y="2642616"/>
            <a:ext cx="4937760" cy="219456"/>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Confidential Domain ID on PE / SRAM / router / DMA</a:t>
            </a:r>
            <a:endParaRPr lang="en-US" sz="1050" dirty="0"/>
          </a:p>
        </p:txBody>
      </p:sp>
      <p:sp>
        <p:nvSpPr>
          <p:cNvPr id="11" name="Shape 9"/>
          <p:cNvSpPr/>
          <p:nvPr/>
        </p:nvSpPr>
        <p:spPr>
          <a:xfrm>
            <a:off x="822960" y="3090672"/>
            <a:ext cx="749808" cy="274320"/>
          </a:xfrm>
          <a:prstGeom prst="roundRect">
            <a:avLst>
              <a:gd name="adj" fmla="val 50000"/>
            </a:avLst>
          </a:prstGeom>
          <a:solidFill>
            <a:srgbClr val="17233A"/>
          </a:solidFill>
          <a:ln w="12700">
            <a:solidFill>
              <a:srgbClr val="FF6B35">
                <a:alpha val="35000"/>
              </a:srgbClr>
            </a:solidFill>
            <a:prstDash val="solid"/>
          </a:ln>
        </p:spPr>
      </p:sp>
      <p:sp>
        <p:nvSpPr>
          <p:cNvPr id="12" name="Text 10"/>
          <p:cNvSpPr txBox="1"/>
          <p:nvPr/>
        </p:nvSpPr>
        <p:spPr>
          <a:xfrm>
            <a:off x="896112" y="3108960"/>
            <a:ext cx="603504" cy="219456"/>
          </a:xfrm>
          <a:prstGeom prst="rect">
            <a:avLst/>
          </a:prstGeom>
          <a:noFill/>
          <a:ln/>
        </p:spPr>
        <p:txBody>
          <a:bodyPr wrap="square" lIns="0" tIns="0" rIns="0" bIns="0" rtlCol="0" anchor="ctr">
            <a:normAutofit/>
          </a:bodyPr>
          <a:lstStyle/>
          <a:p>
            <a:pPr algn="l" indent="0" marL="0">
              <a:buNone/>
            </a:pPr>
            <a:r>
              <a:rPr lang="en-US" sz="850" b="1" dirty="0">
                <a:solidFill>
                  <a:srgbClr val="FF6B35"/>
                </a:solidFill>
                <a:latin typeface="Aptos" pitchFamily="34" charset="0"/>
                <a:ea typeface="Aptos" pitchFamily="34" charset="-122"/>
                <a:cs typeface="Aptos" pitchFamily="34" charset="-120"/>
              </a:rPr>
              <a:t>MemEnc</a:t>
            </a:r>
            <a:endParaRPr lang="en-US" sz="850" dirty="0"/>
          </a:p>
        </p:txBody>
      </p:sp>
      <p:sp>
        <p:nvSpPr>
          <p:cNvPr id="13" name="Text 11"/>
          <p:cNvSpPr txBox="1"/>
          <p:nvPr/>
        </p:nvSpPr>
        <p:spPr>
          <a:xfrm>
            <a:off x="1691640" y="3118104"/>
            <a:ext cx="4937760" cy="219456"/>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Per-domain memory encryption + integrity metadata</a:t>
            </a:r>
            <a:endParaRPr lang="en-US" sz="1050" dirty="0"/>
          </a:p>
        </p:txBody>
      </p:sp>
      <p:sp>
        <p:nvSpPr>
          <p:cNvPr id="14" name="Shape 12"/>
          <p:cNvSpPr/>
          <p:nvPr/>
        </p:nvSpPr>
        <p:spPr>
          <a:xfrm>
            <a:off x="822960" y="3566160"/>
            <a:ext cx="749808" cy="274320"/>
          </a:xfrm>
          <a:prstGeom prst="roundRect">
            <a:avLst>
              <a:gd name="adj" fmla="val 50000"/>
            </a:avLst>
          </a:prstGeom>
          <a:solidFill>
            <a:srgbClr val="17233A"/>
          </a:solidFill>
          <a:ln w="12700">
            <a:solidFill>
              <a:srgbClr val="3BD6E8">
                <a:alpha val="35000"/>
              </a:srgbClr>
            </a:solidFill>
            <a:prstDash val="solid"/>
          </a:ln>
        </p:spPr>
      </p:sp>
      <p:sp>
        <p:nvSpPr>
          <p:cNvPr id="15" name="Text 13"/>
          <p:cNvSpPr txBox="1"/>
          <p:nvPr/>
        </p:nvSpPr>
        <p:spPr>
          <a:xfrm>
            <a:off x="896112" y="3584448"/>
            <a:ext cx="603504" cy="219456"/>
          </a:xfrm>
          <a:prstGeom prst="rect">
            <a:avLst/>
          </a:prstGeom>
          <a:noFill/>
          <a:ln/>
        </p:spPr>
        <p:txBody>
          <a:bodyPr wrap="square" lIns="0" tIns="0" rIns="0" bIns="0" rtlCol="0" anchor="ctr">
            <a:normAutofit/>
          </a:bodyPr>
          <a:lstStyle/>
          <a:p>
            <a:pPr algn="l" indent="0" marL="0">
              <a:buNone/>
            </a:pPr>
            <a:r>
              <a:rPr lang="en-US" sz="850" b="1" dirty="0">
                <a:solidFill>
                  <a:srgbClr val="3BD6E8"/>
                </a:solidFill>
                <a:latin typeface="Aptos" pitchFamily="34" charset="0"/>
                <a:ea typeface="Aptos" pitchFamily="34" charset="-122"/>
                <a:cs typeface="Aptos" pitchFamily="34" charset="-120"/>
              </a:rPr>
              <a:t>Fabric ACL</a:t>
            </a:r>
            <a:endParaRPr lang="en-US" sz="850" dirty="0"/>
          </a:p>
        </p:txBody>
      </p:sp>
      <p:sp>
        <p:nvSpPr>
          <p:cNvPr id="16" name="Text 14"/>
          <p:cNvSpPr txBox="1"/>
          <p:nvPr/>
        </p:nvSpPr>
        <p:spPr>
          <a:xfrm>
            <a:off x="1691640" y="3593592"/>
            <a:ext cx="4937760" cy="219456"/>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Domain-aware packet authorization + replay protection</a:t>
            </a:r>
            <a:endParaRPr lang="en-US" sz="1050" dirty="0"/>
          </a:p>
        </p:txBody>
      </p:sp>
      <p:sp>
        <p:nvSpPr>
          <p:cNvPr id="17" name="Shape 15"/>
          <p:cNvSpPr/>
          <p:nvPr/>
        </p:nvSpPr>
        <p:spPr>
          <a:xfrm>
            <a:off x="822960" y="4041648"/>
            <a:ext cx="749808" cy="274320"/>
          </a:xfrm>
          <a:prstGeom prst="roundRect">
            <a:avLst>
              <a:gd name="adj" fmla="val 50000"/>
            </a:avLst>
          </a:prstGeom>
          <a:solidFill>
            <a:srgbClr val="17233A"/>
          </a:solidFill>
          <a:ln w="12700">
            <a:solidFill>
              <a:srgbClr val="3BD6E8">
                <a:alpha val="35000"/>
              </a:srgbClr>
            </a:solidFill>
            <a:prstDash val="solid"/>
          </a:ln>
        </p:spPr>
      </p:sp>
      <p:sp>
        <p:nvSpPr>
          <p:cNvPr id="18" name="Text 16"/>
          <p:cNvSpPr txBox="1"/>
          <p:nvPr/>
        </p:nvSpPr>
        <p:spPr>
          <a:xfrm>
            <a:off x="896112" y="4059936"/>
            <a:ext cx="603504" cy="219456"/>
          </a:xfrm>
          <a:prstGeom prst="rect">
            <a:avLst/>
          </a:prstGeom>
          <a:noFill/>
          <a:ln/>
        </p:spPr>
        <p:txBody>
          <a:bodyPr wrap="square" lIns="0" tIns="0" rIns="0" bIns="0" rtlCol="0" anchor="ctr">
            <a:normAutofit/>
          </a:bodyPr>
          <a:lstStyle/>
          <a:p>
            <a:pPr algn="l" indent="0" marL="0">
              <a:buNone/>
            </a:pPr>
            <a:r>
              <a:rPr lang="en-US" sz="850" b="1" dirty="0">
                <a:solidFill>
                  <a:srgbClr val="3BD6E8"/>
                </a:solidFill>
                <a:latin typeface="Aptos" pitchFamily="34" charset="0"/>
                <a:ea typeface="Aptos" pitchFamily="34" charset="-122"/>
                <a:cs typeface="Aptos" pitchFamily="34" charset="-120"/>
              </a:rPr>
              <a:t>SecDMA</a:t>
            </a:r>
            <a:endParaRPr lang="en-US" sz="850" dirty="0"/>
          </a:p>
        </p:txBody>
      </p:sp>
      <p:sp>
        <p:nvSpPr>
          <p:cNvPr id="19" name="Text 17"/>
          <p:cNvSpPr txBox="1"/>
          <p:nvPr/>
        </p:nvSpPr>
        <p:spPr>
          <a:xfrm>
            <a:off x="1691640" y="4069080"/>
            <a:ext cx="4937760" cy="219456"/>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Only attested domains can issue protected transfers</a:t>
            </a:r>
            <a:endParaRPr lang="en-US" sz="1050" dirty="0"/>
          </a:p>
        </p:txBody>
      </p:sp>
      <p:sp>
        <p:nvSpPr>
          <p:cNvPr id="20" name="Shape 18"/>
          <p:cNvSpPr/>
          <p:nvPr/>
        </p:nvSpPr>
        <p:spPr>
          <a:xfrm>
            <a:off x="822960" y="4517136"/>
            <a:ext cx="749808" cy="274320"/>
          </a:xfrm>
          <a:prstGeom prst="roundRect">
            <a:avLst>
              <a:gd name="adj" fmla="val 50000"/>
            </a:avLst>
          </a:prstGeom>
          <a:solidFill>
            <a:srgbClr val="17233A"/>
          </a:solidFill>
          <a:ln w="12700">
            <a:solidFill>
              <a:srgbClr val="5FE1A0">
                <a:alpha val="35000"/>
              </a:srgbClr>
            </a:solidFill>
            <a:prstDash val="solid"/>
          </a:ln>
        </p:spPr>
      </p:sp>
      <p:sp>
        <p:nvSpPr>
          <p:cNvPr id="21" name="Text 19"/>
          <p:cNvSpPr txBox="1"/>
          <p:nvPr/>
        </p:nvSpPr>
        <p:spPr>
          <a:xfrm>
            <a:off x="896112" y="4535424"/>
            <a:ext cx="603504" cy="219456"/>
          </a:xfrm>
          <a:prstGeom prst="rect">
            <a:avLst/>
          </a:prstGeom>
          <a:noFill/>
          <a:ln/>
        </p:spPr>
        <p:txBody>
          <a:bodyPr wrap="square" lIns="0" tIns="0" rIns="0" bIns="0" rtlCol="0" anchor="ctr">
            <a:normAutofit/>
          </a:bodyPr>
          <a:lstStyle/>
          <a:p>
            <a:pPr algn="l" indent="0" marL="0">
              <a:buNone/>
            </a:pPr>
            <a:r>
              <a:rPr lang="en-US" sz="850" b="1" dirty="0">
                <a:solidFill>
                  <a:srgbClr val="5FE1A0"/>
                </a:solidFill>
                <a:latin typeface="Aptos" pitchFamily="34" charset="0"/>
                <a:ea typeface="Aptos" pitchFamily="34" charset="-122"/>
                <a:cs typeface="Aptos" pitchFamily="34" charset="-120"/>
              </a:rPr>
              <a:t>Secure Boot</a:t>
            </a:r>
            <a:endParaRPr lang="en-US" sz="850" dirty="0"/>
          </a:p>
        </p:txBody>
      </p:sp>
      <p:sp>
        <p:nvSpPr>
          <p:cNvPr id="22" name="Text 20"/>
          <p:cNvSpPr txBox="1"/>
          <p:nvPr/>
        </p:nvSpPr>
        <p:spPr>
          <a:xfrm>
            <a:off x="1691640" y="4544568"/>
            <a:ext cx="4937760" cy="219456"/>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Measured WSE firmware / runtime chain</a:t>
            </a:r>
            <a:endParaRPr lang="en-US" sz="1050" dirty="0"/>
          </a:p>
        </p:txBody>
      </p:sp>
      <p:sp>
        <p:nvSpPr>
          <p:cNvPr id="23" name="Shape 21"/>
          <p:cNvSpPr/>
          <p:nvPr/>
        </p:nvSpPr>
        <p:spPr>
          <a:xfrm>
            <a:off x="822960" y="4992624"/>
            <a:ext cx="749808" cy="274320"/>
          </a:xfrm>
          <a:prstGeom prst="roundRect">
            <a:avLst>
              <a:gd name="adj" fmla="val 50000"/>
            </a:avLst>
          </a:prstGeom>
          <a:solidFill>
            <a:srgbClr val="17233A"/>
          </a:solidFill>
          <a:ln w="12700">
            <a:solidFill>
              <a:srgbClr val="5FE1A0">
                <a:alpha val="35000"/>
              </a:srgbClr>
            </a:solidFill>
            <a:prstDash val="solid"/>
          </a:ln>
        </p:spPr>
      </p:sp>
      <p:sp>
        <p:nvSpPr>
          <p:cNvPr id="24" name="Text 22"/>
          <p:cNvSpPr txBox="1"/>
          <p:nvPr/>
        </p:nvSpPr>
        <p:spPr>
          <a:xfrm>
            <a:off x="896112" y="5010912"/>
            <a:ext cx="603504" cy="219456"/>
          </a:xfrm>
          <a:prstGeom prst="rect">
            <a:avLst/>
          </a:prstGeom>
          <a:noFill/>
          <a:ln/>
        </p:spPr>
        <p:txBody>
          <a:bodyPr wrap="square" lIns="0" tIns="0" rIns="0" bIns="0" rtlCol="0" anchor="ctr">
            <a:normAutofit/>
          </a:bodyPr>
          <a:lstStyle/>
          <a:p>
            <a:pPr algn="l" indent="0" marL="0">
              <a:buNone/>
            </a:pPr>
            <a:r>
              <a:rPr lang="en-US" sz="850" b="1" dirty="0">
                <a:solidFill>
                  <a:srgbClr val="5FE1A0"/>
                </a:solidFill>
                <a:latin typeface="Aptos" pitchFamily="34" charset="0"/>
                <a:ea typeface="Aptos" pitchFamily="34" charset="-122"/>
                <a:cs typeface="Aptos" pitchFamily="34" charset="-120"/>
              </a:rPr>
              <a:t>Debug Gate</a:t>
            </a:r>
            <a:endParaRPr lang="en-US" sz="850" dirty="0"/>
          </a:p>
        </p:txBody>
      </p:sp>
      <p:sp>
        <p:nvSpPr>
          <p:cNvPr id="25" name="Text 23"/>
          <p:cNvSpPr txBox="1"/>
          <p:nvPr/>
        </p:nvSpPr>
        <p:spPr>
          <a:xfrm>
            <a:off x="1691640" y="5020056"/>
            <a:ext cx="4937760" cy="219456"/>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Production debug access requires attested authorization</a:t>
            </a:r>
            <a:endParaRPr lang="en-US" sz="1050" dirty="0"/>
          </a:p>
        </p:txBody>
      </p:sp>
      <p:sp>
        <p:nvSpPr>
          <p:cNvPr id="26" name="Shape 24"/>
          <p:cNvSpPr/>
          <p:nvPr/>
        </p:nvSpPr>
        <p:spPr>
          <a:xfrm>
            <a:off x="7260336" y="1847088"/>
            <a:ext cx="4325112" cy="3931920"/>
          </a:xfrm>
          <a:prstGeom prst="roundRect">
            <a:avLst>
              <a:gd name="adj" fmla="val 3721"/>
            </a:avLst>
          </a:prstGeom>
          <a:solidFill>
            <a:srgbClr val="101A2A"/>
          </a:solidFill>
          <a:ln w="12700">
            <a:solidFill>
              <a:srgbClr val="FF6B35"/>
            </a:solidFill>
            <a:prstDash val="solid"/>
          </a:ln>
          <a:effectLst>
            <a:outerShdw sx="100000" sy="100000" kx="0" ky="0" algn="bl" rotWithShape="0" blurRad="2.3828923048104974e+82" dist="1.1914461524052487e+82" dir="1.6452712980283393e+97">
              <a:srgbClr val="000000">
                <a:alpha val="2.2000000000000003e+99"/>
              </a:srgbClr>
            </a:outerShdw>
          </a:effectLst>
        </p:spPr>
      </p:sp>
      <p:sp>
        <p:nvSpPr>
          <p:cNvPr id="27" name="Text 25"/>
          <p:cNvSpPr txBox="1"/>
          <p:nvPr/>
        </p:nvSpPr>
        <p:spPr>
          <a:xfrm>
            <a:off x="7516368" y="2121408"/>
            <a:ext cx="2011680" cy="228600"/>
          </a:xfrm>
          <a:prstGeom prst="rect">
            <a:avLst/>
          </a:prstGeom>
          <a:noFill/>
          <a:ln/>
        </p:spPr>
        <p:txBody>
          <a:bodyPr wrap="square" lIns="0" tIns="0" rIns="0" bIns="0" rtlCol="0" anchor="ctr">
            <a:normAutofit/>
          </a:bodyPr>
          <a:lstStyle/>
          <a:p>
            <a:pPr algn="l" indent="0" marL="0">
              <a:buNone/>
            </a:pPr>
            <a:r>
              <a:rPr lang="en-US" sz="900" b="1" spc="120" kern="0" dirty="0">
                <a:solidFill>
                  <a:srgbClr val="3BD6E8"/>
                </a:solidFill>
                <a:latin typeface="Aptos" pitchFamily="34" charset="0"/>
                <a:ea typeface="Aptos" pitchFamily="34" charset="-122"/>
                <a:cs typeface="Aptos" pitchFamily="34" charset="-120"/>
              </a:rPr>
              <a:t>SPATIAL ISOLATION</a:t>
            </a:r>
            <a:endParaRPr lang="en-US" sz="900" dirty="0"/>
          </a:p>
        </p:txBody>
      </p:sp>
      <p:sp>
        <p:nvSpPr>
          <p:cNvPr id="28" name="Shape 26"/>
          <p:cNvSpPr/>
          <p:nvPr/>
        </p:nvSpPr>
        <p:spPr>
          <a:xfrm>
            <a:off x="7543800" y="2633472"/>
            <a:ext cx="475488" cy="310896"/>
          </a:xfrm>
          <a:prstGeom prst="rect">
            <a:avLst/>
          </a:prstGeom>
          <a:solidFill>
            <a:srgbClr val="FF6B35">
              <a:alpha val="28000"/>
            </a:srgbClr>
          </a:solidFill>
          <a:ln w="12700">
            <a:solidFill>
              <a:srgbClr val="FF6B35">
                <a:alpha val="65000"/>
              </a:srgbClr>
            </a:solidFill>
            <a:prstDash val="solid"/>
          </a:ln>
        </p:spPr>
      </p:sp>
      <p:sp>
        <p:nvSpPr>
          <p:cNvPr id="29" name="Shape 27"/>
          <p:cNvSpPr/>
          <p:nvPr/>
        </p:nvSpPr>
        <p:spPr>
          <a:xfrm>
            <a:off x="8147304" y="2633472"/>
            <a:ext cx="475488" cy="310896"/>
          </a:xfrm>
          <a:prstGeom prst="rect">
            <a:avLst/>
          </a:prstGeom>
          <a:solidFill>
            <a:srgbClr val="FF6B35">
              <a:alpha val="28000"/>
            </a:srgbClr>
          </a:solidFill>
          <a:ln w="12700">
            <a:solidFill>
              <a:srgbClr val="FF6B35">
                <a:alpha val="65000"/>
              </a:srgbClr>
            </a:solidFill>
            <a:prstDash val="solid"/>
          </a:ln>
        </p:spPr>
      </p:sp>
      <p:sp>
        <p:nvSpPr>
          <p:cNvPr id="30" name="Shape 28"/>
          <p:cNvSpPr/>
          <p:nvPr/>
        </p:nvSpPr>
        <p:spPr>
          <a:xfrm>
            <a:off x="8750808" y="2633472"/>
            <a:ext cx="475488" cy="310896"/>
          </a:xfrm>
          <a:prstGeom prst="rect">
            <a:avLst/>
          </a:prstGeom>
          <a:solidFill>
            <a:srgbClr val="FF6B35">
              <a:alpha val="28000"/>
            </a:srgbClr>
          </a:solidFill>
          <a:ln w="12700">
            <a:solidFill>
              <a:srgbClr val="FF6B35">
                <a:alpha val="65000"/>
              </a:srgbClr>
            </a:solidFill>
            <a:prstDash val="solid"/>
          </a:ln>
        </p:spPr>
      </p:sp>
      <p:sp>
        <p:nvSpPr>
          <p:cNvPr id="31" name="Shape 29"/>
          <p:cNvSpPr/>
          <p:nvPr/>
        </p:nvSpPr>
        <p:spPr>
          <a:xfrm>
            <a:off x="9354312" y="2633472"/>
            <a:ext cx="475488" cy="310896"/>
          </a:xfrm>
          <a:prstGeom prst="rect">
            <a:avLst/>
          </a:prstGeom>
          <a:solidFill>
            <a:srgbClr val="FF6B35">
              <a:alpha val="28000"/>
            </a:srgbClr>
          </a:solidFill>
          <a:ln w="12700">
            <a:solidFill>
              <a:srgbClr val="FF6B35">
                <a:alpha val="65000"/>
              </a:srgbClr>
            </a:solidFill>
            <a:prstDash val="solid"/>
          </a:ln>
        </p:spPr>
      </p:sp>
      <p:sp>
        <p:nvSpPr>
          <p:cNvPr id="32" name="Shape 30"/>
          <p:cNvSpPr/>
          <p:nvPr/>
        </p:nvSpPr>
        <p:spPr>
          <a:xfrm>
            <a:off x="9957816" y="2633472"/>
            <a:ext cx="475488" cy="310896"/>
          </a:xfrm>
          <a:prstGeom prst="rect">
            <a:avLst/>
          </a:prstGeom>
          <a:solidFill>
            <a:srgbClr val="3BD6E8">
              <a:alpha val="18000"/>
            </a:srgbClr>
          </a:solidFill>
          <a:ln w="12700">
            <a:solidFill>
              <a:srgbClr val="3BD6E8">
                <a:alpha val="65000"/>
              </a:srgbClr>
            </a:solidFill>
            <a:prstDash val="solid"/>
          </a:ln>
        </p:spPr>
      </p:sp>
      <p:sp>
        <p:nvSpPr>
          <p:cNvPr id="33" name="Shape 31"/>
          <p:cNvSpPr/>
          <p:nvPr/>
        </p:nvSpPr>
        <p:spPr>
          <a:xfrm>
            <a:off x="7543800" y="3090672"/>
            <a:ext cx="475488" cy="310896"/>
          </a:xfrm>
          <a:prstGeom prst="rect">
            <a:avLst/>
          </a:prstGeom>
          <a:solidFill>
            <a:srgbClr val="FF6B35">
              <a:alpha val="28000"/>
            </a:srgbClr>
          </a:solidFill>
          <a:ln w="12700">
            <a:solidFill>
              <a:srgbClr val="FF6B35">
                <a:alpha val="65000"/>
              </a:srgbClr>
            </a:solidFill>
            <a:prstDash val="solid"/>
          </a:ln>
        </p:spPr>
      </p:sp>
      <p:sp>
        <p:nvSpPr>
          <p:cNvPr id="34" name="Shape 32"/>
          <p:cNvSpPr/>
          <p:nvPr/>
        </p:nvSpPr>
        <p:spPr>
          <a:xfrm>
            <a:off x="8147304" y="3090672"/>
            <a:ext cx="475488" cy="310896"/>
          </a:xfrm>
          <a:prstGeom prst="rect">
            <a:avLst/>
          </a:prstGeom>
          <a:solidFill>
            <a:srgbClr val="FF6B35">
              <a:alpha val="28000"/>
            </a:srgbClr>
          </a:solidFill>
          <a:ln w="12700">
            <a:solidFill>
              <a:srgbClr val="FF6B35">
                <a:alpha val="65000"/>
              </a:srgbClr>
            </a:solidFill>
            <a:prstDash val="solid"/>
          </a:ln>
        </p:spPr>
      </p:sp>
      <p:sp>
        <p:nvSpPr>
          <p:cNvPr id="35" name="Shape 33"/>
          <p:cNvSpPr/>
          <p:nvPr/>
        </p:nvSpPr>
        <p:spPr>
          <a:xfrm>
            <a:off x="8750808" y="3090672"/>
            <a:ext cx="475488" cy="310896"/>
          </a:xfrm>
          <a:prstGeom prst="rect">
            <a:avLst/>
          </a:prstGeom>
          <a:solidFill>
            <a:srgbClr val="FF6B35">
              <a:alpha val="28000"/>
            </a:srgbClr>
          </a:solidFill>
          <a:ln w="12700">
            <a:solidFill>
              <a:srgbClr val="FF6B35">
                <a:alpha val="65000"/>
              </a:srgbClr>
            </a:solidFill>
            <a:prstDash val="solid"/>
          </a:ln>
        </p:spPr>
      </p:sp>
      <p:sp>
        <p:nvSpPr>
          <p:cNvPr id="36" name="Shape 34"/>
          <p:cNvSpPr/>
          <p:nvPr/>
        </p:nvSpPr>
        <p:spPr>
          <a:xfrm>
            <a:off x="9354312" y="3090672"/>
            <a:ext cx="475488" cy="310896"/>
          </a:xfrm>
          <a:prstGeom prst="rect">
            <a:avLst/>
          </a:prstGeom>
          <a:solidFill>
            <a:srgbClr val="FF6B35">
              <a:alpha val="28000"/>
            </a:srgbClr>
          </a:solidFill>
          <a:ln w="12700">
            <a:solidFill>
              <a:srgbClr val="FF6B35">
                <a:alpha val="65000"/>
              </a:srgbClr>
            </a:solidFill>
            <a:prstDash val="solid"/>
          </a:ln>
        </p:spPr>
      </p:sp>
      <p:sp>
        <p:nvSpPr>
          <p:cNvPr id="37" name="Shape 35"/>
          <p:cNvSpPr/>
          <p:nvPr/>
        </p:nvSpPr>
        <p:spPr>
          <a:xfrm>
            <a:off x="9957816" y="3090672"/>
            <a:ext cx="475488" cy="310896"/>
          </a:xfrm>
          <a:prstGeom prst="rect">
            <a:avLst/>
          </a:prstGeom>
          <a:solidFill>
            <a:srgbClr val="3BD6E8">
              <a:alpha val="18000"/>
            </a:srgbClr>
          </a:solidFill>
          <a:ln w="12700">
            <a:solidFill>
              <a:srgbClr val="3BD6E8">
                <a:alpha val="65000"/>
              </a:srgbClr>
            </a:solidFill>
            <a:prstDash val="solid"/>
          </a:ln>
        </p:spPr>
      </p:sp>
      <p:sp>
        <p:nvSpPr>
          <p:cNvPr id="38" name="Shape 36"/>
          <p:cNvSpPr/>
          <p:nvPr/>
        </p:nvSpPr>
        <p:spPr>
          <a:xfrm>
            <a:off x="7543800" y="3547872"/>
            <a:ext cx="475488" cy="310896"/>
          </a:xfrm>
          <a:prstGeom prst="rect">
            <a:avLst/>
          </a:prstGeom>
          <a:solidFill>
            <a:srgbClr val="FF6B35">
              <a:alpha val="28000"/>
            </a:srgbClr>
          </a:solidFill>
          <a:ln w="12700">
            <a:solidFill>
              <a:srgbClr val="FF6B35">
                <a:alpha val="65000"/>
              </a:srgbClr>
            </a:solidFill>
            <a:prstDash val="solid"/>
          </a:ln>
        </p:spPr>
      </p:sp>
      <p:sp>
        <p:nvSpPr>
          <p:cNvPr id="39" name="Shape 37"/>
          <p:cNvSpPr/>
          <p:nvPr/>
        </p:nvSpPr>
        <p:spPr>
          <a:xfrm>
            <a:off x="8147304" y="3547872"/>
            <a:ext cx="475488" cy="310896"/>
          </a:xfrm>
          <a:prstGeom prst="rect">
            <a:avLst/>
          </a:prstGeom>
          <a:solidFill>
            <a:srgbClr val="FF6B35">
              <a:alpha val="28000"/>
            </a:srgbClr>
          </a:solidFill>
          <a:ln w="12700">
            <a:solidFill>
              <a:srgbClr val="FF6B35">
                <a:alpha val="65000"/>
              </a:srgbClr>
            </a:solidFill>
            <a:prstDash val="solid"/>
          </a:ln>
        </p:spPr>
      </p:sp>
      <p:sp>
        <p:nvSpPr>
          <p:cNvPr id="40" name="Shape 38"/>
          <p:cNvSpPr/>
          <p:nvPr/>
        </p:nvSpPr>
        <p:spPr>
          <a:xfrm>
            <a:off x="8750808" y="3547872"/>
            <a:ext cx="475488" cy="310896"/>
          </a:xfrm>
          <a:prstGeom prst="rect">
            <a:avLst/>
          </a:prstGeom>
          <a:solidFill>
            <a:srgbClr val="FF6B35">
              <a:alpha val="28000"/>
            </a:srgbClr>
          </a:solidFill>
          <a:ln w="12700">
            <a:solidFill>
              <a:srgbClr val="FF6B35">
                <a:alpha val="65000"/>
              </a:srgbClr>
            </a:solidFill>
            <a:prstDash val="solid"/>
          </a:ln>
        </p:spPr>
      </p:sp>
      <p:sp>
        <p:nvSpPr>
          <p:cNvPr id="41" name="Shape 39"/>
          <p:cNvSpPr/>
          <p:nvPr/>
        </p:nvSpPr>
        <p:spPr>
          <a:xfrm>
            <a:off x="9354312" y="3547872"/>
            <a:ext cx="475488" cy="310896"/>
          </a:xfrm>
          <a:prstGeom prst="rect">
            <a:avLst/>
          </a:prstGeom>
          <a:solidFill>
            <a:srgbClr val="FF6B35">
              <a:alpha val="28000"/>
            </a:srgbClr>
          </a:solidFill>
          <a:ln w="12700">
            <a:solidFill>
              <a:srgbClr val="FF6B35">
                <a:alpha val="65000"/>
              </a:srgbClr>
            </a:solidFill>
            <a:prstDash val="solid"/>
          </a:ln>
        </p:spPr>
      </p:sp>
      <p:sp>
        <p:nvSpPr>
          <p:cNvPr id="42" name="Shape 40"/>
          <p:cNvSpPr/>
          <p:nvPr/>
        </p:nvSpPr>
        <p:spPr>
          <a:xfrm>
            <a:off x="9957816" y="3547872"/>
            <a:ext cx="475488" cy="310896"/>
          </a:xfrm>
          <a:prstGeom prst="rect">
            <a:avLst/>
          </a:prstGeom>
          <a:solidFill>
            <a:srgbClr val="3BD6E8">
              <a:alpha val="18000"/>
            </a:srgbClr>
          </a:solidFill>
          <a:ln w="12700">
            <a:solidFill>
              <a:srgbClr val="3BD6E8">
                <a:alpha val="65000"/>
              </a:srgbClr>
            </a:solidFill>
            <a:prstDash val="solid"/>
          </a:ln>
        </p:spPr>
      </p:sp>
      <p:sp>
        <p:nvSpPr>
          <p:cNvPr id="43" name="Shape 41"/>
          <p:cNvSpPr/>
          <p:nvPr/>
        </p:nvSpPr>
        <p:spPr>
          <a:xfrm>
            <a:off x="7543800" y="4005072"/>
            <a:ext cx="475488" cy="310896"/>
          </a:xfrm>
          <a:prstGeom prst="rect">
            <a:avLst/>
          </a:prstGeom>
          <a:solidFill>
            <a:srgbClr val="3BD6E8">
              <a:alpha val="18000"/>
            </a:srgbClr>
          </a:solidFill>
          <a:ln w="12700">
            <a:solidFill>
              <a:srgbClr val="3BD6E8">
                <a:alpha val="65000"/>
              </a:srgbClr>
            </a:solidFill>
            <a:prstDash val="solid"/>
          </a:ln>
        </p:spPr>
      </p:sp>
      <p:sp>
        <p:nvSpPr>
          <p:cNvPr id="44" name="Shape 42"/>
          <p:cNvSpPr/>
          <p:nvPr/>
        </p:nvSpPr>
        <p:spPr>
          <a:xfrm>
            <a:off x="8147304" y="4005072"/>
            <a:ext cx="475488" cy="310896"/>
          </a:xfrm>
          <a:prstGeom prst="rect">
            <a:avLst/>
          </a:prstGeom>
          <a:solidFill>
            <a:srgbClr val="3BD6E8">
              <a:alpha val="18000"/>
            </a:srgbClr>
          </a:solidFill>
          <a:ln w="12700">
            <a:solidFill>
              <a:srgbClr val="3BD6E8">
                <a:alpha val="65000"/>
              </a:srgbClr>
            </a:solidFill>
            <a:prstDash val="solid"/>
          </a:ln>
        </p:spPr>
      </p:sp>
      <p:sp>
        <p:nvSpPr>
          <p:cNvPr id="45" name="Shape 43"/>
          <p:cNvSpPr/>
          <p:nvPr/>
        </p:nvSpPr>
        <p:spPr>
          <a:xfrm>
            <a:off x="8750808" y="4005072"/>
            <a:ext cx="475488" cy="310896"/>
          </a:xfrm>
          <a:prstGeom prst="rect">
            <a:avLst/>
          </a:prstGeom>
          <a:solidFill>
            <a:srgbClr val="3BD6E8">
              <a:alpha val="18000"/>
            </a:srgbClr>
          </a:solidFill>
          <a:ln w="12700">
            <a:solidFill>
              <a:srgbClr val="3BD6E8">
                <a:alpha val="65000"/>
              </a:srgbClr>
            </a:solidFill>
            <a:prstDash val="solid"/>
          </a:ln>
        </p:spPr>
      </p:sp>
      <p:sp>
        <p:nvSpPr>
          <p:cNvPr id="46" name="Shape 44"/>
          <p:cNvSpPr/>
          <p:nvPr/>
        </p:nvSpPr>
        <p:spPr>
          <a:xfrm>
            <a:off x="9354312" y="4005072"/>
            <a:ext cx="475488" cy="310896"/>
          </a:xfrm>
          <a:prstGeom prst="rect">
            <a:avLst/>
          </a:prstGeom>
          <a:solidFill>
            <a:srgbClr val="3BD6E8">
              <a:alpha val="18000"/>
            </a:srgbClr>
          </a:solidFill>
          <a:ln w="12700">
            <a:solidFill>
              <a:srgbClr val="3BD6E8">
                <a:alpha val="65000"/>
              </a:srgbClr>
            </a:solidFill>
            <a:prstDash val="solid"/>
          </a:ln>
        </p:spPr>
      </p:sp>
      <p:sp>
        <p:nvSpPr>
          <p:cNvPr id="47" name="Shape 45"/>
          <p:cNvSpPr/>
          <p:nvPr/>
        </p:nvSpPr>
        <p:spPr>
          <a:xfrm>
            <a:off x="9957816" y="4005072"/>
            <a:ext cx="475488" cy="310896"/>
          </a:xfrm>
          <a:prstGeom prst="rect">
            <a:avLst/>
          </a:prstGeom>
          <a:solidFill>
            <a:srgbClr val="3BD6E8">
              <a:alpha val="18000"/>
            </a:srgbClr>
          </a:solidFill>
          <a:ln w="12700">
            <a:solidFill>
              <a:srgbClr val="3BD6E8">
                <a:alpha val="65000"/>
              </a:srgbClr>
            </a:solidFill>
            <a:prstDash val="solid"/>
          </a:ln>
        </p:spPr>
      </p:sp>
      <p:sp>
        <p:nvSpPr>
          <p:cNvPr id="48" name="Shape 46"/>
          <p:cNvSpPr/>
          <p:nvPr/>
        </p:nvSpPr>
        <p:spPr>
          <a:xfrm>
            <a:off x="7543800" y="4462272"/>
            <a:ext cx="475488" cy="310896"/>
          </a:xfrm>
          <a:prstGeom prst="rect">
            <a:avLst/>
          </a:prstGeom>
          <a:solidFill>
            <a:srgbClr val="3BD6E8">
              <a:alpha val="18000"/>
            </a:srgbClr>
          </a:solidFill>
          <a:ln w="12700">
            <a:solidFill>
              <a:srgbClr val="3BD6E8">
                <a:alpha val="65000"/>
              </a:srgbClr>
            </a:solidFill>
            <a:prstDash val="solid"/>
          </a:ln>
        </p:spPr>
      </p:sp>
      <p:sp>
        <p:nvSpPr>
          <p:cNvPr id="49" name="Shape 47"/>
          <p:cNvSpPr/>
          <p:nvPr/>
        </p:nvSpPr>
        <p:spPr>
          <a:xfrm>
            <a:off x="8147304" y="4462272"/>
            <a:ext cx="475488" cy="310896"/>
          </a:xfrm>
          <a:prstGeom prst="rect">
            <a:avLst/>
          </a:prstGeom>
          <a:solidFill>
            <a:srgbClr val="3BD6E8">
              <a:alpha val="18000"/>
            </a:srgbClr>
          </a:solidFill>
          <a:ln w="12700">
            <a:solidFill>
              <a:srgbClr val="3BD6E8">
                <a:alpha val="65000"/>
              </a:srgbClr>
            </a:solidFill>
            <a:prstDash val="solid"/>
          </a:ln>
        </p:spPr>
      </p:sp>
      <p:sp>
        <p:nvSpPr>
          <p:cNvPr id="50" name="Shape 48"/>
          <p:cNvSpPr/>
          <p:nvPr/>
        </p:nvSpPr>
        <p:spPr>
          <a:xfrm>
            <a:off x="8750808" y="4462272"/>
            <a:ext cx="475488" cy="310896"/>
          </a:xfrm>
          <a:prstGeom prst="rect">
            <a:avLst/>
          </a:prstGeom>
          <a:solidFill>
            <a:srgbClr val="3BD6E8">
              <a:alpha val="18000"/>
            </a:srgbClr>
          </a:solidFill>
          <a:ln w="12700">
            <a:solidFill>
              <a:srgbClr val="3BD6E8">
                <a:alpha val="65000"/>
              </a:srgbClr>
            </a:solidFill>
            <a:prstDash val="solid"/>
          </a:ln>
        </p:spPr>
      </p:sp>
      <p:sp>
        <p:nvSpPr>
          <p:cNvPr id="51" name="Shape 49"/>
          <p:cNvSpPr/>
          <p:nvPr/>
        </p:nvSpPr>
        <p:spPr>
          <a:xfrm>
            <a:off x="9354312" y="4462272"/>
            <a:ext cx="475488" cy="310896"/>
          </a:xfrm>
          <a:prstGeom prst="rect">
            <a:avLst/>
          </a:prstGeom>
          <a:solidFill>
            <a:srgbClr val="3BD6E8">
              <a:alpha val="18000"/>
            </a:srgbClr>
          </a:solidFill>
          <a:ln w="12700">
            <a:solidFill>
              <a:srgbClr val="3BD6E8">
                <a:alpha val="65000"/>
              </a:srgbClr>
            </a:solidFill>
            <a:prstDash val="solid"/>
          </a:ln>
        </p:spPr>
      </p:sp>
      <p:sp>
        <p:nvSpPr>
          <p:cNvPr id="52" name="Shape 50"/>
          <p:cNvSpPr/>
          <p:nvPr/>
        </p:nvSpPr>
        <p:spPr>
          <a:xfrm>
            <a:off x="9957816" y="4462272"/>
            <a:ext cx="475488" cy="310896"/>
          </a:xfrm>
          <a:prstGeom prst="rect">
            <a:avLst/>
          </a:prstGeom>
          <a:solidFill>
            <a:srgbClr val="3BD6E8">
              <a:alpha val="18000"/>
            </a:srgbClr>
          </a:solidFill>
          <a:ln w="12700">
            <a:solidFill>
              <a:srgbClr val="3BD6E8">
                <a:alpha val="65000"/>
              </a:srgbClr>
            </a:solidFill>
            <a:prstDash val="solid"/>
          </a:ln>
        </p:spPr>
      </p:sp>
      <p:sp>
        <p:nvSpPr>
          <p:cNvPr id="53" name="Text 51"/>
          <p:cNvSpPr txBox="1"/>
          <p:nvPr/>
        </p:nvSpPr>
        <p:spPr>
          <a:xfrm>
            <a:off x="7735824" y="4069080"/>
            <a:ext cx="164592" cy="182880"/>
          </a:xfrm>
          <a:prstGeom prst="rect">
            <a:avLst/>
          </a:prstGeom>
          <a:noFill/>
          <a:ln/>
        </p:spPr>
        <p:txBody>
          <a:bodyPr wrap="square" lIns="0" tIns="0" rIns="0" bIns="0" rtlCol="0" anchor="ctr">
            <a:normAutofit/>
          </a:bodyPr>
          <a:lstStyle/>
          <a:p>
            <a:pPr algn="ctr" indent="0" marL="0">
              <a:buNone/>
            </a:pPr>
            <a:r>
              <a:rPr lang="en-US" sz="1000" b="1" dirty="0">
                <a:solidFill>
                  <a:srgbClr val="FF6B35"/>
                </a:solidFill>
                <a:latin typeface="Aptos" pitchFamily="34" charset="0"/>
                <a:ea typeface="Aptos" pitchFamily="34" charset="-122"/>
                <a:cs typeface="Aptos" pitchFamily="34" charset="-120"/>
              </a:rPr>
              <a:t>A</a:t>
            </a:r>
            <a:endParaRPr lang="en-US" sz="1000" dirty="0"/>
          </a:p>
        </p:txBody>
      </p:sp>
      <p:sp>
        <p:nvSpPr>
          <p:cNvPr id="54" name="Text 52"/>
          <p:cNvSpPr txBox="1"/>
          <p:nvPr/>
        </p:nvSpPr>
        <p:spPr>
          <a:xfrm>
            <a:off x="8942832" y="4983480"/>
            <a:ext cx="164592" cy="182880"/>
          </a:xfrm>
          <a:prstGeom prst="rect">
            <a:avLst/>
          </a:prstGeom>
          <a:noFill/>
          <a:ln/>
        </p:spPr>
        <p:txBody>
          <a:bodyPr wrap="square" lIns="0" tIns="0" rIns="0" bIns="0" rtlCol="0" anchor="ctr">
            <a:normAutofit/>
          </a:bodyPr>
          <a:lstStyle/>
          <a:p>
            <a:pPr algn="ctr" indent="0" marL="0">
              <a:buNone/>
            </a:pPr>
            <a:r>
              <a:rPr lang="en-US" sz="1000" b="1" dirty="0">
                <a:solidFill>
                  <a:srgbClr val="3BD6E8"/>
                </a:solidFill>
                <a:latin typeface="Aptos" pitchFamily="34" charset="0"/>
                <a:ea typeface="Aptos" pitchFamily="34" charset="-122"/>
                <a:cs typeface="Aptos" pitchFamily="34" charset="-120"/>
              </a:rPr>
              <a:t>B</a:t>
            </a:r>
            <a:endParaRPr lang="en-US" sz="1000" dirty="0"/>
          </a:p>
        </p:txBody>
      </p:sp>
      <p:sp>
        <p:nvSpPr>
          <p:cNvPr id="55" name="Text 53"/>
          <p:cNvSpPr txBox="1"/>
          <p:nvPr/>
        </p:nvSpPr>
        <p:spPr>
          <a:xfrm>
            <a:off x="7543800" y="5239512"/>
            <a:ext cx="3657600" cy="365760"/>
          </a:xfrm>
          <a:prstGeom prst="rect">
            <a:avLst/>
          </a:prstGeom>
          <a:noFill/>
          <a:ln/>
        </p:spPr>
        <p:txBody>
          <a:bodyPr wrap="square" lIns="0" tIns="0" rIns="0" bIns="0" rtlCol="0" anchor="ctr">
            <a:normAutofit/>
          </a:bodyPr>
          <a:lstStyle/>
          <a:p>
            <a:pPr algn="ctr" indent="0" marL="0">
              <a:buNone/>
            </a:pPr>
            <a:r>
              <a:rPr lang="en-US" sz="1020" dirty="0">
                <a:solidFill>
                  <a:srgbClr val="D8E2EF"/>
                </a:solidFill>
                <a:latin typeface="Aptos" pitchFamily="34" charset="0"/>
                <a:ea typeface="Aptos" pitchFamily="34" charset="-122"/>
                <a:cs typeface="Aptos" pitchFamily="34" charset="-120"/>
              </a:rPr>
              <a:t>Every memory region and fabric endpoint carries a security domain context.</a:t>
            </a:r>
            <a:endParaRPr lang="en-US" sz="1020" dirty="0"/>
          </a:p>
        </p:txBody>
      </p:sp>
      <p:sp>
        <p:nvSpPr>
          <p:cNvPr id="56" name="Text 54"/>
          <p:cNvSpPr txBox="1"/>
          <p:nvPr/>
        </p:nvSpPr>
        <p:spPr>
          <a:xfrm>
            <a:off x="566928" y="5961888"/>
            <a:ext cx="841248" cy="182880"/>
          </a:xfrm>
          <a:prstGeom prst="rect">
            <a:avLst/>
          </a:prstGeom>
          <a:noFill/>
          <a:ln/>
        </p:spPr>
        <p:txBody>
          <a:bodyPr wrap="square" lIns="0" tIns="0" rIns="0" bIns="0" rtlCol="0" anchor="ctr">
            <a:normAutofit/>
          </a:bodyPr>
          <a:lstStyle/>
          <a:p>
            <a:pPr algn="l" indent="0" marL="0">
              <a:buNone/>
            </a:pPr>
            <a:r>
              <a:rPr lang="en-US" sz="780" b="1" spc="100" kern="0" dirty="0">
                <a:solidFill>
                  <a:srgbClr val="FF6B35"/>
                </a:solidFill>
                <a:latin typeface="Aptos" pitchFamily="34" charset="0"/>
                <a:ea typeface="Aptos" pitchFamily="34" charset="-122"/>
                <a:cs typeface="Aptos" pitchFamily="34" charset="-120"/>
              </a:rPr>
              <a:t>Design goal</a:t>
            </a:r>
            <a:endParaRPr lang="en-US" sz="780" dirty="0"/>
          </a:p>
        </p:txBody>
      </p:sp>
      <p:sp>
        <p:nvSpPr>
          <p:cNvPr id="57" name="Text 55"/>
          <p:cNvSpPr txBox="1"/>
          <p:nvPr/>
        </p:nvSpPr>
        <p:spPr>
          <a:xfrm>
            <a:off x="1426464" y="5925312"/>
            <a:ext cx="9875520" cy="292608"/>
          </a:xfrm>
          <a:prstGeom prst="rect">
            <a:avLst/>
          </a:prstGeom>
          <a:noFill/>
          <a:ln/>
        </p:spPr>
        <p:txBody>
          <a:bodyPr wrap="square" lIns="0" tIns="0" rIns="0" bIns="0" rtlCol="0" anchor="ctr">
            <a:normAutofit/>
          </a:bodyPr>
          <a:lstStyle/>
          <a:p>
            <a:pPr algn="l" indent="0" marL="0">
              <a:buNone/>
            </a:pPr>
            <a:r>
              <a:rPr lang="en-US" sz="1170" b="1" dirty="0">
                <a:solidFill>
                  <a:srgbClr val="F5F7FA"/>
                </a:solidFill>
                <a:latin typeface="Aptos" pitchFamily="34" charset="0"/>
                <a:ea typeface="Aptos" pitchFamily="34" charset="-122"/>
                <a:cs typeface="Aptos" pitchFamily="34" charset="-120"/>
              </a:rPr>
              <a:t>A malicious host may control scheduling; it must not gain a valid capability to read or alter another domain’s state.</a:t>
            </a:r>
            <a:endParaRPr lang="en-US" sz="1170" dirty="0"/>
          </a:p>
        </p:txBody>
      </p:sp>
      <p:sp>
        <p:nvSpPr>
          <p:cNvPr id="58" name="Text 56"/>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Conceptual hardware design proposal. WSE-3/CS-4 architecture is from Cerebras public materials; the security mechanisms shown here are proposed.</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7 • CONFIDENTIAL INFERENCE</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Protect the model, prompt, KV cache, activations, and output.</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Encryption at rest and TLS are not substitutes for confidentiality during execution.</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08</a:t>
            </a:r>
            <a:endParaRPr lang="en-US" sz="1000" dirty="0"/>
          </a:p>
        </p:txBody>
      </p:sp>
      <p:sp>
        <p:nvSpPr>
          <p:cNvPr id="6" name="Shape 4"/>
          <p:cNvSpPr/>
          <p:nvPr/>
        </p:nvSpPr>
        <p:spPr>
          <a:xfrm>
            <a:off x="548640" y="2029968"/>
            <a:ext cx="2011680" cy="1444752"/>
          </a:xfrm>
          <a:prstGeom prst="roundRect">
            <a:avLst>
              <a:gd name="adj" fmla="val 10127"/>
            </a:avLst>
          </a:prstGeom>
          <a:solidFill>
            <a:srgbClr val="162337"/>
          </a:solidFill>
          <a:ln w="12700">
            <a:solidFill>
              <a:srgbClr val="24344E"/>
            </a:solidFill>
            <a:prstDash val="solid"/>
          </a:ln>
          <a:effectLst>
            <a:outerShdw sx="100000" sy="100000" kx="0" ky="0" algn="bl" rotWithShape="0" blurRad="3.0262732271093317e+86" dist="1.5131366135546659e+86" dir="9.871627788170037e+101">
              <a:srgbClr val="000000">
                <a:alpha val="2.2000000000000003e+104"/>
              </a:srgbClr>
            </a:outerShdw>
          </a:effectLst>
        </p:spPr>
      </p:sp>
      <p:sp>
        <p:nvSpPr>
          <p:cNvPr id="7" name="Shape 5"/>
          <p:cNvSpPr/>
          <p:nvPr/>
        </p:nvSpPr>
        <p:spPr>
          <a:xfrm>
            <a:off x="713232" y="2240280"/>
            <a:ext cx="347472" cy="347472"/>
          </a:xfrm>
          <a:prstGeom prst="ellipse">
            <a:avLst/>
          </a:prstGeom>
          <a:solidFill>
            <a:srgbClr val="FFD166">
              <a:alpha val="18000"/>
            </a:srgbClr>
          </a:solidFill>
          <a:ln w="15240">
            <a:solidFill>
              <a:srgbClr val="FFD166"/>
            </a:solidFill>
            <a:prstDash val="solid"/>
          </a:ln>
        </p:spPr>
      </p:sp>
      <p:sp>
        <p:nvSpPr>
          <p:cNvPr id="8" name="Text 6"/>
          <p:cNvSpPr txBox="1"/>
          <p:nvPr/>
        </p:nvSpPr>
        <p:spPr>
          <a:xfrm>
            <a:off x="713232" y="2249424"/>
            <a:ext cx="347472" cy="329184"/>
          </a:xfrm>
          <a:prstGeom prst="rect">
            <a:avLst/>
          </a:prstGeom>
          <a:noFill/>
          <a:ln/>
        </p:spPr>
        <p:txBody>
          <a:bodyPr wrap="square" lIns="0" tIns="0" rIns="0" bIns="0" rtlCol="0" anchor="ctr">
            <a:normAutofit/>
          </a:bodyPr>
          <a:lstStyle/>
          <a:p>
            <a:pPr algn="ctr" indent="0" marL="0">
              <a:buNone/>
            </a:pPr>
            <a:r>
              <a:rPr lang="en-US" sz="1500" b="1" dirty="0">
                <a:solidFill>
                  <a:srgbClr val="FFD166"/>
                </a:solidFill>
                <a:latin typeface="Aptos" pitchFamily="34" charset="0"/>
                <a:ea typeface="Aptos" pitchFamily="34" charset="-122"/>
                <a:cs typeface="Aptos" pitchFamily="34" charset="-120"/>
              </a:rPr>
              <a:t>1</a:t>
            </a:r>
            <a:endParaRPr lang="en-US" sz="1500" dirty="0"/>
          </a:p>
        </p:txBody>
      </p:sp>
      <p:sp>
        <p:nvSpPr>
          <p:cNvPr id="9" name="Text 7"/>
          <p:cNvSpPr txBox="1"/>
          <p:nvPr/>
        </p:nvSpPr>
        <p:spPr>
          <a:xfrm>
            <a:off x="1188720" y="2194560"/>
            <a:ext cx="1152144" cy="201168"/>
          </a:xfrm>
          <a:prstGeom prst="rect">
            <a:avLst/>
          </a:prstGeom>
          <a:noFill/>
          <a:ln/>
        </p:spPr>
        <p:txBody>
          <a:bodyPr wrap="square" lIns="0" tIns="0" rIns="0" bIns="0" rtlCol="0" anchor="ctr">
            <a:normAutofit/>
          </a:bodyPr>
          <a:lstStyle/>
          <a:p>
            <a:pPr algn="l" indent="0" marL="0">
              <a:buNone/>
            </a:pPr>
            <a:r>
              <a:rPr lang="en-US" sz="1050" b="1" dirty="0">
                <a:solidFill>
                  <a:srgbClr val="FFD166"/>
                </a:solidFill>
                <a:latin typeface="Aptos" pitchFamily="34" charset="0"/>
                <a:ea typeface="Aptos" pitchFamily="34" charset="-122"/>
                <a:cs typeface="Aptos" pitchFamily="34" charset="-120"/>
              </a:rPr>
              <a:t>Model owner</a:t>
            </a:r>
            <a:endParaRPr lang="en-US" sz="1050" dirty="0"/>
          </a:p>
        </p:txBody>
      </p:sp>
      <p:sp>
        <p:nvSpPr>
          <p:cNvPr id="10" name="Text 8"/>
          <p:cNvSpPr txBox="1"/>
          <p:nvPr/>
        </p:nvSpPr>
        <p:spPr>
          <a:xfrm>
            <a:off x="713232" y="2679192"/>
            <a:ext cx="1664208" cy="502920"/>
          </a:xfrm>
          <a:prstGeom prst="rect">
            <a:avLst/>
          </a:prstGeom>
          <a:noFill/>
          <a:ln/>
        </p:spPr>
        <p:txBody>
          <a:bodyPr wrap="square" lIns="0" tIns="0" rIns="0" bIns="0" rtlCol="0" anchor="ctr">
            <a:normAutofit/>
          </a:bodyPr>
          <a:lstStyle/>
          <a:p>
            <a:pPr algn="ctr" indent="0" marL="0">
              <a:buNone/>
            </a:pPr>
            <a:r>
              <a:rPr lang="en-US" sz="1120" b="1" dirty="0">
                <a:solidFill>
                  <a:srgbClr val="F5F7FA"/>
                </a:solidFill>
                <a:latin typeface="Aptos" pitchFamily="34" charset="0"/>
                <a:ea typeface="Aptos" pitchFamily="34" charset="-122"/>
                <a:cs typeface="Aptos" pitchFamily="34" charset="-120"/>
              </a:rPr>
              <a:t>Encrypted model image</a:t>
            </a:r>
            <a:endParaRPr lang="en-US" sz="1120" dirty="0"/>
          </a:p>
        </p:txBody>
      </p:sp>
      <p:sp>
        <p:nvSpPr>
          <p:cNvPr id="11" name="Shape 9"/>
          <p:cNvSpPr/>
          <p:nvPr/>
        </p:nvSpPr>
        <p:spPr>
          <a:xfrm>
            <a:off x="2560320" y="2752344"/>
            <a:ext cx="219456" cy="0"/>
          </a:xfrm>
          <a:prstGeom prst="line">
            <a:avLst/>
          </a:prstGeom>
          <a:noFill/>
          <a:ln w="20320">
            <a:solidFill>
              <a:srgbClr val="A9B6C8"/>
            </a:solidFill>
            <a:prstDash val="solid"/>
            <a:headEnd type="none"/>
            <a:tailEnd type="triangle"/>
          </a:ln>
        </p:spPr>
      </p:sp>
      <p:sp>
        <p:nvSpPr>
          <p:cNvPr id="12" name="Shape 10"/>
          <p:cNvSpPr/>
          <p:nvPr/>
        </p:nvSpPr>
        <p:spPr>
          <a:xfrm>
            <a:off x="2816352" y="2029968"/>
            <a:ext cx="2011680" cy="1444752"/>
          </a:xfrm>
          <a:prstGeom prst="roundRect">
            <a:avLst>
              <a:gd name="adj" fmla="val 10127"/>
            </a:avLst>
          </a:prstGeom>
          <a:solidFill>
            <a:srgbClr val="162337"/>
          </a:solidFill>
          <a:ln w="12700">
            <a:solidFill>
              <a:srgbClr val="24344E"/>
            </a:solidFill>
            <a:prstDash val="solid"/>
          </a:ln>
          <a:effectLst>
            <a:outerShdw sx="100000" sy="100000" kx="0" ky="0" algn="bl" rotWithShape="0" blurRad="3.8433669984288512e+90" dist="1.9216834992144256e+90" dir="5.9229766729020215e+106">
              <a:srgbClr val="000000">
                <a:alpha val="2.2000000000000003e+109"/>
              </a:srgbClr>
            </a:outerShdw>
          </a:effectLst>
        </p:spPr>
      </p:sp>
      <p:sp>
        <p:nvSpPr>
          <p:cNvPr id="13" name="Shape 11"/>
          <p:cNvSpPr/>
          <p:nvPr/>
        </p:nvSpPr>
        <p:spPr>
          <a:xfrm>
            <a:off x="2980944" y="2240280"/>
            <a:ext cx="347472" cy="347472"/>
          </a:xfrm>
          <a:prstGeom prst="ellipse">
            <a:avLst/>
          </a:prstGeom>
          <a:solidFill>
            <a:srgbClr val="5FE1A0">
              <a:alpha val="18000"/>
            </a:srgbClr>
          </a:solidFill>
          <a:ln w="15240">
            <a:solidFill>
              <a:srgbClr val="5FE1A0"/>
            </a:solidFill>
            <a:prstDash val="solid"/>
          </a:ln>
        </p:spPr>
      </p:sp>
      <p:sp>
        <p:nvSpPr>
          <p:cNvPr id="14" name="Text 12"/>
          <p:cNvSpPr txBox="1"/>
          <p:nvPr/>
        </p:nvSpPr>
        <p:spPr>
          <a:xfrm>
            <a:off x="2980944" y="2249424"/>
            <a:ext cx="347472" cy="329184"/>
          </a:xfrm>
          <a:prstGeom prst="rect">
            <a:avLst/>
          </a:prstGeom>
          <a:noFill/>
          <a:ln/>
        </p:spPr>
        <p:txBody>
          <a:bodyPr wrap="square" lIns="0" tIns="0" rIns="0" bIns="0" rtlCol="0" anchor="ctr">
            <a:normAutofit/>
          </a:bodyPr>
          <a:lstStyle/>
          <a:p>
            <a:pPr algn="ctr" indent="0" marL="0">
              <a:buNone/>
            </a:pPr>
            <a:r>
              <a:rPr lang="en-US" sz="1500" b="1" dirty="0">
                <a:solidFill>
                  <a:srgbClr val="5FE1A0"/>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3456432" y="2194560"/>
            <a:ext cx="1152144" cy="201168"/>
          </a:xfrm>
          <a:prstGeom prst="rect">
            <a:avLst/>
          </a:prstGeom>
          <a:noFill/>
          <a:ln/>
        </p:spPr>
        <p:txBody>
          <a:bodyPr wrap="square" lIns="0" tIns="0" rIns="0" bIns="0" rtlCol="0" anchor="ctr">
            <a:normAutofit/>
          </a:bodyPr>
          <a:lstStyle/>
          <a:p>
            <a:pPr algn="l" indent="0" marL="0">
              <a:buNone/>
            </a:pPr>
            <a:r>
              <a:rPr lang="en-US" sz="1050" b="1" dirty="0">
                <a:solidFill>
                  <a:srgbClr val="5FE1A0"/>
                </a:solidFill>
                <a:latin typeface="Aptos" pitchFamily="34" charset="0"/>
                <a:ea typeface="Aptos" pitchFamily="34" charset="-122"/>
                <a:cs typeface="Aptos" pitchFamily="34" charset="-120"/>
              </a:rPr>
              <a:t>Attestation</a:t>
            </a:r>
            <a:endParaRPr lang="en-US" sz="1050" dirty="0"/>
          </a:p>
        </p:txBody>
      </p:sp>
      <p:sp>
        <p:nvSpPr>
          <p:cNvPr id="16" name="Text 14"/>
          <p:cNvSpPr txBox="1"/>
          <p:nvPr/>
        </p:nvSpPr>
        <p:spPr>
          <a:xfrm>
            <a:off x="2980944" y="2679192"/>
            <a:ext cx="1664208" cy="502920"/>
          </a:xfrm>
          <a:prstGeom prst="rect">
            <a:avLst/>
          </a:prstGeom>
          <a:noFill/>
          <a:ln/>
        </p:spPr>
        <p:txBody>
          <a:bodyPr wrap="square" lIns="0" tIns="0" rIns="0" bIns="0" rtlCol="0" anchor="ctr">
            <a:normAutofit/>
          </a:bodyPr>
          <a:lstStyle/>
          <a:p>
            <a:pPr algn="ctr" indent="0" marL="0">
              <a:buNone/>
            </a:pPr>
            <a:r>
              <a:rPr lang="en-US" sz="1120" b="1" dirty="0">
                <a:solidFill>
                  <a:srgbClr val="F5F7FA"/>
                </a:solidFill>
                <a:latin typeface="Aptos" pitchFamily="34" charset="0"/>
                <a:ea typeface="Aptos" pitchFamily="34" charset="-122"/>
                <a:cs typeface="Aptos" pitchFamily="34" charset="-120"/>
              </a:rPr>
              <a:t>Verify CVM + WSE + workload</a:t>
            </a:r>
            <a:endParaRPr lang="en-US" sz="1120" dirty="0"/>
          </a:p>
        </p:txBody>
      </p:sp>
      <p:sp>
        <p:nvSpPr>
          <p:cNvPr id="17" name="Shape 15"/>
          <p:cNvSpPr/>
          <p:nvPr/>
        </p:nvSpPr>
        <p:spPr>
          <a:xfrm>
            <a:off x="4828032" y="2752344"/>
            <a:ext cx="219456" cy="0"/>
          </a:xfrm>
          <a:prstGeom prst="line">
            <a:avLst/>
          </a:prstGeom>
          <a:noFill/>
          <a:ln w="20320">
            <a:solidFill>
              <a:srgbClr val="A9B6C8"/>
            </a:solidFill>
            <a:prstDash val="solid"/>
            <a:headEnd type="none"/>
            <a:tailEnd type="triangle"/>
          </a:ln>
        </p:spPr>
      </p:sp>
      <p:sp>
        <p:nvSpPr>
          <p:cNvPr id="18" name="Shape 16"/>
          <p:cNvSpPr/>
          <p:nvPr/>
        </p:nvSpPr>
        <p:spPr>
          <a:xfrm>
            <a:off x="5084064" y="2029968"/>
            <a:ext cx="2011680" cy="1444752"/>
          </a:xfrm>
          <a:prstGeom prst="roundRect">
            <a:avLst>
              <a:gd name="adj" fmla="val 10127"/>
            </a:avLst>
          </a:prstGeom>
          <a:solidFill>
            <a:srgbClr val="162337"/>
          </a:solidFill>
          <a:ln w="12700">
            <a:solidFill>
              <a:srgbClr val="24344E"/>
            </a:solidFill>
            <a:prstDash val="solid"/>
          </a:ln>
          <a:effectLst>
            <a:outerShdw sx="100000" sy="100000" kx="0" ky="0" algn="bl" rotWithShape="0" blurRad="4.8810760880046414e+94" dist="2.4405380440023207e+94" dir="3.553786003741213e+111">
              <a:srgbClr val="000000">
                <a:alpha val="2.2000000000000003e+114"/>
              </a:srgbClr>
            </a:outerShdw>
          </a:effectLst>
        </p:spPr>
      </p:sp>
      <p:sp>
        <p:nvSpPr>
          <p:cNvPr id="19" name="Shape 17"/>
          <p:cNvSpPr/>
          <p:nvPr/>
        </p:nvSpPr>
        <p:spPr>
          <a:xfrm>
            <a:off x="5248656" y="2240280"/>
            <a:ext cx="347472" cy="347472"/>
          </a:xfrm>
          <a:prstGeom prst="ellipse">
            <a:avLst/>
          </a:prstGeom>
          <a:solidFill>
            <a:srgbClr val="FF6B35">
              <a:alpha val="18000"/>
            </a:srgbClr>
          </a:solidFill>
          <a:ln w="15240">
            <a:solidFill>
              <a:srgbClr val="FF6B35"/>
            </a:solidFill>
            <a:prstDash val="solid"/>
          </a:ln>
        </p:spPr>
      </p:sp>
      <p:sp>
        <p:nvSpPr>
          <p:cNvPr id="20" name="Text 18"/>
          <p:cNvSpPr txBox="1"/>
          <p:nvPr/>
        </p:nvSpPr>
        <p:spPr>
          <a:xfrm>
            <a:off x="5248656" y="2249424"/>
            <a:ext cx="347472" cy="329184"/>
          </a:xfrm>
          <a:prstGeom prst="rect">
            <a:avLst/>
          </a:prstGeom>
          <a:noFill/>
          <a:ln/>
        </p:spPr>
        <p:txBody>
          <a:bodyPr wrap="square" lIns="0" tIns="0" rIns="0" bIns="0" rtlCol="0" anchor="ctr">
            <a:normAutofit/>
          </a:bodyPr>
          <a:lstStyle/>
          <a:p>
            <a:pPr algn="ctr" indent="0" marL="0">
              <a:buNone/>
            </a:pPr>
            <a:r>
              <a:rPr lang="en-US" sz="1500" b="1" dirty="0">
                <a:solidFill>
                  <a:srgbClr val="FF6B35"/>
                </a:solidFill>
                <a:latin typeface="Aptos" pitchFamily="34" charset="0"/>
                <a:ea typeface="Aptos" pitchFamily="34" charset="-122"/>
                <a:cs typeface="Aptos" pitchFamily="34" charset="-120"/>
              </a:rPr>
              <a:t>3</a:t>
            </a:r>
            <a:endParaRPr lang="en-US" sz="1500" dirty="0"/>
          </a:p>
        </p:txBody>
      </p:sp>
      <p:sp>
        <p:nvSpPr>
          <p:cNvPr id="21" name="Text 19"/>
          <p:cNvSpPr txBox="1"/>
          <p:nvPr/>
        </p:nvSpPr>
        <p:spPr>
          <a:xfrm>
            <a:off x="5724144" y="2194560"/>
            <a:ext cx="1152144" cy="201168"/>
          </a:xfrm>
          <a:prstGeom prst="rect">
            <a:avLst/>
          </a:prstGeom>
          <a:noFill/>
          <a:ln/>
        </p:spPr>
        <p:txBody>
          <a:bodyPr wrap="square" lIns="0" tIns="0" rIns="0" bIns="0" rtlCol="0" anchor="ctr">
            <a:normAutofit/>
          </a:bodyPr>
          <a:lstStyle/>
          <a:p>
            <a:pPr algn="l" indent="0" marL="0">
              <a:buNone/>
            </a:pPr>
            <a:r>
              <a:rPr lang="en-US" sz="1050" b="1" dirty="0">
                <a:solidFill>
                  <a:srgbClr val="FF6B35"/>
                </a:solidFill>
                <a:latin typeface="Aptos" pitchFamily="34" charset="0"/>
                <a:ea typeface="Aptos" pitchFamily="34" charset="-122"/>
                <a:cs typeface="Aptos" pitchFamily="34" charset="-120"/>
              </a:rPr>
              <a:t>Key release</a:t>
            </a:r>
            <a:endParaRPr lang="en-US" sz="1050" dirty="0"/>
          </a:p>
        </p:txBody>
      </p:sp>
      <p:sp>
        <p:nvSpPr>
          <p:cNvPr id="22" name="Text 20"/>
          <p:cNvSpPr txBox="1"/>
          <p:nvPr/>
        </p:nvSpPr>
        <p:spPr>
          <a:xfrm>
            <a:off x="5248656" y="2679192"/>
            <a:ext cx="1664208" cy="502920"/>
          </a:xfrm>
          <a:prstGeom prst="rect">
            <a:avLst/>
          </a:prstGeom>
          <a:noFill/>
          <a:ln/>
        </p:spPr>
        <p:txBody>
          <a:bodyPr wrap="square" lIns="0" tIns="0" rIns="0" bIns="0" rtlCol="0" anchor="ctr">
            <a:normAutofit/>
          </a:bodyPr>
          <a:lstStyle/>
          <a:p>
            <a:pPr algn="ctr" indent="0" marL="0">
              <a:buNone/>
            </a:pPr>
            <a:r>
              <a:rPr lang="en-US" sz="1120" b="1" dirty="0">
                <a:solidFill>
                  <a:srgbClr val="F5F7FA"/>
                </a:solidFill>
                <a:latin typeface="Aptos" pitchFamily="34" charset="0"/>
                <a:ea typeface="Aptos" pitchFamily="34" charset="-122"/>
                <a:cs typeface="Aptos" pitchFamily="34" charset="-120"/>
              </a:rPr>
              <a:t>Decrypt only inside C-CCA</a:t>
            </a:r>
            <a:endParaRPr lang="en-US" sz="1120" dirty="0"/>
          </a:p>
        </p:txBody>
      </p:sp>
      <p:sp>
        <p:nvSpPr>
          <p:cNvPr id="23" name="Shape 21"/>
          <p:cNvSpPr/>
          <p:nvPr/>
        </p:nvSpPr>
        <p:spPr>
          <a:xfrm>
            <a:off x="7095744" y="2752344"/>
            <a:ext cx="219456" cy="0"/>
          </a:xfrm>
          <a:prstGeom prst="line">
            <a:avLst/>
          </a:prstGeom>
          <a:noFill/>
          <a:ln w="20320">
            <a:solidFill>
              <a:srgbClr val="A9B6C8"/>
            </a:solidFill>
            <a:prstDash val="solid"/>
            <a:headEnd type="none"/>
            <a:tailEnd type="triangle"/>
          </a:ln>
        </p:spPr>
      </p:sp>
      <p:sp>
        <p:nvSpPr>
          <p:cNvPr id="24" name="Shape 22"/>
          <p:cNvSpPr/>
          <p:nvPr/>
        </p:nvSpPr>
        <p:spPr>
          <a:xfrm>
            <a:off x="7351776" y="2029968"/>
            <a:ext cx="2011680" cy="1444752"/>
          </a:xfrm>
          <a:prstGeom prst="roundRect">
            <a:avLst>
              <a:gd name="adj" fmla="val 10127"/>
            </a:avLst>
          </a:prstGeom>
          <a:solidFill>
            <a:srgbClr val="162337"/>
          </a:solidFill>
          <a:ln w="12700">
            <a:solidFill>
              <a:srgbClr val="24344E"/>
            </a:solidFill>
            <a:prstDash val="solid"/>
          </a:ln>
          <a:effectLst>
            <a:outerShdw sx="100000" sy="100000" kx="0" ky="0" algn="bl" rotWithShape="0" blurRad="6.198966631765894e+98" dist="3.099483315882947e+98" dir="2.1322716022447277e+116">
              <a:srgbClr val="000000">
                <a:alpha val="2.2000000000000005e+119"/>
              </a:srgbClr>
            </a:outerShdw>
          </a:effectLst>
        </p:spPr>
      </p:sp>
      <p:sp>
        <p:nvSpPr>
          <p:cNvPr id="25" name="Shape 23"/>
          <p:cNvSpPr/>
          <p:nvPr/>
        </p:nvSpPr>
        <p:spPr>
          <a:xfrm>
            <a:off x="7516368" y="2240280"/>
            <a:ext cx="347472" cy="347472"/>
          </a:xfrm>
          <a:prstGeom prst="ellipse">
            <a:avLst/>
          </a:prstGeom>
          <a:solidFill>
            <a:srgbClr val="3BD6E8">
              <a:alpha val="18000"/>
            </a:srgbClr>
          </a:solidFill>
          <a:ln w="15240">
            <a:solidFill>
              <a:srgbClr val="3BD6E8"/>
            </a:solidFill>
            <a:prstDash val="solid"/>
          </a:ln>
        </p:spPr>
      </p:sp>
      <p:sp>
        <p:nvSpPr>
          <p:cNvPr id="26" name="Text 24"/>
          <p:cNvSpPr txBox="1"/>
          <p:nvPr/>
        </p:nvSpPr>
        <p:spPr>
          <a:xfrm>
            <a:off x="7516368" y="2249424"/>
            <a:ext cx="347472" cy="329184"/>
          </a:xfrm>
          <a:prstGeom prst="rect">
            <a:avLst/>
          </a:prstGeom>
          <a:noFill/>
          <a:ln/>
        </p:spPr>
        <p:txBody>
          <a:bodyPr wrap="square" lIns="0" tIns="0" rIns="0" bIns="0" rtlCol="0" anchor="ctr">
            <a:normAutofit/>
          </a:bodyPr>
          <a:lstStyle/>
          <a:p>
            <a:pPr algn="ctr" indent="0" marL="0">
              <a:buNone/>
            </a:pPr>
            <a:r>
              <a:rPr lang="en-US" sz="1500" b="1" dirty="0">
                <a:solidFill>
                  <a:srgbClr val="3BD6E8"/>
                </a:solidFill>
                <a:latin typeface="Aptos" pitchFamily="34" charset="0"/>
                <a:ea typeface="Aptos" pitchFamily="34" charset="-122"/>
                <a:cs typeface="Aptos" pitchFamily="34" charset="-120"/>
              </a:rPr>
              <a:t>4</a:t>
            </a:r>
            <a:endParaRPr lang="en-US" sz="1500" dirty="0"/>
          </a:p>
        </p:txBody>
      </p:sp>
      <p:sp>
        <p:nvSpPr>
          <p:cNvPr id="27" name="Text 25"/>
          <p:cNvSpPr txBox="1"/>
          <p:nvPr/>
        </p:nvSpPr>
        <p:spPr>
          <a:xfrm>
            <a:off x="7991856" y="2194560"/>
            <a:ext cx="1152144" cy="201168"/>
          </a:xfrm>
          <a:prstGeom prst="rect">
            <a:avLst/>
          </a:prstGeom>
          <a:noFill/>
          <a:ln/>
        </p:spPr>
        <p:txBody>
          <a:bodyPr wrap="square" lIns="0" tIns="0" rIns="0" bIns="0" rtlCol="0" anchor="ctr">
            <a:normAutofit/>
          </a:bodyPr>
          <a:lstStyle/>
          <a:p>
            <a:pPr algn="l" indent="0" marL="0">
              <a:buNone/>
            </a:pPr>
            <a:r>
              <a:rPr lang="en-US" sz="1050" b="1" dirty="0">
                <a:solidFill>
                  <a:srgbClr val="3BD6E8"/>
                </a:solidFill>
                <a:latin typeface="Aptos" pitchFamily="34" charset="0"/>
                <a:ea typeface="Aptos" pitchFamily="34" charset="-122"/>
                <a:cs typeface="Aptos" pitchFamily="34" charset="-120"/>
              </a:rPr>
              <a:t>Inference</a:t>
            </a:r>
            <a:endParaRPr lang="en-US" sz="1050" dirty="0"/>
          </a:p>
        </p:txBody>
      </p:sp>
      <p:sp>
        <p:nvSpPr>
          <p:cNvPr id="28" name="Text 26"/>
          <p:cNvSpPr txBox="1"/>
          <p:nvPr/>
        </p:nvSpPr>
        <p:spPr>
          <a:xfrm>
            <a:off x="7516368" y="2679192"/>
            <a:ext cx="1664208" cy="502920"/>
          </a:xfrm>
          <a:prstGeom prst="rect">
            <a:avLst/>
          </a:prstGeom>
          <a:noFill/>
          <a:ln/>
        </p:spPr>
        <p:txBody>
          <a:bodyPr wrap="square" lIns="0" tIns="0" rIns="0" bIns="0" rtlCol="0" anchor="ctr">
            <a:normAutofit/>
          </a:bodyPr>
          <a:lstStyle/>
          <a:p>
            <a:pPr algn="ctr" indent="0" marL="0">
              <a:buNone/>
            </a:pPr>
            <a:r>
              <a:rPr lang="en-US" sz="1120" b="1" dirty="0">
                <a:solidFill>
                  <a:srgbClr val="F5F7FA"/>
                </a:solidFill>
                <a:latin typeface="Aptos" pitchFamily="34" charset="0"/>
                <a:ea typeface="Aptos" pitchFamily="34" charset="-122"/>
                <a:cs typeface="Aptos" pitchFamily="34" charset="-120"/>
              </a:rPr>
              <a:t>Plaintext exists only in protected domain</a:t>
            </a:r>
            <a:endParaRPr lang="en-US" sz="1120" dirty="0"/>
          </a:p>
        </p:txBody>
      </p:sp>
      <p:sp>
        <p:nvSpPr>
          <p:cNvPr id="29" name="Shape 27"/>
          <p:cNvSpPr/>
          <p:nvPr/>
        </p:nvSpPr>
        <p:spPr>
          <a:xfrm>
            <a:off x="9363456" y="2752344"/>
            <a:ext cx="219456" cy="0"/>
          </a:xfrm>
          <a:prstGeom prst="line">
            <a:avLst/>
          </a:prstGeom>
          <a:noFill/>
          <a:ln w="20320">
            <a:solidFill>
              <a:srgbClr val="A9B6C8"/>
            </a:solidFill>
            <a:prstDash val="solid"/>
            <a:headEnd type="none"/>
            <a:tailEnd type="triangle"/>
          </a:ln>
        </p:spPr>
      </p:sp>
      <p:sp>
        <p:nvSpPr>
          <p:cNvPr id="30" name="Shape 28"/>
          <p:cNvSpPr/>
          <p:nvPr/>
        </p:nvSpPr>
        <p:spPr>
          <a:xfrm>
            <a:off x="9619488" y="2029968"/>
            <a:ext cx="2011680" cy="1444752"/>
          </a:xfrm>
          <a:prstGeom prst="roundRect">
            <a:avLst>
              <a:gd name="adj" fmla="val 10127"/>
            </a:avLst>
          </a:prstGeom>
          <a:solidFill>
            <a:srgbClr val="162337"/>
          </a:solidFill>
          <a:ln w="12700">
            <a:solidFill>
              <a:srgbClr val="24344E"/>
            </a:solidFill>
            <a:prstDash val="solid"/>
          </a:ln>
          <a:effectLst>
            <a:outerShdw sx="100000" sy="100000" kx="0" ky="0" algn="bl" rotWithShape="0" blurRad="7.872687622342685e+102" dist="3.9363438111713427e+102" dir="1.2793629613468366e+121">
              <a:srgbClr val="000000">
                <a:alpha val="2.2000000000000006e+124"/>
              </a:srgbClr>
            </a:outerShdw>
          </a:effectLst>
        </p:spPr>
      </p:sp>
      <p:sp>
        <p:nvSpPr>
          <p:cNvPr id="31" name="Shape 29"/>
          <p:cNvSpPr/>
          <p:nvPr/>
        </p:nvSpPr>
        <p:spPr>
          <a:xfrm>
            <a:off x="9784080" y="2240280"/>
            <a:ext cx="347472" cy="347472"/>
          </a:xfrm>
          <a:prstGeom prst="ellipse">
            <a:avLst/>
          </a:prstGeom>
          <a:solidFill>
            <a:srgbClr val="5FE1A0">
              <a:alpha val="18000"/>
            </a:srgbClr>
          </a:solidFill>
          <a:ln w="15240">
            <a:solidFill>
              <a:srgbClr val="5FE1A0"/>
            </a:solidFill>
            <a:prstDash val="solid"/>
          </a:ln>
        </p:spPr>
      </p:sp>
      <p:sp>
        <p:nvSpPr>
          <p:cNvPr id="32" name="Text 30"/>
          <p:cNvSpPr txBox="1"/>
          <p:nvPr/>
        </p:nvSpPr>
        <p:spPr>
          <a:xfrm>
            <a:off x="9784080" y="2249424"/>
            <a:ext cx="347472" cy="329184"/>
          </a:xfrm>
          <a:prstGeom prst="rect">
            <a:avLst/>
          </a:prstGeom>
          <a:noFill/>
          <a:ln/>
        </p:spPr>
        <p:txBody>
          <a:bodyPr wrap="square" lIns="0" tIns="0" rIns="0" bIns="0" rtlCol="0" anchor="ctr">
            <a:normAutofit/>
          </a:bodyPr>
          <a:lstStyle/>
          <a:p>
            <a:pPr algn="ctr" indent="0" marL="0">
              <a:buNone/>
            </a:pPr>
            <a:r>
              <a:rPr lang="en-US" sz="1500" b="1" dirty="0">
                <a:solidFill>
                  <a:srgbClr val="5FE1A0"/>
                </a:solidFill>
                <a:latin typeface="Aptos" pitchFamily="34" charset="0"/>
                <a:ea typeface="Aptos" pitchFamily="34" charset="-122"/>
                <a:cs typeface="Aptos" pitchFamily="34" charset="-120"/>
              </a:rPr>
              <a:t>5</a:t>
            </a:r>
            <a:endParaRPr lang="en-US" sz="1500" dirty="0"/>
          </a:p>
        </p:txBody>
      </p:sp>
      <p:sp>
        <p:nvSpPr>
          <p:cNvPr id="33" name="Text 31"/>
          <p:cNvSpPr txBox="1"/>
          <p:nvPr/>
        </p:nvSpPr>
        <p:spPr>
          <a:xfrm>
            <a:off x="10259568" y="2194560"/>
            <a:ext cx="1152144" cy="201168"/>
          </a:xfrm>
          <a:prstGeom prst="rect">
            <a:avLst/>
          </a:prstGeom>
          <a:noFill/>
          <a:ln/>
        </p:spPr>
        <p:txBody>
          <a:bodyPr wrap="square" lIns="0" tIns="0" rIns="0" bIns="0" rtlCol="0" anchor="ctr">
            <a:normAutofit/>
          </a:bodyPr>
          <a:lstStyle/>
          <a:p>
            <a:pPr algn="l" indent="0" marL="0">
              <a:buNone/>
            </a:pPr>
            <a:r>
              <a:rPr lang="en-US" sz="1050" b="1" dirty="0">
                <a:solidFill>
                  <a:srgbClr val="5FE1A0"/>
                </a:solidFill>
                <a:latin typeface="Aptos" pitchFamily="34" charset="0"/>
                <a:ea typeface="Aptos" pitchFamily="34" charset="-122"/>
                <a:cs typeface="Aptos" pitchFamily="34" charset="-120"/>
              </a:rPr>
              <a:t>Response</a:t>
            </a:r>
            <a:endParaRPr lang="en-US" sz="1050" dirty="0"/>
          </a:p>
        </p:txBody>
      </p:sp>
      <p:sp>
        <p:nvSpPr>
          <p:cNvPr id="34" name="Text 32"/>
          <p:cNvSpPr txBox="1"/>
          <p:nvPr/>
        </p:nvSpPr>
        <p:spPr>
          <a:xfrm>
            <a:off x="9784080" y="2679192"/>
            <a:ext cx="1664208" cy="502920"/>
          </a:xfrm>
          <a:prstGeom prst="rect">
            <a:avLst/>
          </a:prstGeom>
          <a:noFill/>
          <a:ln/>
        </p:spPr>
        <p:txBody>
          <a:bodyPr wrap="square" lIns="0" tIns="0" rIns="0" bIns="0" rtlCol="0" anchor="ctr">
            <a:normAutofit/>
          </a:bodyPr>
          <a:lstStyle/>
          <a:p>
            <a:pPr algn="ctr" indent="0" marL="0">
              <a:buNone/>
            </a:pPr>
            <a:r>
              <a:rPr lang="en-US" sz="1120" b="1" dirty="0">
                <a:solidFill>
                  <a:srgbClr val="F5F7FA"/>
                </a:solidFill>
                <a:latin typeface="Aptos" pitchFamily="34" charset="0"/>
                <a:ea typeface="Aptos" pitchFamily="34" charset="-122"/>
                <a:cs typeface="Aptos" pitchFamily="34" charset="-120"/>
              </a:rPr>
              <a:t>Encrypted result leaves domain</a:t>
            </a:r>
            <a:endParaRPr lang="en-US" sz="1120" dirty="0"/>
          </a:p>
        </p:txBody>
      </p:sp>
      <p:sp>
        <p:nvSpPr>
          <p:cNvPr id="35" name="Text 33"/>
          <p:cNvSpPr txBox="1"/>
          <p:nvPr/>
        </p:nvSpPr>
        <p:spPr>
          <a:xfrm>
            <a:off x="566928" y="3977640"/>
            <a:ext cx="2377440" cy="219456"/>
          </a:xfrm>
          <a:prstGeom prst="rect">
            <a:avLst/>
          </a:prstGeom>
          <a:noFill/>
          <a:ln/>
        </p:spPr>
        <p:txBody>
          <a:bodyPr wrap="square" lIns="0" tIns="0" rIns="0" bIns="0" rtlCol="0" anchor="ctr">
            <a:normAutofit/>
          </a:bodyPr>
          <a:lstStyle/>
          <a:p>
            <a:pPr algn="l" indent="0" marL="0">
              <a:buNone/>
            </a:pPr>
            <a:r>
              <a:rPr lang="en-US" sz="900" b="1" spc="120" kern="0" dirty="0">
                <a:solidFill>
                  <a:srgbClr val="FF6B35"/>
                </a:solidFill>
                <a:latin typeface="Aptos" pitchFamily="34" charset="0"/>
                <a:ea typeface="Aptos" pitchFamily="34" charset="-122"/>
                <a:cs typeface="Aptos" pitchFamily="34" charset="-120"/>
              </a:rPr>
              <a:t>WHAT STAYS CONFIDENTIAL</a:t>
            </a:r>
            <a:endParaRPr lang="en-US" sz="900" dirty="0"/>
          </a:p>
        </p:txBody>
      </p:sp>
      <p:sp>
        <p:nvSpPr>
          <p:cNvPr id="36" name="Shape 34"/>
          <p:cNvSpPr/>
          <p:nvPr/>
        </p:nvSpPr>
        <p:spPr>
          <a:xfrm>
            <a:off x="566928" y="4370832"/>
            <a:ext cx="3429000" cy="530352"/>
          </a:xfrm>
          <a:prstGeom prst="roundRect">
            <a:avLst>
              <a:gd name="adj" fmla="val 27586"/>
            </a:avLst>
          </a:prstGeom>
          <a:solidFill>
            <a:srgbClr val="121C2E"/>
          </a:solidFill>
          <a:ln w="12700">
            <a:solidFill>
              <a:srgbClr val="24344E"/>
            </a:solidFill>
            <a:prstDash val="solid"/>
          </a:ln>
          <a:effectLst>
            <a:outerShdw sx="100000" sy="100000" kx="0" ky="0" algn="bl" rotWithShape="0" blurRad="9.998313280375211e+106" dist="4.9991566401876055e+106" dir="7.67617776808102e+125">
              <a:srgbClr val="000000">
                <a:alpha val="2.2000000000000006e+129"/>
              </a:srgbClr>
            </a:outerShdw>
          </a:effectLst>
        </p:spPr>
      </p:sp>
      <p:sp>
        <p:nvSpPr>
          <p:cNvPr id="37" name="Text 35"/>
          <p:cNvSpPr txBox="1"/>
          <p:nvPr/>
        </p:nvSpPr>
        <p:spPr>
          <a:xfrm>
            <a:off x="731520" y="4462272"/>
            <a:ext cx="1143000" cy="201168"/>
          </a:xfrm>
          <a:prstGeom prst="rect">
            <a:avLst/>
          </a:prstGeom>
          <a:noFill/>
          <a:ln/>
        </p:spPr>
        <p:txBody>
          <a:bodyPr wrap="square" lIns="0" tIns="0" rIns="0" bIns="0" rtlCol="0" anchor="ctr">
            <a:normAutofit/>
          </a:bodyPr>
          <a:lstStyle/>
          <a:p>
            <a:pPr algn="l" indent="0" marL="0">
              <a:buNone/>
            </a:pPr>
            <a:r>
              <a:rPr lang="en-US" sz="1050" b="1" dirty="0">
                <a:solidFill>
                  <a:srgbClr val="FF6B35"/>
                </a:solidFill>
                <a:latin typeface="Aptos" pitchFamily="34" charset="0"/>
                <a:ea typeface="Aptos" pitchFamily="34" charset="-122"/>
                <a:cs typeface="Aptos" pitchFamily="34" charset="-120"/>
              </a:rPr>
              <a:t>Weights</a:t>
            </a:r>
            <a:endParaRPr lang="en-US" sz="1050" dirty="0"/>
          </a:p>
        </p:txBody>
      </p:sp>
      <p:sp>
        <p:nvSpPr>
          <p:cNvPr id="38" name="Text 36"/>
          <p:cNvSpPr txBox="1"/>
          <p:nvPr/>
        </p:nvSpPr>
        <p:spPr>
          <a:xfrm>
            <a:off x="1892808" y="4462272"/>
            <a:ext cx="184708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Model IP</a:t>
            </a:r>
            <a:endParaRPr lang="en-US" sz="980" dirty="0"/>
          </a:p>
        </p:txBody>
      </p:sp>
      <p:sp>
        <p:nvSpPr>
          <p:cNvPr id="39" name="Shape 37"/>
          <p:cNvSpPr/>
          <p:nvPr/>
        </p:nvSpPr>
        <p:spPr>
          <a:xfrm>
            <a:off x="4270248" y="4370832"/>
            <a:ext cx="3429000" cy="530352"/>
          </a:xfrm>
          <a:prstGeom prst="roundRect">
            <a:avLst>
              <a:gd name="adj" fmla="val 27586"/>
            </a:avLst>
          </a:prstGeom>
          <a:solidFill>
            <a:srgbClr val="162337"/>
          </a:solidFill>
          <a:ln w="12700">
            <a:solidFill>
              <a:srgbClr val="24344E"/>
            </a:solidFill>
            <a:prstDash val="solid"/>
          </a:ln>
          <a:effectLst>
            <a:outerShdw sx="100000" sy="100000" kx="0" ky="0" algn="bl" rotWithShape="0" blurRad="1.2697857866076517e+111" dist="6.348928933038258e+110" dir="4.605706660848612e+130">
              <a:srgbClr val="000000">
                <a:alpha val="2.2000000000000004e+134"/>
              </a:srgbClr>
            </a:outerShdw>
          </a:effectLst>
        </p:spPr>
      </p:sp>
      <p:sp>
        <p:nvSpPr>
          <p:cNvPr id="40" name="Text 38"/>
          <p:cNvSpPr txBox="1"/>
          <p:nvPr/>
        </p:nvSpPr>
        <p:spPr>
          <a:xfrm>
            <a:off x="4434840" y="4462272"/>
            <a:ext cx="1143000" cy="201168"/>
          </a:xfrm>
          <a:prstGeom prst="rect">
            <a:avLst/>
          </a:prstGeom>
          <a:noFill/>
          <a:ln/>
        </p:spPr>
        <p:txBody>
          <a:bodyPr wrap="square" lIns="0" tIns="0" rIns="0" bIns="0" rtlCol="0" anchor="ctr">
            <a:normAutofit/>
          </a:bodyPr>
          <a:lstStyle/>
          <a:p>
            <a:pPr algn="l" indent="0" marL="0">
              <a:buNone/>
            </a:pPr>
            <a:r>
              <a:rPr lang="en-US" sz="1050" b="1" dirty="0">
                <a:solidFill>
                  <a:srgbClr val="3BD6E8"/>
                </a:solidFill>
                <a:latin typeface="Aptos" pitchFamily="34" charset="0"/>
                <a:ea typeface="Aptos" pitchFamily="34" charset="-122"/>
                <a:cs typeface="Aptos" pitchFamily="34" charset="-120"/>
              </a:rPr>
              <a:t>Prompt</a:t>
            </a:r>
            <a:endParaRPr lang="en-US" sz="1050" dirty="0"/>
          </a:p>
        </p:txBody>
      </p:sp>
      <p:sp>
        <p:nvSpPr>
          <p:cNvPr id="41" name="Text 39"/>
          <p:cNvSpPr txBox="1"/>
          <p:nvPr/>
        </p:nvSpPr>
        <p:spPr>
          <a:xfrm>
            <a:off x="5596128" y="4462272"/>
            <a:ext cx="184708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User / enterprise data</a:t>
            </a:r>
            <a:endParaRPr lang="en-US" sz="980" dirty="0"/>
          </a:p>
        </p:txBody>
      </p:sp>
      <p:sp>
        <p:nvSpPr>
          <p:cNvPr id="42" name="Shape 40"/>
          <p:cNvSpPr/>
          <p:nvPr/>
        </p:nvSpPr>
        <p:spPr>
          <a:xfrm>
            <a:off x="7973568" y="4370832"/>
            <a:ext cx="3429000" cy="530352"/>
          </a:xfrm>
          <a:prstGeom prst="roundRect">
            <a:avLst>
              <a:gd name="adj" fmla="val 27586"/>
            </a:avLst>
          </a:prstGeom>
          <a:solidFill>
            <a:srgbClr val="121C2E"/>
          </a:solidFill>
          <a:ln w="12700">
            <a:solidFill>
              <a:srgbClr val="24344E"/>
            </a:solidFill>
            <a:prstDash val="solid"/>
          </a:ln>
          <a:effectLst>
            <a:outerShdw sx="100000" sy="100000" kx="0" ky="0" algn="bl" rotWithShape="0" blurRad="1.6126279489917177e+115" dist="8.063139744958588e+114" dir="2.763423996509167e+135">
              <a:srgbClr val="000000">
                <a:alpha val="2.2000000000000005e+139"/>
              </a:srgbClr>
            </a:outerShdw>
          </a:effectLst>
        </p:spPr>
      </p:sp>
      <p:sp>
        <p:nvSpPr>
          <p:cNvPr id="43" name="Text 41"/>
          <p:cNvSpPr txBox="1"/>
          <p:nvPr/>
        </p:nvSpPr>
        <p:spPr>
          <a:xfrm>
            <a:off x="8138160" y="4462272"/>
            <a:ext cx="1143000" cy="201168"/>
          </a:xfrm>
          <a:prstGeom prst="rect">
            <a:avLst/>
          </a:prstGeom>
          <a:noFill/>
          <a:ln/>
        </p:spPr>
        <p:txBody>
          <a:bodyPr wrap="square" lIns="0" tIns="0" rIns="0" bIns="0" rtlCol="0" anchor="ctr">
            <a:normAutofit/>
          </a:bodyPr>
          <a:lstStyle/>
          <a:p>
            <a:pPr algn="l" indent="0" marL="0">
              <a:buNone/>
            </a:pPr>
            <a:r>
              <a:rPr lang="en-US" sz="1050" b="1" dirty="0">
                <a:solidFill>
                  <a:srgbClr val="71A7FF"/>
                </a:solidFill>
                <a:latin typeface="Aptos" pitchFamily="34" charset="0"/>
                <a:ea typeface="Aptos" pitchFamily="34" charset="-122"/>
                <a:cs typeface="Aptos" pitchFamily="34" charset="-120"/>
              </a:rPr>
              <a:t>KV cache</a:t>
            </a:r>
            <a:endParaRPr lang="en-US" sz="1050" dirty="0"/>
          </a:p>
        </p:txBody>
      </p:sp>
      <p:sp>
        <p:nvSpPr>
          <p:cNvPr id="44" name="Text 42"/>
          <p:cNvSpPr txBox="1"/>
          <p:nvPr/>
        </p:nvSpPr>
        <p:spPr>
          <a:xfrm>
            <a:off x="9299448" y="4462272"/>
            <a:ext cx="184708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Conversation state</a:t>
            </a:r>
            <a:endParaRPr lang="en-US" sz="980" dirty="0"/>
          </a:p>
        </p:txBody>
      </p:sp>
      <p:sp>
        <p:nvSpPr>
          <p:cNvPr id="45" name="Shape 43"/>
          <p:cNvSpPr/>
          <p:nvPr/>
        </p:nvSpPr>
        <p:spPr>
          <a:xfrm>
            <a:off x="566928" y="5056632"/>
            <a:ext cx="3429000" cy="530352"/>
          </a:xfrm>
          <a:prstGeom prst="roundRect">
            <a:avLst>
              <a:gd name="adj" fmla="val 27586"/>
            </a:avLst>
          </a:prstGeom>
          <a:solidFill>
            <a:srgbClr val="162337"/>
          </a:solidFill>
          <a:ln w="12700">
            <a:solidFill>
              <a:srgbClr val="24344E"/>
            </a:solidFill>
            <a:prstDash val="solid"/>
          </a:ln>
          <a:effectLst>
            <a:outerShdw sx="100000" sy="100000" kx="0" ky="0" algn="bl" rotWithShape="0" blurRad="2.0480374952194813e+119" dist="1.0240187476097407e+119" dir="1.6580543979055002e+140">
              <a:srgbClr val="000000">
                <a:alpha val="2.2000000000000006e+144"/>
              </a:srgbClr>
            </a:outerShdw>
          </a:effectLst>
        </p:spPr>
      </p:sp>
      <p:sp>
        <p:nvSpPr>
          <p:cNvPr id="46" name="Text 44"/>
          <p:cNvSpPr txBox="1"/>
          <p:nvPr/>
        </p:nvSpPr>
        <p:spPr>
          <a:xfrm>
            <a:off x="731520" y="5148072"/>
            <a:ext cx="1143000" cy="201168"/>
          </a:xfrm>
          <a:prstGeom prst="rect">
            <a:avLst/>
          </a:prstGeom>
          <a:noFill/>
          <a:ln/>
        </p:spPr>
        <p:txBody>
          <a:bodyPr wrap="square" lIns="0" tIns="0" rIns="0" bIns="0" rtlCol="0" anchor="ctr">
            <a:normAutofit/>
          </a:bodyPr>
          <a:lstStyle/>
          <a:p>
            <a:pPr algn="l" indent="0" marL="0">
              <a:buNone/>
            </a:pPr>
            <a:r>
              <a:rPr lang="en-US" sz="1050" b="1" dirty="0">
                <a:solidFill>
                  <a:srgbClr val="5FE1A0"/>
                </a:solidFill>
                <a:latin typeface="Aptos" pitchFamily="34" charset="0"/>
                <a:ea typeface="Aptos" pitchFamily="34" charset="-122"/>
                <a:cs typeface="Aptos" pitchFamily="34" charset="-120"/>
              </a:rPr>
              <a:t>Activations</a:t>
            </a:r>
            <a:endParaRPr lang="en-US" sz="1050" dirty="0"/>
          </a:p>
        </p:txBody>
      </p:sp>
      <p:sp>
        <p:nvSpPr>
          <p:cNvPr id="47" name="Text 45"/>
          <p:cNvSpPr txBox="1"/>
          <p:nvPr/>
        </p:nvSpPr>
        <p:spPr>
          <a:xfrm>
            <a:off x="1892808" y="5148072"/>
            <a:ext cx="184708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Intermediate tensors</a:t>
            </a:r>
            <a:endParaRPr lang="en-US" sz="980" dirty="0"/>
          </a:p>
        </p:txBody>
      </p:sp>
      <p:sp>
        <p:nvSpPr>
          <p:cNvPr id="48" name="Shape 46"/>
          <p:cNvSpPr/>
          <p:nvPr/>
        </p:nvSpPr>
        <p:spPr>
          <a:xfrm>
            <a:off x="4270248" y="5056632"/>
            <a:ext cx="3429000" cy="530352"/>
          </a:xfrm>
          <a:prstGeom prst="roundRect">
            <a:avLst>
              <a:gd name="adj" fmla="val 27586"/>
            </a:avLst>
          </a:prstGeom>
          <a:solidFill>
            <a:srgbClr val="121C2E"/>
          </a:solidFill>
          <a:ln w="12700">
            <a:solidFill>
              <a:srgbClr val="24344E"/>
            </a:solidFill>
            <a:prstDash val="solid"/>
          </a:ln>
          <a:effectLst>
            <a:outerShdw sx="100000" sy="100000" kx="0" ky="0" algn="bl" rotWithShape="0" blurRad="2.6010076189287412e+123" dist="1.3005038094643706e+123" dir="9.948326387433002e+144">
              <a:srgbClr val="000000">
                <a:alpha val="2.2000000000000004e+149"/>
              </a:srgbClr>
            </a:outerShdw>
          </a:effectLst>
        </p:spPr>
      </p:sp>
      <p:sp>
        <p:nvSpPr>
          <p:cNvPr id="49" name="Text 47"/>
          <p:cNvSpPr txBox="1"/>
          <p:nvPr/>
        </p:nvSpPr>
        <p:spPr>
          <a:xfrm>
            <a:off x="4434840" y="5148072"/>
            <a:ext cx="1143000" cy="201168"/>
          </a:xfrm>
          <a:prstGeom prst="rect">
            <a:avLst/>
          </a:prstGeom>
          <a:noFill/>
          <a:ln/>
        </p:spPr>
        <p:txBody>
          <a:bodyPr wrap="square" lIns="0" tIns="0" rIns="0" bIns="0" rtlCol="0" anchor="ctr">
            <a:normAutofit/>
          </a:bodyPr>
          <a:lstStyle/>
          <a:p>
            <a:pPr algn="l" indent="0" marL="0">
              <a:buNone/>
            </a:pPr>
            <a:r>
              <a:rPr lang="en-US" sz="1050" b="1" dirty="0">
                <a:solidFill>
                  <a:srgbClr val="FFD166"/>
                </a:solidFill>
                <a:latin typeface="Aptos" pitchFamily="34" charset="0"/>
                <a:ea typeface="Aptos" pitchFamily="34" charset="-122"/>
                <a:cs typeface="Aptos" pitchFamily="34" charset="-120"/>
              </a:rPr>
              <a:t>RAG context</a:t>
            </a:r>
            <a:endParaRPr lang="en-US" sz="1050" dirty="0"/>
          </a:p>
        </p:txBody>
      </p:sp>
      <p:sp>
        <p:nvSpPr>
          <p:cNvPr id="50" name="Text 48"/>
          <p:cNvSpPr txBox="1"/>
          <p:nvPr/>
        </p:nvSpPr>
        <p:spPr>
          <a:xfrm>
            <a:off x="5596128" y="5148072"/>
            <a:ext cx="184708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Retrieved private data</a:t>
            </a:r>
            <a:endParaRPr lang="en-US" sz="980" dirty="0"/>
          </a:p>
        </p:txBody>
      </p:sp>
      <p:sp>
        <p:nvSpPr>
          <p:cNvPr id="51" name="Shape 49"/>
          <p:cNvSpPr/>
          <p:nvPr/>
        </p:nvSpPr>
        <p:spPr>
          <a:xfrm>
            <a:off x="7973568" y="5056632"/>
            <a:ext cx="3429000" cy="530352"/>
          </a:xfrm>
          <a:prstGeom prst="roundRect">
            <a:avLst>
              <a:gd name="adj" fmla="val 27586"/>
            </a:avLst>
          </a:prstGeom>
          <a:solidFill>
            <a:srgbClr val="162337"/>
          </a:solidFill>
          <a:ln w="12700">
            <a:solidFill>
              <a:srgbClr val="24344E"/>
            </a:solidFill>
            <a:prstDash val="solid"/>
          </a:ln>
          <a:effectLst>
            <a:outerShdw sx="100000" sy="100000" kx="0" ky="0" algn="bl" rotWithShape="0" blurRad="3.303279676039501e+127" dist="1.6516398380197506e+127" dir="5.968995832459801e+149">
              <a:srgbClr val="000000">
                <a:alpha val="2.2000000000000004e+154"/>
              </a:srgbClr>
            </a:outerShdw>
          </a:effectLst>
        </p:spPr>
      </p:sp>
      <p:sp>
        <p:nvSpPr>
          <p:cNvPr id="52" name="Text 50"/>
          <p:cNvSpPr txBox="1"/>
          <p:nvPr/>
        </p:nvSpPr>
        <p:spPr>
          <a:xfrm>
            <a:off x="8138160" y="5148072"/>
            <a:ext cx="1143000" cy="201168"/>
          </a:xfrm>
          <a:prstGeom prst="rect">
            <a:avLst/>
          </a:prstGeom>
          <a:noFill/>
          <a:ln/>
        </p:spPr>
        <p:txBody>
          <a:bodyPr wrap="square" lIns="0" tIns="0" rIns="0" bIns="0" rtlCol="0" anchor="ctr">
            <a:normAutofit/>
          </a:bodyPr>
          <a:lstStyle/>
          <a:p>
            <a:pPr algn="l" indent="0" marL="0">
              <a:buNone/>
            </a:pPr>
            <a:r>
              <a:rPr lang="en-US" sz="1050" b="1" dirty="0">
                <a:solidFill>
                  <a:srgbClr val="FF6B35"/>
                </a:solidFill>
                <a:latin typeface="Aptos" pitchFamily="34" charset="0"/>
                <a:ea typeface="Aptos" pitchFamily="34" charset="-122"/>
                <a:cs typeface="Aptos" pitchFamily="34" charset="-120"/>
              </a:rPr>
              <a:t>Agent state</a:t>
            </a:r>
            <a:endParaRPr lang="en-US" sz="1050" dirty="0"/>
          </a:p>
        </p:txBody>
      </p:sp>
      <p:sp>
        <p:nvSpPr>
          <p:cNvPr id="53" name="Text 51"/>
          <p:cNvSpPr txBox="1"/>
          <p:nvPr/>
        </p:nvSpPr>
        <p:spPr>
          <a:xfrm>
            <a:off x="9299448" y="5148072"/>
            <a:ext cx="184708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Plans + memory</a:t>
            </a:r>
            <a:endParaRPr lang="en-US" sz="980" dirty="0"/>
          </a:p>
        </p:txBody>
      </p:sp>
      <p:sp>
        <p:nvSpPr>
          <p:cNvPr id="54" name="Text 52"/>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Cerebras: WSE-3 on-chip SRAM and high-bandwidth inference; NVIDIA/Intel: confidential computing uses hardware isolation + attestation to protect data-in-use.</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8 • CRYPTOGRAPHIC PROTECTION</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Make plaintext private keys a last-resort resident of the TEE.</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Keys should be released to attested code — not to the host, process environment, or operator.</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09</a:t>
            </a:r>
            <a:endParaRPr lang="en-US" sz="1000" dirty="0"/>
          </a:p>
        </p:txBody>
      </p:sp>
      <p:sp>
        <p:nvSpPr>
          <p:cNvPr id="6" name="Shape 4"/>
          <p:cNvSpPr/>
          <p:nvPr/>
        </p:nvSpPr>
        <p:spPr>
          <a:xfrm>
            <a:off x="566928" y="1847088"/>
            <a:ext cx="5029200" cy="3977640"/>
          </a:xfrm>
          <a:prstGeom prst="roundRect">
            <a:avLst>
              <a:gd name="adj" fmla="val 3678"/>
            </a:avLst>
          </a:prstGeom>
          <a:solidFill>
            <a:srgbClr val="121C2E"/>
          </a:solidFill>
          <a:ln w="12700">
            <a:solidFill>
              <a:srgbClr val="24344E"/>
            </a:solidFill>
            <a:prstDash val="solid"/>
          </a:ln>
          <a:effectLst>
            <a:outerShdw sx="100000" sy="100000" kx="0" ky="0" algn="bl" rotWithShape="0" blurRad="4.195165188570166e+131" dist="2.097582594285083e+131" dir="3.581397499475881e+154">
              <a:srgbClr val="000000">
                <a:alpha val="2.2000000000000003e+159"/>
              </a:srgbClr>
            </a:outerShdw>
          </a:effectLst>
        </p:spPr>
      </p:sp>
      <p:sp>
        <p:nvSpPr>
          <p:cNvPr id="7" name="Text 5"/>
          <p:cNvSpPr txBox="1"/>
          <p:nvPr/>
        </p:nvSpPr>
        <p:spPr>
          <a:xfrm>
            <a:off x="822960" y="2103120"/>
            <a:ext cx="1920240" cy="228600"/>
          </a:xfrm>
          <a:prstGeom prst="rect">
            <a:avLst/>
          </a:prstGeom>
          <a:noFill/>
          <a:ln/>
        </p:spPr>
        <p:txBody>
          <a:bodyPr wrap="square" lIns="0" tIns="0" rIns="0" bIns="0" rtlCol="0" anchor="ctr">
            <a:normAutofit/>
          </a:bodyPr>
          <a:lstStyle/>
          <a:p>
            <a:pPr algn="l" indent="0" marL="0">
              <a:buNone/>
            </a:pPr>
            <a:r>
              <a:rPr lang="en-US" sz="900" b="1" spc="120" kern="0" dirty="0">
                <a:solidFill>
                  <a:srgbClr val="FFD166"/>
                </a:solidFill>
                <a:latin typeface="Aptos" pitchFamily="34" charset="0"/>
                <a:ea typeface="Aptos" pitchFamily="34" charset="-122"/>
                <a:cs typeface="Aptos" pitchFamily="34" charset="-120"/>
              </a:rPr>
              <a:t>KEY HIERARCHY</a:t>
            </a:r>
            <a:endParaRPr lang="en-US" sz="900" dirty="0"/>
          </a:p>
        </p:txBody>
      </p:sp>
      <p:sp>
        <p:nvSpPr>
          <p:cNvPr id="8" name="Shape 6"/>
          <p:cNvSpPr/>
          <p:nvPr/>
        </p:nvSpPr>
        <p:spPr>
          <a:xfrm>
            <a:off x="877824" y="2615184"/>
            <a:ext cx="4389120" cy="475488"/>
          </a:xfrm>
          <a:prstGeom prst="roundRect">
            <a:avLst>
              <a:gd name="adj" fmla="val 30769"/>
            </a:avLst>
          </a:prstGeom>
          <a:solidFill>
            <a:srgbClr val="172B3B"/>
          </a:solidFill>
          <a:ln w="12700">
            <a:solidFill>
              <a:srgbClr val="3BD6E8"/>
            </a:solidFill>
            <a:prstDash val="solid"/>
          </a:ln>
          <a:effectLst>
            <a:outerShdw sx="100000" sy="100000" kx="0" ky="0" algn="bl" rotWithShape="0" blurRad="5.327859789484111e+135" dist="2.6639298947420556e+135" dir="2.1488384996855287e+159">
              <a:srgbClr val="000000">
                <a:alpha val="2.2000000000000003e+164"/>
              </a:srgbClr>
            </a:outerShdw>
          </a:effectLst>
        </p:spPr>
      </p:sp>
      <p:sp>
        <p:nvSpPr>
          <p:cNvPr id="9" name="Text 7"/>
          <p:cNvSpPr txBox="1"/>
          <p:nvPr/>
        </p:nvSpPr>
        <p:spPr>
          <a:xfrm>
            <a:off x="1078992" y="2706624"/>
            <a:ext cx="1325880" cy="201168"/>
          </a:xfrm>
          <a:prstGeom prst="rect">
            <a:avLst/>
          </a:prstGeom>
          <a:noFill/>
          <a:ln/>
        </p:spPr>
        <p:txBody>
          <a:bodyPr wrap="square" lIns="0" tIns="0" rIns="0" bIns="0" rtlCol="0" anchor="ctr">
            <a:normAutofit/>
          </a:bodyPr>
          <a:lstStyle/>
          <a:p>
            <a:pPr algn="l" indent="0" marL="0">
              <a:buNone/>
            </a:pPr>
            <a:r>
              <a:rPr lang="en-US" sz="1100" b="1" dirty="0">
                <a:solidFill>
                  <a:srgbClr val="3BD6E8"/>
                </a:solidFill>
                <a:latin typeface="Aptos" pitchFamily="34" charset="0"/>
                <a:ea typeface="Aptos" pitchFamily="34" charset="-122"/>
                <a:cs typeface="Aptos" pitchFamily="34" charset="-120"/>
              </a:rPr>
              <a:t>Hardware Root</a:t>
            </a:r>
            <a:endParaRPr lang="en-US" sz="1100" dirty="0"/>
          </a:p>
        </p:txBody>
      </p:sp>
      <p:sp>
        <p:nvSpPr>
          <p:cNvPr id="10" name="Text 8"/>
          <p:cNvSpPr txBox="1"/>
          <p:nvPr/>
        </p:nvSpPr>
        <p:spPr>
          <a:xfrm>
            <a:off x="2487168" y="2706624"/>
            <a:ext cx="239572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Attestation / device identity</a:t>
            </a:r>
            <a:endParaRPr lang="en-US" sz="980" dirty="0"/>
          </a:p>
        </p:txBody>
      </p:sp>
      <p:sp>
        <p:nvSpPr>
          <p:cNvPr id="11" name="Shape 9"/>
          <p:cNvSpPr/>
          <p:nvPr/>
        </p:nvSpPr>
        <p:spPr>
          <a:xfrm>
            <a:off x="3017520" y="3090672"/>
            <a:ext cx="0" cy="146304"/>
          </a:xfrm>
          <a:prstGeom prst="line">
            <a:avLst/>
          </a:prstGeom>
          <a:noFill/>
          <a:ln w="16510">
            <a:solidFill>
              <a:srgbClr val="A9B6C8"/>
            </a:solidFill>
            <a:prstDash val="solid"/>
            <a:headEnd type="none"/>
            <a:tailEnd type="triangle"/>
          </a:ln>
        </p:spPr>
      </p:sp>
      <p:sp>
        <p:nvSpPr>
          <p:cNvPr id="12" name="Shape 10"/>
          <p:cNvSpPr/>
          <p:nvPr/>
        </p:nvSpPr>
        <p:spPr>
          <a:xfrm>
            <a:off x="877824" y="3255264"/>
            <a:ext cx="4389120" cy="475488"/>
          </a:xfrm>
          <a:prstGeom prst="roundRect">
            <a:avLst>
              <a:gd name="adj" fmla="val 30769"/>
            </a:avLst>
          </a:prstGeom>
          <a:solidFill>
            <a:srgbClr val="162337"/>
          </a:solidFill>
          <a:ln w="12700">
            <a:solidFill>
              <a:srgbClr val="FF6B35"/>
            </a:solidFill>
            <a:prstDash val="solid"/>
          </a:ln>
          <a:effectLst>
            <a:outerShdw sx="100000" sy="100000" kx="0" ky="0" algn="bl" rotWithShape="0" blurRad="6.766381932644821e+139" dist="3.3831909663224106e+139" dir="1.2893030998113172e+164">
              <a:srgbClr val="000000">
                <a:alpha val="2.2000000000000004e+169"/>
              </a:srgbClr>
            </a:outerShdw>
          </a:effectLst>
        </p:spPr>
      </p:sp>
      <p:sp>
        <p:nvSpPr>
          <p:cNvPr id="13" name="Text 11"/>
          <p:cNvSpPr txBox="1"/>
          <p:nvPr/>
        </p:nvSpPr>
        <p:spPr>
          <a:xfrm>
            <a:off x="1078992" y="3346704"/>
            <a:ext cx="1325880" cy="201168"/>
          </a:xfrm>
          <a:prstGeom prst="rect">
            <a:avLst/>
          </a:prstGeom>
          <a:noFill/>
          <a:ln/>
        </p:spPr>
        <p:txBody>
          <a:bodyPr wrap="square" lIns="0" tIns="0" rIns="0" bIns="0" rtlCol="0" anchor="ctr">
            <a:normAutofit/>
          </a:bodyPr>
          <a:lstStyle/>
          <a:p>
            <a:pPr algn="l" indent="0" marL="0">
              <a:buNone/>
            </a:pPr>
            <a:r>
              <a:rPr lang="en-US" sz="1100" b="1" dirty="0">
                <a:solidFill>
                  <a:srgbClr val="FF6B35"/>
                </a:solidFill>
                <a:latin typeface="Aptos" pitchFamily="34" charset="0"/>
                <a:ea typeface="Aptos" pitchFamily="34" charset="-122"/>
                <a:cs typeface="Aptos" pitchFamily="34" charset="-120"/>
              </a:rPr>
              <a:t>Domain Key</a:t>
            </a:r>
            <a:endParaRPr lang="en-US" sz="1100" dirty="0"/>
          </a:p>
        </p:txBody>
      </p:sp>
      <p:sp>
        <p:nvSpPr>
          <p:cNvPr id="14" name="Text 12"/>
          <p:cNvSpPr txBox="1"/>
          <p:nvPr/>
        </p:nvSpPr>
        <p:spPr>
          <a:xfrm>
            <a:off x="2487168" y="3346704"/>
            <a:ext cx="239572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Memory + fabric protection</a:t>
            </a:r>
            <a:endParaRPr lang="en-US" sz="980" dirty="0"/>
          </a:p>
        </p:txBody>
      </p:sp>
      <p:sp>
        <p:nvSpPr>
          <p:cNvPr id="15" name="Shape 13"/>
          <p:cNvSpPr/>
          <p:nvPr/>
        </p:nvSpPr>
        <p:spPr>
          <a:xfrm>
            <a:off x="3017520" y="3730752"/>
            <a:ext cx="0" cy="146304"/>
          </a:xfrm>
          <a:prstGeom prst="line">
            <a:avLst/>
          </a:prstGeom>
          <a:noFill/>
          <a:ln w="16510">
            <a:solidFill>
              <a:srgbClr val="A9B6C8"/>
            </a:solidFill>
            <a:prstDash val="solid"/>
            <a:headEnd type="none"/>
            <a:tailEnd type="triangle"/>
          </a:ln>
        </p:spPr>
      </p:sp>
      <p:sp>
        <p:nvSpPr>
          <p:cNvPr id="16" name="Shape 14"/>
          <p:cNvSpPr/>
          <p:nvPr/>
        </p:nvSpPr>
        <p:spPr>
          <a:xfrm>
            <a:off x="877824" y="3895344"/>
            <a:ext cx="4389120" cy="475488"/>
          </a:xfrm>
          <a:prstGeom prst="roundRect">
            <a:avLst>
              <a:gd name="adj" fmla="val 30769"/>
            </a:avLst>
          </a:prstGeom>
          <a:solidFill>
            <a:srgbClr val="162337"/>
          </a:solidFill>
          <a:ln w="12700">
            <a:solidFill>
              <a:srgbClr val="5FE1A0"/>
            </a:solidFill>
            <a:prstDash val="solid"/>
          </a:ln>
          <a:effectLst>
            <a:outerShdw sx="100000" sy="100000" kx="0" ky="0" algn="bl" rotWithShape="0" blurRad="8.593305054458923e+143" dist="4.296652527229462e+143" dir="7.735818598867904e+168">
              <a:srgbClr val="000000">
                <a:alpha val="2.2e+174"/>
              </a:srgbClr>
            </a:outerShdw>
          </a:effectLst>
        </p:spPr>
      </p:sp>
      <p:sp>
        <p:nvSpPr>
          <p:cNvPr id="17" name="Text 15"/>
          <p:cNvSpPr txBox="1"/>
          <p:nvPr/>
        </p:nvSpPr>
        <p:spPr>
          <a:xfrm>
            <a:off x="1078992" y="3986784"/>
            <a:ext cx="1325880" cy="201168"/>
          </a:xfrm>
          <a:prstGeom prst="rect">
            <a:avLst/>
          </a:prstGeom>
          <a:noFill/>
          <a:ln/>
        </p:spPr>
        <p:txBody>
          <a:bodyPr wrap="square" lIns="0" tIns="0" rIns="0" bIns="0" rtlCol="0" anchor="ctr">
            <a:normAutofit/>
          </a:bodyPr>
          <a:lstStyle/>
          <a:p>
            <a:pPr algn="l" indent="0" marL="0">
              <a:buNone/>
            </a:pPr>
            <a:r>
              <a:rPr lang="en-US" sz="1100" b="1" dirty="0">
                <a:solidFill>
                  <a:srgbClr val="5FE1A0"/>
                </a:solidFill>
                <a:latin typeface="Aptos" pitchFamily="34" charset="0"/>
                <a:ea typeface="Aptos" pitchFamily="34" charset="-122"/>
                <a:cs typeface="Aptos" pitchFamily="34" charset="-120"/>
              </a:rPr>
              <a:t>Workload DEK</a:t>
            </a:r>
            <a:endParaRPr lang="en-US" sz="1100" dirty="0"/>
          </a:p>
        </p:txBody>
      </p:sp>
      <p:sp>
        <p:nvSpPr>
          <p:cNvPr id="18" name="Text 16"/>
          <p:cNvSpPr txBox="1"/>
          <p:nvPr/>
        </p:nvSpPr>
        <p:spPr>
          <a:xfrm>
            <a:off x="2487168" y="3986784"/>
            <a:ext cx="239572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Model / data encryption</a:t>
            </a:r>
            <a:endParaRPr lang="en-US" sz="980" dirty="0"/>
          </a:p>
        </p:txBody>
      </p:sp>
      <p:sp>
        <p:nvSpPr>
          <p:cNvPr id="19" name="Shape 17"/>
          <p:cNvSpPr/>
          <p:nvPr/>
        </p:nvSpPr>
        <p:spPr>
          <a:xfrm>
            <a:off x="3017520" y="4370832"/>
            <a:ext cx="0" cy="146304"/>
          </a:xfrm>
          <a:prstGeom prst="line">
            <a:avLst/>
          </a:prstGeom>
          <a:noFill/>
          <a:ln w="16510">
            <a:solidFill>
              <a:srgbClr val="A9B6C8"/>
            </a:solidFill>
            <a:prstDash val="solid"/>
            <a:headEnd type="none"/>
            <a:tailEnd type="triangle"/>
          </a:ln>
        </p:spPr>
      </p:sp>
      <p:sp>
        <p:nvSpPr>
          <p:cNvPr id="20" name="Shape 18"/>
          <p:cNvSpPr/>
          <p:nvPr/>
        </p:nvSpPr>
        <p:spPr>
          <a:xfrm>
            <a:off x="877824" y="4535424"/>
            <a:ext cx="4389120" cy="475488"/>
          </a:xfrm>
          <a:prstGeom prst="roundRect">
            <a:avLst>
              <a:gd name="adj" fmla="val 30769"/>
            </a:avLst>
          </a:prstGeom>
          <a:solidFill>
            <a:srgbClr val="162337"/>
          </a:solidFill>
          <a:ln w="12700">
            <a:solidFill>
              <a:srgbClr val="FFD166"/>
            </a:solidFill>
            <a:prstDash val="solid"/>
          </a:ln>
          <a:effectLst>
            <a:outerShdw sx="100000" sy="100000" kx="0" ky="0" algn="bl" rotWithShape="0" blurRad="1.0913497419162833e+148" dist="5.4567487095814166e+147" dir="4.6414911593207425e+173">
              <a:srgbClr val="000000">
                <a:alpha val="2.2000000000000003e+179"/>
              </a:srgbClr>
            </a:outerShdw>
          </a:effectLst>
        </p:spPr>
      </p:sp>
      <p:sp>
        <p:nvSpPr>
          <p:cNvPr id="21" name="Text 19"/>
          <p:cNvSpPr txBox="1"/>
          <p:nvPr/>
        </p:nvSpPr>
        <p:spPr>
          <a:xfrm>
            <a:off x="1078992" y="4626864"/>
            <a:ext cx="1325880" cy="201168"/>
          </a:xfrm>
          <a:prstGeom prst="rect">
            <a:avLst/>
          </a:prstGeom>
          <a:noFill/>
          <a:ln/>
        </p:spPr>
        <p:txBody>
          <a:bodyPr wrap="square" lIns="0" tIns="0" rIns="0" bIns="0" rtlCol="0" anchor="ctr">
            <a:normAutofit/>
          </a:bodyPr>
          <a:lstStyle/>
          <a:p>
            <a:pPr algn="l" indent="0" marL="0">
              <a:buNone/>
            </a:pPr>
            <a:r>
              <a:rPr lang="en-US" sz="1100" b="1" dirty="0">
                <a:solidFill>
                  <a:srgbClr val="FFD166"/>
                </a:solidFill>
                <a:latin typeface="Aptos" pitchFamily="34" charset="0"/>
                <a:ea typeface="Aptos" pitchFamily="34" charset="-122"/>
                <a:cs typeface="Aptos" pitchFamily="34" charset="-120"/>
              </a:rPr>
              <a:t>Operation Key</a:t>
            </a:r>
            <a:endParaRPr lang="en-US" sz="1100" dirty="0"/>
          </a:p>
        </p:txBody>
      </p:sp>
      <p:sp>
        <p:nvSpPr>
          <p:cNvPr id="22" name="Text 20"/>
          <p:cNvSpPr txBox="1"/>
          <p:nvPr/>
        </p:nvSpPr>
        <p:spPr>
          <a:xfrm>
            <a:off x="2487168" y="4626864"/>
            <a:ext cx="2395728" cy="201168"/>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Signing / decryption / derivation</a:t>
            </a:r>
            <a:endParaRPr lang="en-US" sz="980" dirty="0"/>
          </a:p>
        </p:txBody>
      </p:sp>
      <p:sp>
        <p:nvSpPr>
          <p:cNvPr id="23" name="Shape 21"/>
          <p:cNvSpPr/>
          <p:nvPr/>
        </p:nvSpPr>
        <p:spPr>
          <a:xfrm>
            <a:off x="5824728" y="1847088"/>
            <a:ext cx="5760720" cy="3977640"/>
          </a:xfrm>
          <a:prstGeom prst="roundRect">
            <a:avLst>
              <a:gd name="adj" fmla="val 3678"/>
            </a:avLst>
          </a:prstGeom>
          <a:solidFill>
            <a:srgbClr val="162337"/>
          </a:solidFill>
          <a:ln w="12700">
            <a:solidFill>
              <a:srgbClr val="24344E"/>
            </a:solidFill>
            <a:prstDash val="solid"/>
          </a:ln>
          <a:effectLst>
            <a:outerShdw sx="100000" sy="100000" kx="0" ky="0" algn="bl" rotWithShape="0" blurRad="1.38601417223368e+152" dist="6.9300708611684e+151" dir="2.7848946955924455e+178">
              <a:srgbClr val="000000">
                <a:alpha val="2.2000000000000004e+184"/>
              </a:srgbClr>
            </a:outerShdw>
          </a:effectLst>
        </p:spPr>
      </p:sp>
      <p:sp>
        <p:nvSpPr>
          <p:cNvPr id="24" name="Text 22"/>
          <p:cNvSpPr txBox="1"/>
          <p:nvPr/>
        </p:nvSpPr>
        <p:spPr>
          <a:xfrm>
            <a:off x="6099048" y="2103120"/>
            <a:ext cx="3474720" cy="228600"/>
          </a:xfrm>
          <a:prstGeom prst="rect">
            <a:avLst/>
          </a:prstGeom>
          <a:noFill/>
          <a:ln/>
        </p:spPr>
        <p:txBody>
          <a:bodyPr wrap="square" lIns="0" tIns="0" rIns="0" bIns="0" rtlCol="0" anchor="ctr">
            <a:normAutofit/>
          </a:bodyPr>
          <a:lstStyle/>
          <a:p>
            <a:pPr algn="l" indent="0" marL="0">
              <a:buNone/>
            </a:pPr>
            <a:r>
              <a:rPr lang="en-US" sz="900" b="1" spc="115" kern="0" dirty="0">
                <a:solidFill>
                  <a:srgbClr val="FF6B35"/>
                </a:solidFill>
                <a:latin typeface="Aptos" pitchFamily="34" charset="0"/>
                <a:ea typeface="Aptos" pitchFamily="34" charset="-122"/>
                <a:cs typeface="Aptos" pitchFamily="34" charset="-120"/>
              </a:rPr>
              <a:t>CRYPTO SERVICE: NON-EXPORTABLE HANDLES</a:t>
            </a:r>
            <a:endParaRPr lang="en-US" sz="900" dirty="0"/>
          </a:p>
        </p:txBody>
      </p:sp>
      <p:sp>
        <p:nvSpPr>
          <p:cNvPr id="25" name="Shape 23"/>
          <p:cNvSpPr/>
          <p:nvPr/>
        </p:nvSpPr>
        <p:spPr>
          <a:xfrm>
            <a:off x="6108192" y="2624328"/>
            <a:ext cx="384048" cy="384048"/>
          </a:xfrm>
          <a:prstGeom prst="ellipse">
            <a:avLst/>
          </a:prstGeom>
          <a:solidFill>
            <a:srgbClr val="3BD6E8">
              <a:alpha val="18000"/>
            </a:srgbClr>
          </a:solidFill>
          <a:ln w="15240">
            <a:solidFill>
              <a:srgbClr val="3BD6E8"/>
            </a:solidFill>
            <a:prstDash val="solid"/>
          </a:ln>
        </p:spPr>
      </p:sp>
      <p:sp>
        <p:nvSpPr>
          <p:cNvPr id="26" name="Text 24"/>
          <p:cNvSpPr txBox="1"/>
          <p:nvPr/>
        </p:nvSpPr>
        <p:spPr>
          <a:xfrm>
            <a:off x="6108192" y="2633472"/>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3BD6E8"/>
                </a:solidFill>
                <a:latin typeface="Aptos" pitchFamily="34" charset="0"/>
                <a:ea typeface="Aptos" pitchFamily="34" charset="-122"/>
                <a:cs typeface="Aptos" pitchFamily="34" charset="-120"/>
              </a:rPr>
              <a:t>1</a:t>
            </a:r>
            <a:endParaRPr lang="en-US" sz="1500" dirty="0"/>
          </a:p>
        </p:txBody>
      </p:sp>
      <p:sp>
        <p:nvSpPr>
          <p:cNvPr id="27" name="Text 25"/>
          <p:cNvSpPr txBox="1"/>
          <p:nvPr/>
        </p:nvSpPr>
        <p:spPr>
          <a:xfrm>
            <a:off x="6611112" y="2606040"/>
            <a:ext cx="1005840" cy="219456"/>
          </a:xfrm>
          <a:prstGeom prst="rect">
            <a:avLst/>
          </a:prstGeom>
          <a:noFill/>
          <a:ln/>
        </p:spPr>
        <p:txBody>
          <a:bodyPr wrap="square" lIns="0" tIns="0" rIns="0" bIns="0" rtlCol="0" anchor="ctr">
            <a:normAutofit/>
          </a:bodyPr>
          <a:lstStyle/>
          <a:p>
            <a:pPr algn="l" indent="0" marL="0">
              <a:buNone/>
            </a:pPr>
            <a:r>
              <a:rPr lang="en-US" sz="1100" b="1" dirty="0">
                <a:solidFill>
                  <a:srgbClr val="F5F7FA"/>
                </a:solidFill>
                <a:latin typeface="Aptos" pitchFamily="34" charset="0"/>
                <a:ea typeface="Aptos" pitchFamily="34" charset="-122"/>
                <a:cs typeface="Aptos" pitchFamily="34" charset="-120"/>
              </a:rPr>
              <a:t>Symmetric</a:t>
            </a:r>
            <a:endParaRPr lang="en-US" sz="1100" dirty="0"/>
          </a:p>
        </p:txBody>
      </p:sp>
      <p:sp>
        <p:nvSpPr>
          <p:cNvPr id="28" name="Text 26"/>
          <p:cNvSpPr txBox="1"/>
          <p:nvPr/>
        </p:nvSpPr>
        <p:spPr>
          <a:xfrm>
            <a:off x="7635240" y="2606040"/>
            <a:ext cx="3337560" cy="219456"/>
          </a:xfrm>
          <a:prstGeom prst="rect">
            <a:avLst/>
          </a:prstGeom>
          <a:noFill/>
          <a:ln/>
        </p:spPr>
        <p:txBody>
          <a:bodyPr wrap="square" lIns="0" tIns="0" rIns="0" bIns="0" rtlCol="0" anchor="ctr">
            <a:normAutofit/>
          </a:bodyPr>
          <a:lstStyle/>
          <a:p>
            <a:pPr algn="l" indent="0" marL="0">
              <a:buNone/>
            </a:pPr>
            <a:r>
              <a:rPr lang="en-US" sz="1020" dirty="0">
                <a:solidFill>
                  <a:srgbClr val="D8E2EF"/>
                </a:solidFill>
                <a:latin typeface="Aptos" pitchFamily="34" charset="0"/>
                <a:ea typeface="Aptos" pitchFamily="34" charset="-122"/>
                <a:cs typeface="Aptos" pitchFamily="34" charset="-120"/>
              </a:rPr>
              <a:t>AES-GCM • ChaCha20-Poly1305</a:t>
            </a:r>
            <a:endParaRPr lang="en-US" sz="1020" dirty="0"/>
          </a:p>
        </p:txBody>
      </p:sp>
      <p:sp>
        <p:nvSpPr>
          <p:cNvPr id="29" name="Text 27"/>
          <p:cNvSpPr txBox="1"/>
          <p:nvPr/>
        </p:nvSpPr>
        <p:spPr>
          <a:xfrm>
            <a:off x="6611112" y="2907792"/>
            <a:ext cx="4023360" cy="201168"/>
          </a:xfrm>
          <a:prstGeom prst="rect">
            <a:avLst/>
          </a:prstGeom>
          <a:noFill/>
          <a:ln/>
        </p:spPr>
        <p:txBody>
          <a:bodyPr wrap="square" lIns="0" tIns="0" rIns="0" bIns="0" rtlCol="0" anchor="ctr">
            <a:normAutofit/>
          </a:bodyPr>
          <a:lstStyle/>
          <a:p>
            <a:pPr algn="l" indent="0" marL="0">
              <a:buNone/>
            </a:pPr>
            <a:r>
              <a:rPr lang="en-US" sz="950" b="1" dirty="0">
                <a:solidFill>
                  <a:srgbClr val="A9B6C8"/>
                </a:solidFill>
                <a:latin typeface="Aptos" pitchFamily="34" charset="0"/>
                <a:ea typeface="Aptos" pitchFamily="34" charset="-122"/>
                <a:cs typeface="Aptos" pitchFamily="34" charset="-120"/>
              </a:rPr>
              <a:t>decrypt() / encrypt()</a:t>
            </a:r>
            <a:endParaRPr lang="en-US" sz="950" dirty="0"/>
          </a:p>
        </p:txBody>
      </p:sp>
      <p:sp>
        <p:nvSpPr>
          <p:cNvPr id="30" name="Shape 28"/>
          <p:cNvSpPr/>
          <p:nvPr/>
        </p:nvSpPr>
        <p:spPr>
          <a:xfrm>
            <a:off x="6108192" y="3429000"/>
            <a:ext cx="384048" cy="384048"/>
          </a:xfrm>
          <a:prstGeom prst="ellipse">
            <a:avLst/>
          </a:prstGeom>
          <a:solidFill>
            <a:srgbClr val="FF6B35">
              <a:alpha val="18000"/>
            </a:srgbClr>
          </a:solidFill>
          <a:ln w="15240">
            <a:solidFill>
              <a:srgbClr val="FF6B35"/>
            </a:solidFill>
            <a:prstDash val="solid"/>
          </a:ln>
        </p:spPr>
      </p:sp>
      <p:sp>
        <p:nvSpPr>
          <p:cNvPr id="31" name="Text 29"/>
          <p:cNvSpPr txBox="1"/>
          <p:nvPr/>
        </p:nvSpPr>
        <p:spPr>
          <a:xfrm>
            <a:off x="6108192" y="3438144"/>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FF6B35"/>
                </a:solidFill>
                <a:latin typeface="Aptos" pitchFamily="34" charset="0"/>
                <a:ea typeface="Aptos" pitchFamily="34" charset="-122"/>
                <a:cs typeface="Aptos" pitchFamily="34" charset="-120"/>
              </a:rPr>
              <a:t>2</a:t>
            </a:r>
            <a:endParaRPr lang="en-US" sz="1500" dirty="0"/>
          </a:p>
        </p:txBody>
      </p:sp>
      <p:sp>
        <p:nvSpPr>
          <p:cNvPr id="32" name="Text 30"/>
          <p:cNvSpPr txBox="1"/>
          <p:nvPr/>
        </p:nvSpPr>
        <p:spPr>
          <a:xfrm>
            <a:off x="6611112" y="3410712"/>
            <a:ext cx="1005840" cy="219456"/>
          </a:xfrm>
          <a:prstGeom prst="rect">
            <a:avLst/>
          </a:prstGeom>
          <a:noFill/>
          <a:ln/>
        </p:spPr>
        <p:txBody>
          <a:bodyPr wrap="square" lIns="0" tIns="0" rIns="0" bIns="0" rtlCol="0" anchor="ctr">
            <a:normAutofit/>
          </a:bodyPr>
          <a:lstStyle/>
          <a:p>
            <a:pPr algn="l" indent="0" marL="0">
              <a:buNone/>
            </a:pPr>
            <a:r>
              <a:rPr lang="en-US" sz="1100" b="1" dirty="0">
                <a:solidFill>
                  <a:srgbClr val="F5F7FA"/>
                </a:solidFill>
                <a:latin typeface="Aptos" pitchFamily="34" charset="0"/>
                <a:ea typeface="Aptos" pitchFamily="34" charset="-122"/>
                <a:cs typeface="Aptos" pitchFamily="34" charset="-120"/>
              </a:rPr>
              <a:t>Asymmetric</a:t>
            </a:r>
            <a:endParaRPr lang="en-US" sz="1100" dirty="0"/>
          </a:p>
        </p:txBody>
      </p:sp>
      <p:sp>
        <p:nvSpPr>
          <p:cNvPr id="33" name="Text 31"/>
          <p:cNvSpPr txBox="1"/>
          <p:nvPr/>
        </p:nvSpPr>
        <p:spPr>
          <a:xfrm>
            <a:off x="7635240" y="3410712"/>
            <a:ext cx="3337560" cy="219456"/>
          </a:xfrm>
          <a:prstGeom prst="rect">
            <a:avLst/>
          </a:prstGeom>
          <a:noFill/>
          <a:ln/>
        </p:spPr>
        <p:txBody>
          <a:bodyPr wrap="square" lIns="0" tIns="0" rIns="0" bIns="0" rtlCol="0" anchor="ctr">
            <a:normAutofit/>
          </a:bodyPr>
          <a:lstStyle/>
          <a:p>
            <a:pPr algn="l" indent="0" marL="0">
              <a:buNone/>
            </a:pPr>
            <a:r>
              <a:rPr lang="en-US" sz="1020" dirty="0">
                <a:solidFill>
                  <a:srgbClr val="D8E2EF"/>
                </a:solidFill>
                <a:latin typeface="Aptos" pitchFamily="34" charset="0"/>
                <a:ea typeface="Aptos" pitchFamily="34" charset="-122"/>
                <a:cs typeface="Aptos" pitchFamily="34" charset="-120"/>
              </a:rPr>
              <a:t>Ed25519 • ECDSA • BLS • PQC</a:t>
            </a:r>
            <a:endParaRPr lang="en-US" sz="1020" dirty="0"/>
          </a:p>
        </p:txBody>
      </p:sp>
      <p:sp>
        <p:nvSpPr>
          <p:cNvPr id="34" name="Text 32"/>
          <p:cNvSpPr txBox="1"/>
          <p:nvPr/>
        </p:nvSpPr>
        <p:spPr>
          <a:xfrm>
            <a:off x="6611112" y="3712464"/>
            <a:ext cx="4023360" cy="201168"/>
          </a:xfrm>
          <a:prstGeom prst="rect">
            <a:avLst/>
          </a:prstGeom>
          <a:noFill/>
          <a:ln/>
        </p:spPr>
        <p:txBody>
          <a:bodyPr wrap="square" lIns="0" tIns="0" rIns="0" bIns="0" rtlCol="0" anchor="ctr">
            <a:normAutofit/>
          </a:bodyPr>
          <a:lstStyle/>
          <a:p>
            <a:pPr algn="l" indent="0" marL="0">
              <a:buNone/>
            </a:pPr>
            <a:r>
              <a:rPr lang="en-US" sz="950" b="1" dirty="0">
                <a:solidFill>
                  <a:srgbClr val="A9B6C8"/>
                </a:solidFill>
                <a:latin typeface="Aptos" pitchFamily="34" charset="0"/>
                <a:ea typeface="Aptos" pitchFamily="34" charset="-122"/>
                <a:cs typeface="Aptos" pitchFamily="34" charset="-120"/>
              </a:rPr>
              <a:t>sign() / derive()</a:t>
            </a:r>
            <a:endParaRPr lang="en-US" sz="950" dirty="0"/>
          </a:p>
        </p:txBody>
      </p:sp>
      <p:sp>
        <p:nvSpPr>
          <p:cNvPr id="35" name="Shape 33"/>
          <p:cNvSpPr/>
          <p:nvPr/>
        </p:nvSpPr>
        <p:spPr>
          <a:xfrm>
            <a:off x="6108192" y="4233672"/>
            <a:ext cx="384048" cy="384048"/>
          </a:xfrm>
          <a:prstGeom prst="ellipse">
            <a:avLst/>
          </a:prstGeom>
          <a:solidFill>
            <a:srgbClr val="5FE1A0">
              <a:alpha val="18000"/>
            </a:srgbClr>
          </a:solidFill>
          <a:ln w="15240">
            <a:solidFill>
              <a:srgbClr val="5FE1A0"/>
            </a:solidFill>
            <a:prstDash val="solid"/>
          </a:ln>
        </p:spPr>
      </p:sp>
      <p:sp>
        <p:nvSpPr>
          <p:cNvPr id="36" name="Text 34"/>
          <p:cNvSpPr txBox="1"/>
          <p:nvPr/>
        </p:nvSpPr>
        <p:spPr>
          <a:xfrm>
            <a:off x="6108192" y="4242816"/>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5FE1A0"/>
                </a:solidFill>
                <a:latin typeface="Aptos" pitchFamily="34" charset="0"/>
                <a:ea typeface="Aptos" pitchFamily="34" charset="-122"/>
                <a:cs typeface="Aptos" pitchFamily="34" charset="-120"/>
              </a:rPr>
              <a:t>3</a:t>
            </a:r>
            <a:endParaRPr lang="en-US" sz="1500" dirty="0"/>
          </a:p>
        </p:txBody>
      </p:sp>
      <p:sp>
        <p:nvSpPr>
          <p:cNvPr id="37" name="Text 35"/>
          <p:cNvSpPr txBox="1"/>
          <p:nvPr/>
        </p:nvSpPr>
        <p:spPr>
          <a:xfrm>
            <a:off x="6611112" y="4215384"/>
            <a:ext cx="1005840" cy="219456"/>
          </a:xfrm>
          <a:prstGeom prst="rect">
            <a:avLst/>
          </a:prstGeom>
          <a:noFill/>
          <a:ln/>
        </p:spPr>
        <p:txBody>
          <a:bodyPr wrap="square" lIns="0" tIns="0" rIns="0" bIns="0" rtlCol="0" anchor="ctr">
            <a:normAutofit/>
          </a:bodyPr>
          <a:lstStyle/>
          <a:p>
            <a:pPr algn="l" indent="0" marL="0">
              <a:buNone/>
            </a:pPr>
            <a:r>
              <a:rPr lang="en-US" sz="1100" b="1" dirty="0">
                <a:solidFill>
                  <a:srgbClr val="F5F7FA"/>
                </a:solidFill>
                <a:latin typeface="Aptos" pitchFamily="34" charset="0"/>
                <a:ea typeface="Aptos" pitchFamily="34" charset="-122"/>
                <a:cs typeface="Aptos" pitchFamily="34" charset="-120"/>
              </a:rPr>
              <a:t>Threshold</a:t>
            </a:r>
            <a:endParaRPr lang="en-US" sz="1100" dirty="0"/>
          </a:p>
        </p:txBody>
      </p:sp>
      <p:sp>
        <p:nvSpPr>
          <p:cNvPr id="38" name="Text 36"/>
          <p:cNvSpPr txBox="1"/>
          <p:nvPr/>
        </p:nvSpPr>
        <p:spPr>
          <a:xfrm>
            <a:off x="7635240" y="4215384"/>
            <a:ext cx="3337560" cy="219456"/>
          </a:xfrm>
          <a:prstGeom prst="rect">
            <a:avLst/>
          </a:prstGeom>
          <a:noFill/>
          <a:ln/>
        </p:spPr>
        <p:txBody>
          <a:bodyPr wrap="square" lIns="0" tIns="0" rIns="0" bIns="0" rtlCol="0" anchor="ctr">
            <a:normAutofit/>
          </a:bodyPr>
          <a:lstStyle/>
          <a:p>
            <a:pPr algn="l" indent="0" marL="0">
              <a:buNone/>
            </a:pPr>
            <a:r>
              <a:rPr lang="en-US" sz="1020" dirty="0">
                <a:solidFill>
                  <a:srgbClr val="D8E2EF"/>
                </a:solidFill>
                <a:latin typeface="Aptos" pitchFamily="34" charset="0"/>
                <a:ea typeface="Aptos" pitchFamily="34" charset="-122"/>
                <a:cs typeface="Aptos" pitchFamily="34" charset="-120"/>
              </a:rPr>
              <a:t>2-of-3 / 3-of-5 shares</a:t>
            </a:r>
            <a:endParaRPr lang="en-US" sz="1020" dirty="0"/>
          </a:p>
        </p:txBody>
      </p:sp>
      <p:sp>
        <p:nvSpPr>
          <p:cNvPr id="39" name="Text 37"/>
          <p:cNvSpPr txBox="1"/>
          <p:nvPr/>
        </p:nvSpPr>
        <p:spPr>
          <a:xfrm>
            <a:off x="6611112" y="4517136"/>
            <a:ext cx="4023360" cy="201168"/>
          </a:xfrm>
          <a:prstGeom prst="rect">
            <a:avLst/>
          </a:prstGeom>
          <a:noFill/>
          <a:ln/>
        </p:spPr>
        <p:txBody>
          <a:bodyPr wrap="square" lIns="0" tIns="0" rIns="0" bIns="0" rtlCol="0" anchor="ctr">
            <a:normAutofit/>
          </a:bodyPr>
          <a:lstStyle/>
          <a:p>
            <a:pPr algn="l" indent="0" marL="0">
              <a:buNone/>
            </a:pPr>
            <a:r>
              <a:rPr lang="en-US" sz="950" b="1" dirty="0">
                <a:solidFill>
                  <a:srgbClr val="5FE1A0"/>
                </a:solidFill>
                <a:latin typeface="Aptos" pitchFamily="34" charset="0"/>
                <a:ea typeface="Aptos" pitchFamily="34" charset="-122"/>
                <a:cs typeface="Aptos" pitchFamily="34" charset="-120"/>
              </a:rPr>
              <a:t>partial_sign() / aggregate()</a:t>
            </a:r>
            <a:endParaRPr lang="en-US" sz="950" dirty="0"/>
          </a:p>
        </p:txBody>
      </p:sp>
      <p:sp>
        <p:nvSpPr>
          <p:cNvPr id="40" name="Shape 38"/>
          <p:cNvSpPr/>
          <p:nvPr/>
        </p:nvSpPr>
        <p:spPr>
          <a:xfrm>
            <a:off x="6108192" y="5166360"/>
            <a:ext cx="1371600" cy="274320"/>
          </a:xfrm>
          <a:prstGeom prst="roundRect">
            <a:avLst>
              <a:gd name="adj" fmla="val 50000"/>
            </a:avLst>
          </a:prstGeom>
          <a:solidFill>
            <a:srgbClr val="2C2029"/>
          </a:solidFill>
          <a:ln w="12700">
            <a:solidFill>
              <a:srgbClr val="FF6B6B">
                <a:alpha val="35000"/>
              </a:srgbClr>
            </a:solidFill>
            <a:prstDash val="solid"/>
          </a:ln>
        </p:spPr>
      </p:sp>
      <p:sp>
        <p:nvSpPr>
          <p:cNvPr id="41" name="Text 39"/>
          <p:cNvSpPr txBox="1"/>
          <p:nvPr/>
        </p:nvSpPr>
        <p:spPr>
          <a:xfrm>
            <a:off x="6181344" y="5184648"/>
            <a:ext cx="1225296" cy="219456"/>
          </a:xfrm>
          <a:prstGeom prst="rect">
            <a:avLst/>
          </a:prstGeom>
          <a:noFill/>
          <a:ln/>
        </p:spPr>
        <p:txBody>
          <a:bodyPr wrap="square" lIns="0" tIns="0" rIns="0" bIns="0" rtlCol="0" anchor="ctr">
            <a:normAutofit/>
          </a:bodyPr>
          <a:lstStyle/>
          <a:p>
            <a:pPr algn="l" indent="0" marL="0">
              <a:buNone/>
            </a:pPr>
            <a:r>
              <a:rPr lang="en-US" sz="850" b="1" dirty="0">
                <a:solidFill>
                  <a:srgbClr val="FF6B6B"/>
                </a:solidFill>
                <a:latin typeface="Aptos" pitchFamily="34" charset="0"/>
                <a:ea typeface="Aptos" pitchFamily="34" charset="-122"/>
                <a:cs typeface="Aptos" pitchFamily="34" charset="-120"/>
              </a:rPr>
              <a:t>NO KEY EXPORT</a:t>
            </a:r>
            <a:endParaRPr lang="en-US" sz="850" dirty="0"/>
          </a:p>
        </p:txBody>
      </p:sp>
      <p:sp>
        <p:nvSpPr>
          <p:cNvPr id="42" name="Text 40"/>
          <p:cNvSpPr txBox="1"/>
          <p:nvPr/>
        </p:nvSpPr>
        <p:spPr>
          <a:xfrm>
            <a:off x="7626096" y="5166360"/>
            <a:ext cx="3337560" cy="310896"/>
          </a:xfrm>
          <a:prstGeom prst="rect">
            <a:avLst/>
          </a:prstGeom>
          <a:noFill/>
          <a:ln/>
        </p:spPr>
        <p:txBody>
          <a:bodyPr wrap="square" lIns="0" tIns="0" rIns="0" bIns="0" rtlCol="0" anchor="ctr">
            <a:normAutofit/>
          </a:bodyPr>
          <a:lstStyle/>
          <a:p>
            <a:pPr algn="l" indent="0" marL="0">
              <a:buNone/>
            </a:pPr>
            <a:r>
              <a:rPr lang="en-US" sz="1050" b="1" dirty="0">
                <a:solidFill>
                  <a:srgbClr val="F5F7FA"/>
                </a:solidFill>
                <a:latin typeface="Aptos" pitchFamily="34" charset="0"/>
                <a:ea typeface="Aptos" pitchFamily="34" charset="-122"/>
                <a:cs typeface="Aptos" pitchFamily="34" charset="-120"/>
              </a:rPr>
              <a:t>Plaintext key lifetime = minimum needed for the cryptographic operation.</a:t>
            </a:r>
            <a:endParaRPr lang="en-US" sz="1050" dirty="0"/>
          </a:p>
        </p:txBody>
      </p:sp>
      <p:sp>
        <p:nvSpPr>
          <p:cNvPr id="43" name="Text 41"/>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Design principle: KMS/HSM retains long-term authority; C-CCA is the last-resort execution location for plaintext key material.</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9 • ATTESTATION &amp; KEY RELEASE</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Turn hardware trust into an enforceable policy decision.</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The KMS should release secrets only after validating a composite evidence bundle.</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10</a:t>
            </a:r>
            <a:endParaRPr lang="en-US" sz="1000" dirty="0"/>
          </a:p>
        </p:txBody>
      </p:sp>
      <p:sp>
        <p:nvSpPr>
          <p:cNvPr id="6" name="Shape 4"/>
          <p:cNvSpPr/>
          <p:nvPr/>
        </p:nvSpPr>
        <p:spPr>
          <a:xfrm>
            <a:off x="594360" y="2148840"/>
            <a:ext cx="420624" cy="420624"/>
          </a:xfrm>
          <a:prstGeom prst="ellipse">
            <a:avLst/>
          </a:prstGeom>
          <a:solidFill>
            <a:srgbClr val="3BD6E8">
              <a:alpha val="18000"/>
            </a:srgbClr>
          </a:solidFill>
          <a:ln w="15240">
            <a:solidFill>
              <a:srgbClr val="3BD6E8"/>
            </a:solidFill>
            <a:prstDash val="solid"/>
          </a:ln>
        </p:spPr>
      </p:sp>
      <p:sp>
        <p:nvSpPr>
          <p:cNvPr id="7" name="Text 5"/>
          <p:cNvSpPr txBox="1"/>
          <p:nvPr/>
        </p:nvSpPr>
        <p:spPr>
          <a:xfrm>
            <a:off x="594360" y="2157984"/>
            <a:ext cx="420624" cy="402336"/>
          </a:xfrm>
          <a:prstGeom prst="rect">
            <a:avLst/>
          </a:prstGeom>
          <a:noFill/>
          <a:ln/>
        </p:spPr>
        <p:txBody>
          <a:bodyPr wrap="square" lIns="0" tIns="0" rIns="0" bIns="0" rtlCol="0" anchor="ctr">
            <a:normAutofit/>
          </a:bodyPr>
          <a:lstStyle/>
          <a:p>
            <a:pPr algn="ctr" indent="0" marL="0">
              <a:buNone/>
            </a:pPr>
            <a:r>
              <a:rPr lang="en-US" sz="1500" b="1" dirty="0">
                <a:solidFill>
                  <a:srgbClr val="3BD6E8"/>
                </a:solidFill>
                <a:latin typeface="Aptos" pitchFamily="34" charset="0"/>
                <a:ea typeface="Aptos" pitchFamily="34" charset="-122"/>
                <a:cs typeface="Aptos" pitchFamily="34" charset="-120"/>
              </a:rPr>
              <a:t>1</a:t>
            </a:r>
            <a:endParaRPr lang="en-US" sz="1500" dirty="0"/>
          </a:p>
        </p:txBody>
      </p:sp>
      <p:sp>
        <p:nvSpPr>
          <p:cNvPr id="8" name="Text 6"/>
          <p:cNvSpPr txBox="1"/>
          <p:nvPr/>
        </p:nvSpPr>
        <p:spPr>
          <a:xfrm>
            <a:off x="521208" y="2670048"/>
            <a:ext cx="1325880" cy="201168"/>
          </a:xfrm>
          <a:prstGeom prst="rect">
            <a:avLst/>
          </a:prstGeom>
          <a:noFill/>
          <a:ln/>
        </p:spPr>
        <p:txBody>
          <a:bodyPr wrap="square" lIns="0" tIns="0" rIns="0" bIns="0" rtlCol="0" anchor="ctr">
            <a:normAutofit/>
          </a:bodyPr>
          <a:lstStyle/>
          <a:p>
            <a:pPr algn="ctr" indent="0" marL="0">
              <a:buNone/>
            </a:pPr>
            <a:r>
              <a:rPr lang="en-US" sz="1100" b="1" dirty="0">
                <a:solidFill>
                  <a:srgbClr val="F5F7FA"/>
                </a:solidFill>
                <a:latin typeface="Aptos" pitchFamily="34" charset="0"/>
                <a:ea typeface="Aptos" pitchFamily="34" charset="-122"/>
                <a:cs typeface="Aptos" pitchFamily="34" charset="-120"/>
              </a:rPr>
              <a:t>Boot</a:t>
            </a:r>
            <a:endParaRPr lang="en-US" sz="1100" dirty="0"/>
          </a:p>
        </p:txBody>
      </p:sp>
      <p:sp>
        <p:nvSpPr>
          <p:cNvPr id="9" name="Text 7"/>
          <p:cNvSpPr txBox="1"/>
          <p:nvPr/>
        </p:nvSpPr>
        <p:spPr>
          <a:xfrm>
            <a:off x="411480" y="2990088"/>
            <a:ext cx="1481328" cy="566928"/>
          </a:xfrm>
          <a:prstGeom prst="rect">
            <a:avLst/>
          </a:prstGeom>
          <a:noFill/>
          <a:ln/>
        </p:spPr>
        <p:txBody>
          <a:bodyPr wrap="square" lIns="0" tIns="0" rIns="0" bIns="0" rtlCol="0" anchor="ctr">
            <a:normAutofit/>
          </a:bodyPr>
          <a:lstStyle/>
          <a:p>
            <a:pPr algn="ctr" indent="0" marL="0">
              <a:buNone/>
            </a:pPr>
            <a:r>
              <a:rPr lang="en-US" sz="940" dirty="0">
                <a:solidFill>
                  <a:srgbClr val="D8E2EF"/>
                </a:solidFill>
                <a:latin typeface="Aptos" pitchFamily="34" charset="0"/>
                <a:ea typeface="Aptos" pitchFamily="34" charset="-122"/>
                <a:cs typeface="Aptos" pitchFamily="34" charset="-120"/>
              </a:rPr>
              <a:t>WSE + CVM measured boot</a:t>
            </a:r>
            <a:endParaRPr lang="en-US" sz="940" dirty="0"/>
          </a:p>
        </p:txBody>
      </p:sp>
      <p:sp>
        <p:nvSpPr>
          <p:cNvPr id="10" name="Shape 8"/>
          <p:cNvSpPr/>
          <p:nvPr/>
        </p:nvSpPr>
        <p:spPr>
          <a:xfrm>
            <a:off x="1033272" y="2359152"/>
            <a:ext cx="978408" cy="0"/>
          </a:xfrm>
          <a:prstGeom prst="line">
            <a:avLst/>
          </a:prstGeom>
          <a:noFill/>
          <a:ln w="19050">
            <a:solidFill>
              <a:srgbClr val="A9B6C8"/>
            </a:solidFill>
            <a:prstDash val="solid"/>
            <a:headEnd type="none"/>
            <a:tailEnd type="triangle"/>
          </a:ln>
        </p:spPr>
      </p:sp>
      <p:sp>
        <p:nvSpPr>
          <p:cNvPr id="11" name="Shape 9"/>
          <p:cNvSpPr/>
          <p:nvPr/>
        </p:nvSpPr>
        <p:spPr>
          <a:xfrm>
            <a:off x="2212848" y="2148840"/>
            <a:ext cx="420624" cy="420624"/>
          </a:xfrm>
          <a:prstGeom prst="ellipse">
            <a:avLst/>
          </a:prstGeom>
          <a:solidFill>
            <a:srgbClr val="3BD6E8">
              <a:alpha val="18000"/>
            </a:srgbClr>
          </a:solidFill>
          <a:ln w="15240">
            <a:solidFill>
              <a:srgbClr val="3BD6E8"/>
            </a:solidFill>
            <a:prstDash val="solid"/>
          </a:ln>
        </p:spPr>
      </p:sp>
      <p:sp>
        <p:nvSpPr>
          <p:cNvPr id="12" name="Text 10"/>
          <p:cNvSpPr txBox="1"/>
          <p:nvPr/>
        </p:nvSpPr>
        <p:spPr>
          <a:xfrm>
            <a:off x="2212848" y="2157984"/>
            <a:ext cx="420624" cy="402336"/>
          </a:xfrm>
          <a:prstGeom prst="rect">
            <a:avLst/>
          </a:prstGeom>
          <a:noFill/>
          <a:ln/>
        </p:spPr>
        <p:txBody>
          <a:bodyPr wrap="square" lIns="0" tIns="0" rIns="0" bIns="0" rtlCol="0" anchor="ctr">
            <a:normAutofit/>
          </a:bodyPr>
          <a:lstStyle/>
          <a:p>
            <a:pPr algn="ctr" indent="0" marL="0">
              <a:buNone/>
            </a:pPr>
            <a:r>
              <a:rPr lang="en-US" sz="1500" b="1" dirty="0">
                <a:solidFill>
                  <a:srgbClr val="3BD6E8"/>
                </a:solidFill>
                <a:latin typeface="Aptos" pitchFamily="34" charset="0"/>
                <a:ea typeface="Aptos" pitchFamily="34" charset="-122"/>
                <a:cs typeface="Aptos" pitchFamily="34" charset="-120"/>
              </a:rPr>
              <a:t>2</a:t>
            </a:r>
            <a:endParaRPr lang="en-US" sz="1500" dirty="0"/>
          </a:p>
        </p:txBody>
      </p:sp>
      <p:sp>
        <p:nvSpPr>
          <p:cNvPr id="13" name="Text 11"/>
          <p:cNvSpPr txBox="1"/>
          <p:nvPr/>
        </p:nvSpPr>
        <p:spPr>
          <a:xfrm>
            <a:off x="2139696" y="2670048"/>
            <a:ext cx="1325880" cy="201168"/>
          </a:xfrm>
          <a:prstGeom prst="rect">
            <a:avLst/>
          </a:prstGeom>
          <a:noFill/>
          <a:ln/>
        </p:spPr>
        <p:txBody>
          <a:bodyPr wrap="square" lIns="0" tIns="0" rIns="0" bIns="0" rtlCol="0" anchor="ctr">
            <a:normAutofit/>
          </a:bodyPr>
          <a:lstStyle/>
          <a:p>
            <a:pPr algn="ctr" indent="0" marL="0">
              <a:buNone/>
            </a:pPr>
            <a:r>
              <a:rPr lang="en-US" sz="1100" b="1" dirty="0">
                <a:solidFill>
                  <a:srgbClr val="F5F7FA"/>
                </a:solidFill>
                <a:latin typeface="Aptos" pitchFamily="34" charset="0"/>
                <a:ea typeface="Aptos" pitchFamily="34" charset="-122"/>
                <a:cs typeface="Aptos" pitchFamily="34" charset="-120"/>
              </a:rPr>
              <a:t>Evidence</a:t>
            </a:r>
            <a:endParaRPr lang="en-US" sz="1100" dirty="0"/>
          </a:p>
        </p:txBody>
      </p:sp>
      <p:sp>
        <p:nvSpPr>
          <p:cNvPr id="14" name="Text 12"/>
          <p:cNvSpPr txBox="1"/>
          <p:nvPr/>
        </p:nvSpPr>
        <p:spPr>
          <a:xfrm>
            <a:off x="2029968" y="2990088"/>
            <a:ext cx="1481328" cy="566928"/>
          </a:xfrm>
          <a:prstGeom prst="rect">
            <a:avLst/>
          </a:prstGeom>
          <a:noFill/>
          <a:ln/>
        </p:spPr>
        <p:txBody>
          <a:bodyPr wrap="square" lIns="0" tIns="0" rIns="0" bIns="0" rtlCol="0" anchor="ctr">
            <a:normAutofit/>
          </a:bodyPr>
          <a:lstStyle/>
          <a:p>
            <a:pPr algn="ctr" indent="0" marL="0">
              <a:buNone/>
            </a:pPr>
            <a:r>
              <a:rPr lang="en-US" sz="940" dirty="0">
                <a:solidFill>
                  <a:srgbClr val="D8E2EF"/>
                </a:solidFill>
                <a:latin typeface="Aptos" pitchFamily="34" charset="0"/>
                <a:ea typeface="Aptos" pitchFamily="34" charset="-122"/>
                <a:cs typeface="Aptos" pitchFamily="34" charset="-120"/>
              </a:rPr>
              <a:t>Platform + WSE measurements</a:t>
            </a:r>
            <a:endParaRPr lang="en-US" sz="940" dirty="0"/>
          </a:p>
        </p:txBody>
      </p:sp>
      <p:sp>
        <p:nvSpPr>
          <p:cNvPr id="15" name="Shape 13"/>
          <p:cNvSpPr/>
          <p:nvPr/>
        </p:nvSpPr>
        <p:spPr>
          <a:xfrm>
            <a:off x="2651760" y="2359152"/>
            <a:ext cx="978408" cy="0"/>
          </a:xfrm>
          <a:prstGeom prst="line">
            <a:avLst/>
          </a:prstGeom>
          <a:noFill/>
          <a:ln w="19050">
            <a:solidFill>
              <a:srgbClr val="A9B6C8"/>
            </a:solidFill>
            <a:prstDash val="solid"/>
            <a:headEnd type="none"/>
            <a:tailEnd type="triangle"/>
          </a:ln>
        </p:spPr>
      </p:sp>
      <p:sp>
        <p:nvSpPr>
          <p:cNvPr id="16" name="Shape 14"/>
          <p:cNvSpPr/>
          <p:nvPr/>
        </p:nvSpPr>
        <p:spPr>
          <a:xfrm>
            <a:off x="3831336" y="2148840"/>
            <a:ext cx="420624" cy="420624"/>
          </a:xfrm>
          <a:prstGeom prst="ellipse">
            <a:avLst/>
          </a:prstGeom>
          <a:solidFill>
            <a:srgbClr val="5FE1A0">
              <a:alpha val="18000"/>
            </a:srgbClr>
          </a:solidFill>
          <a:ln w="15240">
            <a:solidFill>
              <a:srgbClr val="5FE1A0"/>
            </a:solidFill>
            <a:prstDash val="solid"/>
          </a:ln>
        </p:spPr>
      </p:sp>
      <p:sp>
        <p:nvSpPr>
          <p:cNvPr id="17" name="Text 15"/>
          <p:cNvSpPr txBox="1"/>
          <p:nvPr/>
        </p:nvSpPr>
        <p:spPr>
          <a:xfrm>
            <a:off x="3831336" y="2157984"/>
            <a:ext cx="420624" cy="402336"/>
          </a:xfrm>
          <a:prstGeom prst="rect">
            <a:avLst/>
          </a:prstGeom>
          <a:noFill/>
          <a:ln/>
        </p:spPr>
        <p:txBody>
          <a:bodyPr wrap="square" lIns="0" tIns="0" rIns="0" bIns="0" rtlCol="0" anchor="ctr">
            <a:normAutofit/>
          </a:bodyPr>
          <a:lstStyle/>
          <a:p>
            <a:pPr algn="ctr" indent="0" marL="0">
              <a:buNone/>
            </a:pPr>
            <a:r>
              <a:rPr lang="en-US" sz="1500" b="1" dirty="0">
                <a:solidFill>
                  <a:srgbClr val="5FE1A0"/>
                </a:solidFill>
                <a:latin typeface="Aptos" pitchFamily="34" charset="0"/>
                <a:ea typeface="Aptos" pitchFamily="34" charset="-122"/>
                <a:cs typeface="Aptos" pitchFamily="34" charset="-120"/>
              </a:rPr>
              <a:t>3</a:t>
            </a:r>
            <a:endParaRPr lang="en-US" sz="1500" dirty="0"/>
          </a:p>
        </p:txBody>
      </p:sp>
      <p:sp>
        <p:nvSpPr>
          <p:cNvPr id="18" name="Text 16"/>
          <p:cNvSpPr txBox="1"/>
          <p:nvPr/>
        </p:nvSpPr>
        <p:spPr>
          <a:xfrm>
            <a:off x="3758184" y="2670048"/>
            <a:ext cx="1325880" cy="201168"/>
          </a:xfrm>
          <a:prstGeom prst="rect">
            <a:avLst/>
          </a:prstGeom>
          <a:noFill/>
          <a:ln/>
        </p:spPr>
        <p:txBody>
          <a:bodyPr wrap="square" lIns="0" tIns="0" rIns="0" bIns="0" rtlCol="0" anchor="ctr">
            <a:normAutofit/>
          </a:bodyPr>
          <a:lstStyle/>
          <a:p>
            <a:pPr algn="ctr" indent="0" marL="0">
              <a:buNone/>
            </a:pPr>
            <a:r>
              <a:rPr lang="en-US" sz="1100" b="1" dirty="0">
                <a:solidFill>
                  <a:srgbClr val="F5F7FA"/>
                </a:solidFill>
                <a:latin typeface="Aptos" pitchFamily="34" charset="0"/>
                <a:ea typeface="Aptos" pitchFamily="34" charset="-122"/>
                <a:cs typeface="Aptos" pitchFamily="34" charset="-120"/>
              </a:rPr>
              <a:t>Verify</a:t>
            </a:r>
            <a:endParaRPr lang="en-US" sz="1100" dirty="0"/>
          </a:p>
        </p:txBody>
      </p:sp>
      <p:sp>
        <p:nvSpPr>
          <p:cNvPr id="19" name="Text 17"/>
          <p:cNvSpPr txBox="1"/>
          <p:nvPr/>
        </p:nvSpPr>
        <p:spPr>
          <a:xfrm>
            <a:off x="3648456" y="2990088"/>
            <a:ext cx="1481328" cy="566928"/>
          </a:xfrm>
          <a:prstGeom prst="rect">
            <a:avLst/>
          </a:prstGeom>
          <a:noFill/>
          <a:ln/>
        </p:spPr>
        <p:txBody>
          <a:bodyPr wrap="square" lIns="0" tIns="0" rIns="0" bIns="0" rtlCol="0" anchor="ctr">
            <a:normAutofit/>
          </a:bodyPr>
          <a:lstStyle/>
          <a:p>
            <a:pPr algn="ctr" indent="0" marL="0">
              <a:buNone/>
            </a:pPr>
            <a:r>
              <a:rPr lang="en-US" sz="940" dirty="0">
                <a:solidFill>
                  <a:srgbClr val="D8E2EF"/>
                </a:solidFill>
                <a:latin typeface="Aptos" pitchFamily="34" charset="0"/>
                <a:ea typeface="Aptos" pitchFamily="34" charset="-122"/>
                <a:cs typeface="Aptos" pitchFamily="34" charset="-120"/>
              </a:rPr>
              <a:t>Signature / certificate / TCB</a:t>
            </a:r>
            <a:endParaRPr lang="en-US" sz="940" dirty="0"/>
          </a:p>
        </p:txBody>
      </p:sp>
      <p:sp>
        <p:nvSpPr>
          <p:cNvPr id="20" name="Shape 18"/>
          <p:cNvSpPr/>
          <p:nvPr/>
        </p:nvSpPr>
        <p:spPr>
          <a:xfrm>
            <a:off x="4270248" y="2359152"/>
            <a:ext cx="978408" cy="0"/>
          </a:xfrm>
          <a:prstGeom prst="line">
            <a:avLst/>
          </a:prstGeom>
          <a:noFill/>
          <a:ln w="19050">
            <a:solidFill>
              <a:srgbClr val="A9B6C8"/>
            </a:solidFill>
            <a:prstDash val="solid"/>
            <a:headEnd type="none"/>
            <a:tailEnd type="triangle"/>
          </a:ln>
        </p:spPr>
      </p:sp>
      <p:sp>
        <p:nvSpPr>
          <p:cNvPr id="21" name="Shape 19"/>
          <p:cNvSpPr/>
          <p:nvPr/>
        </p:nvSpPr>
        <p:spPr>
          <a:xfrm>
            <a:off x="5449824" y="2148840"/>
            <a:ext cx="420624" cy="420624"/>
          </a:xfrm>
          <a:prstGeom prst="ellipse">
            <a:avLst/>
          </a:prstGeom>
          <a:solidFill>
            <a:srgbClr val="FF6B35">
              <a:alpha val="18000"/>
            </a:srgbClr>
          </a:solidFill>
          <a:ln w="15240">
            <a:solidFill>
              <a:srgbClr val="FF6B35"/>
            </a:solidFill>
            <a:prstDash val="solid"/>
          </a:ln>
        </p:spPr>
      </p:sp>
      <p:sp>
        <p:nvSpPr>
          <p:cNvPr id="22" name="Text 20"/>
          <p:cNvSpPr txBox="1"/>
          <p:nvPr/>
        </p:nvSpPr>
        <p:spPr>
          <a:xfrm>
            <a:off x="5449824" y="2157984"/>
            <a:ext cx="420624" cy="402336"/>
          </a:xfrm>
          <a:prstGeom prst="rect">
            <a:avLst/>
          </a:prstGeom>
          <a:noFill/>
          <a:ln/>
        </p:spPr>
        <p:txBody>
          <a:bodyPr wrap="square" lIns="0" tIns="0" rIns="0" bIns="0" rtlCol="0" anchor="ctr">
            <a:normAutofit/>
          </a:bodyPr>
          <a:lstStyle/>
          <a:p>
            <a:pPr algn="ctr" indent="0" marL="0">
              <a:buNone/>
            </a:pPr>
            <a:r>
              <a:rPr lang="en-US" sz="1500" b="1" dirty="0">
                <a:solidFill>
                  <a:srgbClr val="FF6B35"/>
                </a:solidFill>
                <a:latin typeface="Aptos" pitchFamily="34" charset="0"/>
                <a:ea typeface="Aptos" pitchFamily="34" charset="-122"/>
                <a:cs typeface="Aptos" pitchFamily="34" charset="-120"/>
              </a:rPr>
              <a:t>4</a:t>
            </a:r>
            <a:endParaRPr lang="en-US" sz="1500" dirty="0"/>
          </a:p>
        </p:txBody>
      </p:sp>
      <p:sp>
        <p:nvSpPr>
          <p:cNvPr id="23" name="Text 21"/>
          <p:cNvSpPr txBox="1"/>
          <p:nvPr/>
        </p:nvSpPr>
        <p:spPr>
          <a:xfrm>
            <a:off x="5376672" y="2670048"/>
            <a:ext cx="1325880" cy="201168"/>
          </a:xfrm>
          <a:prstGeom prst="rect">
            <a:avLst/>
          </a:prstGeom>
          <a:noFill/>
          <a:ln/>
        </p:spPr>
        <p:txBody>
          <a:bodyPr wrap="square" lIns="0" tIns="0" rIns="0" bIns="0" rtlCol="0" anchor="ctr">
            <a:normAutofit/>
          </a:bodyPr>
          <a:lstStyle/>
          <a:p>
            <a:pPr algn="ctr" indent="0" marL="0">
              <a:buNone/>
            </a:pPr>
            <a:r>
              <a:rPr lang="en-US" sz="1100" b="1" dirty="0">
                <a:solidFill>
                  <a:srgbClr val="F5F7FA"/>
                </a:solidFill>
                <a:latin typeface="Aptos" pitchFamily="34" charset="0"/>
                <a:ea typeface="Aptos" pitchFamily="34" charset="-122"/>
                <a:cs typeface="Aptos" pitchFamily="34" charset="-120"/>
              </a:rPr>
              <a:t>Policy</a:t>
            </a:r>
            <a:endParaRPr lang="en-US" sz="1100" dirty="0"/>
          </a:p>
        </p:txBody>
      </p:sp>
      <p:sp>
        <p:nvSpPr>
          <p:cNvPr id="24" name="Text 22"/>
          <p:cNvSpPr txBox="1"/>
          <p:nvPr/>
        </p:nvSpPr>
        <p:spPr>
          <a:xfrm>
            <a:off x="5266944" y="2990088"/>
            <a:ext cx="1481328" cy="566928"/>
          </a:xfrm>
          <a:prstGeom prst="rect">
            <a:avLst/>
          </a:prstGeom>
          <a:noFill/>
          <a:ln/>
        </p:spPr>
        <p:txBody>
          <a:bodyPr wrap="square" lIns="0" tIns="0" rIns="0" bIns="0" rtlCol="0" anchor="ctr">
            <a:normAutofit/>
          </a:bodyPr>
          <a:lstStyle/>
          <a:p>
            <a:pPr algn="ctr" indent="0" marL="0">
              <a:buNone/>
            </a:pPr>
            <a:r>
              <a:rPr lang="en-US" sz="940" dirty="0">
                <a:solidFill>
                  <a:srgbClr val="D8E2EF"/>
                </a:solidFill>
                <a:latin typeface="Aptos" pitchFamily="34" charset="0"/>
                <a:ea typeface="Aptos" pitchFamily="34" charset="-122"/>
                <a:cs typeface="Aptos" pitchFamily="34" charset="-120"/>
              </a:rPr>
              <a:t>Workload + model + security policy</a:t>
            </a:r>
            <a:endParaRPr lang="en-US" sz="940" dirty="0"/>
          </a:p>
        </p:txBody>
      </p:sp>
      <p:sp>
        <p:nvSpPr>
          <p:cNvPr id="25" name="Shape 23"/>
          <p:cNvSpPr/>
          <p:nvPr/>
        </p:nvSpPr>
        <p:spPr>
          <a:xfrm>
            <a:off x="5888736" y="2359152"/>
            <a:ext cx="978408" cy="0"/>
          </a:xfrm>
          <a:prstGeom prst="line">
            <a:avLst/>
          </a:prstGeom>
          <a:noFill/>
          <a:ln w="19050">
            <a:solidFill>
              <a:srgbClr val="A9B6C8"/>
            </a:solidFill>
            <a:prstDash val="solid"/>
            <a:headEnd type="none"/>
            <a:tailEnd type="triangle"/>
          </a:ln>
        </p:spPr>
      </p:sp>
      <p:sp>
        <p:nvSpPr>
          <p:cNvPr id="26" name="Shape 24"/>
          <p:cNvSpPr/>
          <p:nvPr/>
        </p:nvSpPr>
        <p:spPr>
          <a:xfrm>
            <a:off x="7068312" y="2148840"/>
            <a:ext cx="420624" cy="420624"/>
          </a:xfrm>
          <a:prstGeom prst="ellipse">
            <a:avLst/>
          </a:prstGeom>
          <a:solidFill>
            <a:srgbClr val="FFD166">
              <a:alpha val="18000"/>
            </a:srgbClr>
          </a:solidFill>
          <a:ln w="15240">
            <a:solidFill>
              <a:srgbClr val="FFD166"/>
            </a:solidFill>
            <a:prstDash val="solid"/>
          </a:ln>
        </p:spPr>
      </p:sp>
      <p:sp>
        <p:nvSpPr>
          <p:cNvPr id="27" name="Text 25"/>
          <p:cNvSpPr txBox="1"/>
          <p:nvPr/>
        </p:nvSpPr>
        <p:spPr>
          <a:xfrm>
            <a:off x="7068312" y="2157984"/>
            <a:ext cx="420624" cy="402336"/>
          </a:xfrm>
          <a:prstGeom prst="rect">
            <a:avLst/>
          </a:prstGeom>
          <a:noFill/>
          <a:ln/>
        </p:spPr>
        <p:txBody>
          <a:bodyPr wrap="square" lIns="0" tIns="0" rIns="0" bIns="0" rtlCol="0" anchor="ctr">
            <a:normAutofit/>
          </a:bodyPr>
          <a:lstStyle/>
          <a:p>
            <a:pPr algn="ctr" indent="0" marL="0">
              <a:buNone/>
            </a:pPr>
            <a:r>
              <a:rPr lang="en-US" sz="1500" b="1" dirty="0">
                <a:solidFill>
                  <a:srgbClr val="FFD166"/>
                </a:solidFill>
                <a:latin typeface="Aptos" pitchFamily="34" charset="0"/>
                <a:ea typeface="Aptos" pitchFamily="34" charset="-122"/>
                <a:cs typeface="Aptos" pitchFamily="34" charset="-120"/>
              </a:rPr>
              <a:t>5</a:t>
            </a:r>
            <a:endParaRPr lang="en-US" sz="1500" dirty="0"/>
          </a:p>
        </p:txBody>
      </p:sp>
      <p:sp>
        <p:nvSpPr>
          <p:cNvPr id="28" name="Text 26"/>
          <p:cNvSpPr txBox="1"/>
          <p:nvPr/>
        </p:nvSpPr>
        <p:spPr>
          <a:xfrm>
            <a:off x="6995160" y="2670048"/>
            <a:ext cx="1325880" cy="201168"/>
          </a:xfrm>
          <a:prstGeom prst="rect">
            <a:avLst/>
          </a:prstGeom>
          <a:noFill/>
          <a:ln/>
        </p:spPr>
        <p:txBody>
          <a:bodyPr wrap="square" lIns="0" tIns="0" rIns="0" bIns="0" rtlCol="0" anchor="ctr">
            <a:normAutofit/>
          </a:bodyPr>
          <a:lstStyle/>
          <a:p>
            <a:pPr algn="ctr" indent="0" marL="0">
              <a:buNone/>
            </a:pPr>
            <a:r>
              <a:rPr lang="en-US" sz="1100" b="1" dirty="0">
                <a:solidFill>
                  <a:srgbClr val="F5F7FA"/>
                </a:solidFill>
                <a:latin typeface="Aptos" pitchFamily="34" charset="0"/>
                <a:ea typeface="Aptos" pitchFamily="34" charset="-122"/>
                <a:cs typeface="Aptos" pitchFamily="34" charset="-120"/>
              </a:rPr>
              <a:t>Release</a:t>
            </a:r>
            <a:endParaRPr lang="en-US" sz="1100" dirty="0"/>
          </a:p>
        </p:txBody>
      </p:sp>
      <p:sp>
        <p:nvSpPr>
          <p:cNvPr id="29" name="Text 27"/>
          <p:cNvSpPr txBox="1"/>
          <p:nvPr/>
        </p:nvSpPr>
        <p:spPr>
          <a:xfrm>
            <a:off x="6885432" y="2990088"/>
            <a:ext cx="1481328" cy="566928"/>
          </a:xfrm>
          <a:prstGeom prst="rect">
            <a:avLst/>
          </a:prstGeom>
          <a:noFill/>
          <a:ln/>
        </p:spPr>
        <p:txBody>
          <a:bodyPr wrap="square" lIns="0" tIns="0" rIns="0" bIns="0" rtlCol="0" anchor="ctr">
            <a:normAutofit/>
          </a:bodyPr>
          <a:lstStyle/>
          <a:p>
            <a:pPr algn="ctr" indent="0" marL="0">
              <a:buNone/>
            </a:pPr>
            <a:r>
              <a:rPr lang="en-US" sz="940" dirty="0">
                <a:solidFill>
                  <a:srgbClr val="D8E2EF"/>
                </a:solidFill>
                <a:latin typeface="Aptos" pitchFamily="34" charset="0"/>
                <a:ea typeface="Aptos" pitchFamily="34" charset="-122"/>
                <a:cs typeface="Aptos" pitchFamily="34" charset="-120"/>
              </a:rPr>
              <a:t>KMS unwrap / provision secret</a:t>
            </a:r>
            <a:endParaRPr lang="en-US" sz="940" dirty="0"/>
          </a:p>
        </p:txBody>
      </p:sp>
      <p:sp>
        <p:nvSpPr>
          <p:cNvPr id="30" name="Shape 28"/>
          <p:cNvSpPr/>
          <p:nvPr/>
        </p:nvSpPr>
        <p:spPr>
          <a:xfrm>
            <a:off x="7507224" y="2359152"/>
            <a:ext cx="978408" cy="0"/>
          </a:xfrm>
          <a:prstGeom prst="line">
            <a:avLst/>
          </a:prstGeom>
          <a:noFill/>
          <a:ln w="19050">
            <a:solidFill>
              <a:srgbClr val="A9B6C8"/>
            </a:solidFill>
            <a:prstDash val="solid"/>
            <a:headEnd type="none"/>
            <a:tailEnd type="triangle"/>
          </a:ln>
        </p:spPr>
      </p:sp>
      <p:sp>
        <p:nvSpPr>
          <p:cNvPr id="31" name="Shape 29"/>
          <p:cNvSpPr/>
          <p:nvPr/>
        </p:nvSpPr>
        <p:spPr>
          <a:xfrm>
            <a:off x="8686800" y="2148840"/>
            <a:ext cx="420624" cy="420624"/>
          </a:xfrm>
          <a:prstGeom prst="ellipse">
            <a:avLst/>
          </a:prstGeom>
          <a:solidFill>
            <a:srgbClr val="FF6B35">
              <a:alpha val="18000"/>
            </a:srgbClr>
          </a:solidFill>
          <a:ln w="15240">
            <a:solidFill>
              <a:srgbClr val="FF6B35"/>
            </a:solidFill>
            <a:prstDash val="solid"/>
          </a:ln>
        </p:spPr>
      </p:sp>
      <p:sp>
        <p:nvSpPr>
          <p:cNvPr id="32" name="Text 30"/>
          <p:cNvSpPr txBox="1"/>
          <p:nvPr/>
        </p:nvSpPr>
        <p:spPr>
          <a:xfrm>
            <a:off x="8686800" y="2157984"/>
            <a:ext cx="420624" cy="402336"/>
          </a:xfrm>
          <a:prstGeom prst="rect">
            <a:avLst/>
          </a:prstGeom>
          <a:noFill/>
          <a:ln/>
        </p:spPr>
        <p:txBody>
          <a:bodyPr wrap="square" lIns="0" tIns="0" rIns="0" bIns="0" rtlCol="0" anchor="ctr">
            <a:normAutofit/>
          </a:bodyPr>
          <a:lstStyle/>
          <a:p>
            <a:pPr algn="ctr" indent="0" marL="0">
              <a:buNone/>
            </a:pPr>
            <a:r>
              <a:rPr lang="en-US" sz="1500" b="1" dirty="0">
                <a:solidFill>
                  <a:srgbClr val="FF6B35"/>
                </a:solidFill>
                <a:latin typeface="Aptos" pitchFamily="34" charset="0"/>
                <a:ea typeface="Aptos" pitchFamily="34" charset="-122"/>
                <a:cs typeface="Aptos" pitchFamily="34" charset="-120"/>
              </a:rPr>
              <a:t>6</a:t>
            </a:r>
            <a:endParaRPr lang="en-US" sz="1500" dirty="0"/>
          </a:p>
        </p:txBody>
      </p:sp>
      <p:sp>
        <p:nvSpPr>
          <p:cNvPr id="33" name="Text 31"/>
          <p:cNvSpPr txBox="1"/>
          <p:nvPr/>
        </p:nvSpPr>
        <p:spPr>
          <a:xfrm>
            <a:off x="8613648" y="2670048"/>
            <a:ext cx="1325880" cy="201168"/>
          </a:xfrm>
          <a:prstGeom prst="rect">
            <a:avLst/>
          </a:prstGeom>
          <a:noFill/>
          <a:ln/>
        </p:spPr>
        <p:txBody>
          <a:bodyPr wrap="square" lIns="0" tIns="0" rIns="0" bIns="0" rtlCol="0" anchor="ctr">
            <a:normAutofit/>
          </a:bodyPr>
          <a:lstStyle/>
          <a:p>
            <a:pPr algn="ctr" indent="0" marL="0">
              <a:buNone/>
            </a:pPr>
            <a:r>
              <a:rPr lang="en-US" sz="1100" b="1" dirty="0">
                <a:solidFill>
                  <a:srgbClr val="F5F7FA"/>
                </a:solidFill>
                <a:latin typeface="Aptos" pitchFamily="34" charset="0"/>
                <a:ea typeface="Aptos" pitchFamily="34" charset="-122"/>
                <a:cs typeface="Aptos" pitchFamily="34" charset="-120"/>
              </a:rPr>
              <a:t>Operate</a:t>
            </a:r>
            <a:endParaRPr lang="en-US" sz="1100" dirty="0"/>
          </a:p>
        </p:txBody>
      </p:sp>
      <p:sp>
        <p:nvSpPr>
          <p:cNvPr id="34" name="Text 32"/>
          <p:cNvSpPr txBox="1"/>
          <p:nvPr/>
        </p:nvSpPr>
        <p:spPr>
          <a:xfrm>
            <a:off x="8503920" y="2990088"/>
            <a:ext cx="1481328" cy="566928"/>
          </a:xfrm>
          <a:prstGeom prst="rect">
            <a:avLst/>
          </a:prstGeom>
          <a:noFill/>
          <a:ln/>
        </p:spPr>
        <p:txBody>
          <a:bodyPr wrap="square" lIns="0" tIns="0" rIns="0" bIns="0" rtlCol="0" anchor="ctr">
            <a:normAutofit/>
          </a:bodyPr>
          <a:lstStyle/>
          <a:p>
            <a:pPr algn="ctr" indent="0" marL="0">
              <a:buNone/>
            </a:pPr>
            <a:r>
              <a:rPr lang="en-US" sz="940" dirty="0">
                <a:solidFill>
                  <a:srgbClr val="D8E2EF"/>
                </a:solidFill>
                <a:latin typeface="Aptos" pitchFamily="34" charset="0"/>
                <a:ea typeface="Aptos" pitchFamily="34" charset="-122"/>
                <a:cs typeface="Aptos" pitchFamily="34" charset="-120"/>
              </a:rPr>
              <a:t>Crypto + inference inside TEE</a:t>
            </a:r>
            <a:endParaRPr lang="en-US" sz="940" dirty="0"/>
          </a:p>
        </p:txBody>
      </p:sp>
      <p:sp>
        <p:nvSpPr>
          <p:cNvPr id="35" name="Shape 33"/>
          <p:cNvSpPr/>
          <p:nvPr/>
        </p:nvSpPr>
        <p:spPr>
          <a:xfrm>
            <a:off x="9125712" y="2359152"/>
            <a:ext cx="978408" cy="0"/>
          </a:xfrm>
          <a:prstGeom prst="line">
            <a:avLst/>
          </a:prstGeom>
          <a:noFill/>
          <a:ln w="19050">
            <a:solidFill>
              <a:srgbClr val="A9B6C8"/>
            </a:solidFill>
            <a:prstDash val="solid"/>
            <a:headEnd type="none"/>
            <a:tailEnd type="triangle"/>
          </a:ln>
        </p:spPr>
      </p:sp>
      <p:sp>
        <p:nvSpPr>
          <p:cNvPr id="36" name="Shape 34"/>
          <p:cNvSpPr/>
          <p:nvPr/>
        </p:nvSpPr>
        <p:spPr>
          <a:xfrm>
            <a:off x="10305288" y="2148840"/>
            <a:ext cx="420624" cy="420624"/>
          </a:xfrm>
          <a:prstGeom prst="ellipse">
            <a:avLst/>
          </a:prstGeom>
          <a:solidFill>
            <a:srgbClr val="FF6B6B">
              <a:alpha val="18000"/>
            </a:srgbClr>
          </a:solidFill>
          <a:ln w="15240">
            <a:solidFill>
              <a:srgbClr val="FF6B6B"/>
            </a:solidFill>
            <a:prstDash val="solid"/>
          </a:ln>
        </p:spPr>
      </p:sp>
      <p:sp>
        <p:nvSpPr>
          <p:cNvPr id="37" name="Text 35"/>
          <p:cNvSpPr txBox="1"/>
          <p:nvPr/>
        </p:nvSpPr>
        <p:spPr>
          <a:xfrm>
            <a:off x="10305288" y="2157984"/>
            <a:ext cx="420624" cy="402336"/>
          </a:xfrm>
          <a:prstGeom prst="rect">
            <a:avLst/>
          </a:prstGeom>
          <a:noFill/>
          <a:ln/>
        </p:spPr>
        <p:txBody>
          <a:bodyPr wrap="square" lIns="0" tIns="0" rIns="0" bIns="0" rtlCol="0" anchor="ctr">
            <a:normAutofit/>
          </a:bodyPr>
          <a:lstStyle/>
          <a:p>
            <a:pPr algn="ctr" indent="0" marL="0">
              <a:buNone/>
            </a:pPr>
            <a:r>
              <a:rPr lang="en-US" sz="1500" b="1" dirty="0">
                <a:solidFill>
                  <a:srgbClr val="FF6B6B"/>
                </a:solidFill>
                <a:latin typeface="Aptos" pitchFamily="34" charset="0"/>
                <a:ea typeface="Aptos" pitchFamily="34" charset="-122"/>
                <a:cs typeface="Aptos" pitchFamily="34" charset="-120"/>
              </a:rPr>
              <a:t>7</a:t>
            </a:r>
            <a:endParaRPr lang="en-US" sz="1500" dirty="0"/>
          </a:p>
        </p:txBody>
      </p:sp>
      <p:sp>
        <p:nvSpPr>
          <p:cNvPr id="38" name="Text 36"/>
          <p:cNvSpPr txBox="1"/>
          <p:nvPr/>
        </p:nvSpPr>
        <p:spPr>
          <a:xfrm>
            <a:off x="10232136" y="2670048"/>
            <a:ext cx="1325880" cy="201168"/>
          </a:xfrm>
          <a:prstGeom prst="rect">
            <a:avLst/>
          </a:prstGeom>
          <a:noFill/>
          <a:ln/>
        </p:spPr>
        <p:txBody>
          <a:bodyPr wrap="square" lIns="0" tIns="0" rIns="0" bIns="0" rtlCol="0" anchor="ctr">
            <a:normAutofit/>
          </a:bodyPr>
          <a:lstStyle/>
          <a:p>
            <a:pPr algn="ctr" indent="0" marL="0">
              <a:buNone/>
            </a:pPr>
            <a:r>
              <a:rPr lang="en-US" sz="1100" b="1" dirty="0">
                <a:solidFill>
                  <a:srgbClr val="F5F7FA"/>
                </a:solidFill>
                <a:latin typeface="Aptos" pitchFamily="34" charset="0"/>
                <a:ea typeface="Aptos" pitchFamily="34" charset="-122"/>
                <a:cs typeface="Aptos" pitchFamily="34" charset="-120"/>
              </a:rPr>
              <a:t>Destroy</a:t>
            </a:r>
            <a:endParaRPr lang="en-US" sz="1100" dirty="0"/>
          </a:p>
        </p:txBody>
      </p:sp>
      <p:sp>
        <p:nvSpPr>
          <p:cNvPr id="39" name="Text 37"/>
          <p:cNvSpPr txBox="1"/>
          <p:nvPr/>
        </p:nvSpPr>
        <p:spPr>
          <a:xfrm>
            <a:off x="10122408" y="2990088"/>
            <a:ext cx="1481328" cy="566928"/>
          </a:xfrm>
          <a:prstGeom prst="rect">
            <a:avLst/>
          </a:prstGeom>
          <a:noFill/>
          <a:ln/>
        </p:spPr>
        <p:txBody>
          <a:bodyPr wrap="square" lIns="0" tIns="0" rIns="0" bIns="0" rtlCol="0" anchor="ctr">
            <a:normAutofit/>
          </a:bodyPr>
          <a:lstStyle/>
          <a:p>
            <a:pPr algn="ctr" indent="0" marL="0">
              <a:buNone/>
            </a:pPr>
            <a:r>
              <a:rPr lang="en-US" sz="940" dirty="0">
                <a:solidFill>
                  <a:srgbClr val="D8E2EF"/>
                </a:solidFill>
                <a:latin typeface="Aptos" pitchFamily="34" charset="0"/>
                <a:ea typeface="Aptos" pitchFamily="34" charset="-122"/>
                <a:cs typeface="Aptos" pitchFamily="34" charset="-120"/>
              </a:rPr>
              <a:t>Zeroize + destroy domain keys</a:t>
            </a:r>
            <a:endParaRPr lang="en-US" sz="940" dirty="0"/>
          </a:p>
        </p:txBody>
      </p:sp>
      <p:sp>
        <p:nvSpPr>
          <p:cNvPr id="40" name="Shape 38"/>
          <p:cNvSpPr/>
          <p:nvPr/>
        </p:nvSpPr>
        <p:spPr>
          <a:xfrm>
            <a:off x="960120" y="4160520"/>
            <a:ext cx="4709160" cy="1097280"/>
          </a:xfrm>
          <a:prstGeom prst="roundRect">
            <a:avLst>
              <a:gd name="adj" fmla="val 13333"/>
            </a:avLst>
          </a:prstGeom>
          <a:solidFill>
            <a:srgbClr val="121C2E"/>
          </a:solidFill>
          <a:ln w="12700">
            <a:solidFill>
              <a:srgbClr val="24344E"/>
            </a:solidFill>
            <a:prstDash val="solid"/>
          </a:ln>
          <a:effectLst>
            <a:outerShdw sx="100000" sy="100000" kx="0" ky="0" algn="bl" rotWithShape="0" blurRad="1.7602379987367734e+156" dist="8.801189993683867e+155" dir="1.6709368173554673e+183">
              <a:srgbClr val="000000">
                <a:alpha val="2.2000000000000003e+189"/>
              </a:srgbClr>
            </a:outerShdw>
          </a:effectLst>
        </p:spPr>
      </p:sp>
      <p:sp>
        <p:nvSpPr>
          <p:cNvPr id="41" name="Text 39"/>
          <p:cNvSpPr txBox="1"/>
          <p:nvPr/>
        </p:nvSpPr>
        <p:spPr>
          <a:xfrm>
            <a:off x="1207008" y="4416552"/>
            <a:ext cx="1600200" cy="219456"/>
          </a:xfrm>
          <a:prstGeom prst="rect">
            <a:avLst/>
          </a:prstGeom>
          <a:noFill/>
          <a:ln/>
        </p:spPr>
        <p:txBody>
          <a:bodyPr wrap="square" lIns="0" tIns="0" rIns="0" bIns="0" rtlCol="0" anchor="ctr">
            <a:normAutofit/>
          </a:bodyPr>
          <a:lstStyle/>
          <a:p>
            <a:pPr algn="l" indent="0" marL="0">
              <a:buNone/>
            </a:pPr>
            <a:r>
              <a:rPr lang="en-US" sz="900" b="1" spc="120" kern="0" dirty="0">
                <a:solidFill>
                  <a:srgbClr val="FF6B35"/>
                </a:solidFill>
                <a:latin typeface="Aptos" pitchFamily="34" charset="0"/>
                <a:ea typeface="Aptos" pitchFamily="34" charset="-122"/>
                <a:cs typeface="Aptos" pitchFamily="34" charset="-120"/>
              </a:rPr>
              <a:t>COMPOSITE MEASUREMENT</a:t>
            </a:r>
            <a:endParaRPr lang="en-US" sz="900" dirty="0"/>
          </a:p>
        </p:txBody>
      </p:sp>
      <p:sp>
        <p:nvSpPr>
          <p:cNvPr id="42" name="Text 40"/>
          <p:cNvSpPr txBox="1"/>
          <p:nvPr/>
        </p:nvSpPr>
        <p:spPr>
          <a:xfrm>
            <a:off x="1207008" y="4800600"/>
            <a:ext cx="4133088" cy="274320"/>
          </a:xfrm>
          <a:prstGeom prst="rect">
            <a:avLst/>
          </a:prstGeom>
          <a:noFill/>
          <a:ln/>
        </p:spPr>
        <p:txBody>
          <a:bodyPr wrap="square" lIns="0" tIns="0" rIns="0" bIns="0" rtlCol="0" anchor="ctr">
            <a:normAutofit/>
          </a:bodyPr>
          <a:lstStyle/>
          <a:p>
            <a:pPr algn="l" indent="0" marL="0">
              <a:buNone/>
            </a:pPr>
            <a:r>
              <a:rPr lang="en-US" sz="1300" b="1" dirty="0">
                <a:solidFill>
                  <a:srgbClr val="F5F7FA"/>
                </a:solidFill>
                <a:latin typeface="Aptos" pitchFamily="34" charset="0"/>
                <a:ea typeface="Aptos" pitchFamily="34" charset="-122"/>
                <a:cs typeface="Aptos" pitchFamily="34" charset="-120"/>
              </a:rPr>
              <a:t>H( CPU TEE ‖ WSE ‖ firmware ‖ runtime ‖ model ‖ policy )</a:t>
            </a:r>
            <a:endParaRPr lang="en-US" sz="1300" dirty="0"/>
          </a:p>
        </p:txBody>
      </p:sp>
      <p:sp>
        <p:nvSpPr>
          <p:cNvPr id="43" name="Shape 41"/>
          <p:cNvSpPr/>
          <p:nvPr/>
        </p:nvSpPr>
        <p:spPr>
          <a:xfrm>
            <a:off x="5961888" y="4160520"/>
            <a:ext cx="5257800" cy="1097280"/>
          </a:xfrm>
          <a:prstGeom prst="roundRect">
            <a:avLst>
              <a:gd name="adj" fmla="val 13333"/>
            </a:avLst>
          </a:prstGeom>
          <a:solidFill>
            <a:srgbClr val="162337"/>
          </a:solidFill>
          <a:ln w="12700">
            <a:solidFill>
              <a:srgbClr val="24344E"/>
            </a:solidFill>
            <a:prstDash val="solid"/>
          </a:ln>
          <a:effectLst>
            <a:outerShdw sx="100000" sy="100000" kx="0" ky="0" algn="bl" rotWithShape="0" blurRad="2.235502258395702e+160" dist="1.117751129197851e+160" dir="1.0025620904132804e+188">
              <a:srgbClr val="000000">
                <a:alpha val="2.2000000000000004e+194"/>
              </a:srgbClr>
            </a:outerShdw>
          </a:effectLst>
        </p:spPr>
      </p:sp>
      <p:sp>
        <p:nvSpPr>
          <p:cNvPr id="44" name="Text 42"/>
          <p:cNvSpPr txBox="1"/>
          <p:nvPr/>
        </p:nvSpPr>
        <p:spPr>
          <a:xfrm>
            <a:off x="6236208" y="4416552"/>
            <a:ext cx="1554480" cy="219456"/>
          </a:xfrm>
          <a:prstGeom prst="rect">
            <a:avLst/>
          </a:prstGeom>
          <a:noFill/>
          <a:ln/>
        </p:spPr>
        <p:txBody>
          <a:bodyPr wrap="square" lIns="0" tIns="0" rIns="0" bIns="0" rtlCol="0" anchor="ctr">
            <a:normAutofit/>
          </a:bodyPr>
          <a:lstStyle/>
          <a:p>
            <a:pPr algn="l" indent="0" marL="0">
              <a:buNone/>
            </a:pPr>
            <a:r>
              <a:rPr lang="en-US" sz="900" b="1" spc="120" kern="0" dirty="0">
                <a:solidFill>
                  <a:srgbClr val="5FE1A0"/>
                </a:solidFill>
                <a:latin typeface="Aptos" pitchFamily="34" charset="0"/>
                <a:ea typeface="Aptos" pitchFamily="34" charset="-122"/>
                <a:cs typeface="Aptos" pitchFamily="34" charset="-120"/>
              </a:rPr>
              <a:t>KEY-RELEASE CLAIM</a:t>
            </a:r>
            <a:endParaRPr lang="en-US" sz="900" dirty="0"/>
          </a:p>
        </p:txBody>
      </p:sp>
      <p:sp>
        <p:nvSpPr>
          <p:cNvPr id="45" name="Text 43"/>
          <p:cNvSpPr txBox="1"/>
          <p:nvPr/>
        </p:nvSpPr>
        <p:spPr>
          <a:xfrm>
            <a:off x="6236208" y="4800600"/>
            <a:ext cx="4526280" cy="274320"/>
          </a:xfrm>
          <a:prstGeom prst="rect">
            <a:avLst/>
          </a:prstGeom>
          <a:noFill/>
          <a:ln/>
        </p:spPr>
        <p:txBody>
          <a:bodyPr wrap="square" lIns="0" tIns="0" rIns="0" bIns="0" rtlCol="0" anchor="ctr">
            <a:normAutofit/>
          </a:bodyPr>
          <a:lstStyle/>
          <a:p>
            <a:pPr algn="l" indent="0" marL="0">
              <a:buNone/>
            </a:pPr>
            <a:r>
              <a:rPr lang="en-US" sz="1300" b="1" dirty="0">
                <a:solidFill>
                  <a:srgbClr val="F5F7FA"/>
                </a:solidFill>
                <a:latin typeface="Aptos" pitchFamily="34" charset="0"/>
                <a:ea typeface="Aptos" pitchFamily="34" charset="-122"/>
                <a:cs typeface="Aptos" pitchFamily="34" charset="-120"/>
              </a:rPr>
              <a:t>“This exact workload may receive this exact secret.”</a:t>
            </a:r>
            <a:endParaRPr lang="en-US" sz="1300" dirty="0"/>
          </a:p>
        </p:txBody>
      </p:sp>
      <p:sp>
        <p:nvSpPr>
          <p:cNvPr id="46" name="Text 44"/>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Reference architecture: Intel TDX attestation; NVIDIA Attestation / H100 CC. Protocol choice can incorporate SPDM and EAT-style evidence.</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10 • CONFIDENTIAL AI AGENTS</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Protect the LLM and the credentials it can use to act.</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For agents, the highest-value secret may be a private key or API credential — not the prompt.</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11</a:t>
            </a:r>
            <a:endParaRPr lang="en-US" sz="1000" dirty="0"/>
          </a:p>
        </p:txBody>
      </p:sp>
      <p:sp>
        <p:nvSpPr>
          <p:cNvPr id="6" name="Shape 4"/>
          <p:cNvSpPr/>
          <p:nvPr/>
        </p:nvSpPr>
        <p:spPr>
          <a:xfrm>
            <a:off x="566928" y="1874520"/>
            <a:ext cx="5577840" cy="3913632"/>
          </a:xfrm>
          <a:prstGeom prst="roundRect">
            <a:avLst>
              <a:gd name="adj" fmla="val 3738"/>
            </a:avLst>
          </a:prstGeom>
          <a:solidFill>
            <a:srgbClr val="121C2E"/>
          </a:solidFill>
          <a:ln w="12700">
            <a:solidFill>
              <a:srgbClr val="24344E"/>
            </a:solidFill>
            <a:prstDash val="solid"/>
          </a:ln>
          <a:effectLst>
            <a:outerShdw sx="100000" sy="100000" kx="0" ky="0" algn="bl" rotWithShape="0" blurRad="2.8390878681625417e+164" dist="1.4195439340812709e+164" dir="6.015372542479682e+192">
              <a:srgbClr val="000000">
                <a:alpha val="2.2000000000000006e+199"/>
              </a:srgbClr>
            </a:outerShdw>
          </a:effectLst>
        </p:spPr>
      </p:sp>
      <p:sp>
        <p:nvSpPr>
          <p:cNvPr id="7" name="Text 5"/>
          <p:cNvSpPr txBox="1"/>
          <p:nvPr/>
        </p:nvSpPr>
        <p:spPr>
          <a:xfrm>
            <a:off x="841248" y="2139696"/>
            <a:ext cx="2103120" cy="228600"/>
          </a:xfrm>
          <a:prstGeom prst="rect">
            <a:avLst/>
          </a:prstGeom>
          <a:noFill/>
          <a:ln/>
        </p:spPr>
        <p:txBody>
          <a:bodyPr wrap="square" lIns="0" tIns="0" rIns="0" bIns="0" rtlCol="0" anchor="ctr">
            <a:normAutofit/>
          </a:bodyPr>
          <a:lstStyle/>
          <a:p>
            <a:pPr algn="l" indent="0" marL="0">
              <a:buNone/>
            </a:pPr>
            <a:r>
              <a:rPr lang="en-US" sz="900" b="1" spc="120" kern="0" dirty="0">
                <a:solidFill>
                  <a:srgbClr val="FF6B35"/>
                </a:solidFill>
                <a:latin typeface="Aptos" pitchFamily="34" charset="0"/>
                <a:ea typeface="Aptos" pitchFamily="34" charset="-122"/>
                <a:cs typeface="Aptos" pitchFamily="34" charset="-120"/>
              </a:rPr>
              <a:t>AGENT INSIDE C-CCA</a:t>
            </a:r>
            <a:endParaRPr lang="en-US" sz="900" dirty="0"/>
          </a:p>
        </p:txBody>
      </p:sp>
      <p:sp>
        <p:nvSpPr>
          <p:cNvPr id="8" name="Shape 6"/>
          <p:cNvSpPr/>
          <p:nvPr/>
        </p:nvSpPr>
        <p:spPr>
          <a:xfrm>
            <a:off x="950976" y="2633472"/>
            <a:ext cx="4251960" cy="2148840"/>
          </a:xfrm>
          <a:prstGeom prst="roundRect">
            <a:avLst>
              <a:gd name="adj" fmla="val 6809"/>
            </a:avLst>
          </a:prstGeom>
          <a:solidFill>
            <a:srgbClr val="111B2D"/>
          </a:solidFill>
          <a:ln w="12700">
            <a:solidFill>
              <a:srgbClr val="3BD6E8"/>
            </a:solidFill>
            <a:prstDash val="solid"/>
          </a:ln>
          <a:effectLst>
            <a:outerShdw sx="100000" sy="100000" kx="0" ky="0" algn="bl" rotWithShape="0" blurRad="3.605641592566428e+168" dist="1.802820796283214e+168" dir="3.6092235254878095e+197">
              <a:srgbClr val="000000">
                <a:alpha val="2.2000000000000007e+204"/>
              </a:srgbClr>
            </a:outerShdw>
          </a:effectLst>
        </p:spPr>
      </p:sp>
      <p:sp>
        <p:nvSpPr>
          <p:cNvPr id="9" name="Text 7"/>
          <p:cNvSpPr txBox="1"/>
          <p:nvPr/>
        </p:nvSpPr>
        <p:spPr>
          <a:xfrm>
            <a:off x="1234440" y="2907792"/>
            <a:ext cx="2423160" cy="310896"/>
          </a:xfrm>
          <a:prstGeom prst="rect">
            <a:avLst/>
          </a:prstGeom>
          <a:noFill/>
          <a:ln/>
        </p:spPr>
        <p:txBody>
          <a:bodyPr wrap="square" lIns="0" tIns="0" rIns="0" bIns="0" rtlCol="0" anchor="ctr">
            <a:normAutofit/>
          </a:bodyPr>
          <a:lstStyle/>
          <a:p>
            <a:pPr algn="l" indent="0" marL="0">
              <a:buNone/>
            </a:pPr>
            <a:r>
              <a:rPr lang="en-US" sz="1900" b="1" dirty="0">
                <a:solidFill>
                  <a:srgbClr val="F5F7FA"/>
                </a:solidFill>
                <a:latin typeface="Aptos" pitchFamily="34" charset="0"/>
                <a:ea typeface="Aptos" pitchFamily="34" charset="-122"/>
                <a:cs typeface="Aptos" pitchFamily="34" charset="-120"/>
              </a:rPr>
              <a:t>LLM / planner / memory</a:t>
            </a:r>
            <a:endParaRPr lang="en-US" sz="1900" dirty="0"/>
          </a:p>
        </p:txBody>
      </p:sp>
      <p:sp>
        <p:nvSpPr>
          <p:cNvPr id="10" name="Text 8"/>
          <p:cNvSpPr txBox="1"/>
          <p:nvPr/>
        </p:nvSpPr>
        <p:spPr>
          <a:xfrm>
            <a:off x="1234440" y="3401568"/>
            <a:ext cx="1572768" cy="731520"/>
          </a:xfrm>
          <a:prstGeom prst="rect">
            <a:avLst/>
          </a:prstGeom>
          <a:noFill/>
          <a:ln/>
        </p:spPr>
        <p:txBody>
          <a:bodyPr wrap="square" lIns="0" tIns="0" rIns="0" bIns="0" rtlCol="0" anchor="ctr">
            <a:normAutofit/>
          </a:bodyPr>
          <a:lstStyle/>
          <a:p>
            <a:pPr algn="l" indent="0" marL="0">
              <a:buNone/>
            </a:pPr>
            <a:r>
              <a:rPr lang="en-US" sz="1100" dirty="0">
                <a:solidFill>
                  <a:srgbClr val="D8E2EF"/>
                </a:solidFill>
                <a:latin typeface="Aptos" pitchFamily="34" charset="0"/>
                <a:ea typeface="Aptos" pitchFamily="34" charset="-122"/>
                <a:cs typeface="Aptos" pitchFamily="34" charset="-120"/>
              </a:rPr>
              <a:t>RAG context</a:t>
            </a:r>
            <a:endParaRPr lang="en-US" sz="1100" dirty="0"/>
          </a:p>
          <a:p>
            <a:pPr algn="l" indent="0" marL="0">
              <a:buNone/>
            </a:pPr>
            <a:r>
              <a:rPr lang="en-US" sz="1100" dirty="0">
                <a:solidFill>
                  <a:srgbClr val="D8E2EF"/>
                </a:solidFill>
                <a:latin typeface="Aptos" pitchFamily="34" charset="0"/>
                <a:ea typeface="Aptos" pitchFamily="34" charset="-122"/>
                <a:cs typeface="Aptos" pitchFamily="34" charset="-120"/>
              </a:rPr>
              <a:t>Agent state</a:t>
            </a:r>
            <a:endParaRPr lang="en-US" sz="1100" dirty="0"/>
          </a:p>
          <a:p>
            <a:pPr algn="l" indent="0" marL="0">
              <a:buNone/>
            </a:pPr>
            <a:r>
              <a:rPr lang="en-US" sz="1100" dirty="0">
                <a:solidFill>
                  <a:srgbClr val="D8E2EF"/>
                </a:solidFill>
                <a:latin typeface="Aptos" pitchFamily="34" charset="0"/>
                <a:ea typeface="Aptos" pitchFamily="34" charset="-122"/>
                <a:cs typeface="Aptos" pitchFamily="34" charset="-120"/>
              </a:rPr>
              <a:t>System policy</a:t>
            </a:r>
            <a:endParaRPr lang="en-US" sz="1100" dirty="0"/>
          </a:p>
        </p:txBody>
      </p:sp>
      <p:sp>
        <p:nvSpPr>
          <p:cNvPr id="11" name="Shape 9"/>
          <p:cNvSpPr/>
          <p:nvPr/>
        </p:nvSpPr>
        <p:spPr>
          <a:xfrm>
            <a:off x="3200400" y="3493008"/>
            <a:ext cx="1316736" cy="274320"/>
          </a:xfrm>
          <a:prstGeom prst="roundRect">
            <a:avLst>
              <a:gd name="adj" fmla="val 50000"/>
            </a:avLst>
          </a:prstGeom>
          <a:solidFill>
            <a:srgbClr val="213046"/>
          </a:solidFill>
          <a:ln w="12700">
            <a:solidFill>
              <a:srgbClr val="FFD166">
                <a:alpha val="35000"/>
              </a:srgbClr>
            </a:solidFill>
            <a:prstDash val="solid"/>
          </a:ln>
        </p:spPr>
      </p:sp>
      <p:sp>
        <p:nvSpPr>
          <p:cNvPr id="12" name="Text 10"/>
          <p:cNvSpPr txBox="1"/>
          <p:nvPr/>
        </p:nvSpPr>
        <p:spPr>
          <a:xfrm>
            <a:off x="3273552" y="3511296"/>
            <a:ext cx="1170432" cy="219456"/>
          </a:xfrm>
          <a:prstGeom prst="rect">
            <a:avLst/>
          </a:prstGeom>
          <a:noFill/>
          <a:ln/>
        </p:spPr>
        <p:txBody>
          <a:bodyPr wrap="square" lIns="0" tIns="0" rIns="0" bIns="0" rtlCol="0" anchor="ctr">
            <a:normAutofit/>
          </a:bodyPr>
          <a:lstStyle/>
          <a:p>
            <a:pPr algn="l" indent="0" marL="0">
              <a:buNone/>
            </a:pPr>
            <a:r>
              <a:rPr lang="en-US" sz="850" b="1" dirty="0">
                <a:solidFill>
                  <a:srgbClr val="FFD166"/>
                </a:solidFill>
                <a:latin typeface="Aptos" pitchFamily="34" charset="0"/>
                <a:ea typeface="Aptos" pitchFamily="34" charset="-122"/>
                <a:cs typeface="Aptos" pitchFamily="34" charset="-120"/>
              </a:rPr>
              <a:t>CAPABILITY API</a:t>
            </a:r>
            <a:endParaRPr lang="en-US" sz="850" dirty="0"/>
          </a:p>
        </p:txBody>
      </p:sp>
      <p:sp>
        <p:nvSpPr>
          <p:cNvPr id="13" name="Text 11"/>
          <p:cNvSpPr txBox="1"/>
          <p:nvPr/>
        </p:nvSpPr>
        <p:spPr>
          <a:xfrm>
            <a:off x="3200400" y="3968496"/>
            <a:ext cx="1417320" cy="201168"/>
          </a:xfrm>
          <a:prstGeom prst="rect">
            <a:avLst/>
          </a:prstGeom>
          <a:noFill/>
          <a:ln/>
        </p:spPr>
        <p:txBody>
          <a:bodyPr wrap="square" lIns="0" tIns="0" rIns="0" bIns="0" rtlCol="0" anchor="ctr">
            <a:normAutofit/>
          </a:bodyPr>
          <a:lstStyle/>
          <a:p>
            <a:pPr algn="l" indent="0" marL="0">
              <a:buNone/>
            </a:pPr>
            <a:r>
              <a:rPr lang="en-US" sz="1000" b="1" dirty="0">
                <a:solidFill>
                  <a:srgbClr val="FFD166"/>
                </a:solidFill>
                <a:latin typeface="Aptos" pitchFamily="34" charset="0"/>
                <a:ea typeface="Aptos" pitchFamily="34" charset="-122"/>
                <a:cs typeface="Aptos" pitchFamily="34" charset="-120"/>
              </a:rPr>
              <a:t>No raw credentials</a:t>
            </a:r>
            <a:endParaRPr lang="en-US" sz="1000" dirty="0"/>
          </a:p>
        </p:txBody>
      </p:sp>
      <p:sp>
        <p:nvSpPr>
          <p:cNvPr id="14" name="Shape 12"/>
          <p:cNvSpPr/>
          <p:nvPr/>
        </p:nvSpPr>
        <p:spPr>
          <a:xfrm>
            <a:off x="822960" y="5102352"/>
            <a:ext cx="1069848" cy="429768"/>
          </a:xfrm>
          <a:prstGeom prst="roundRect">
            <a:avLst>
              <a:gd name="adj" fmla="val 34043"/>
            </a:avLst>
          </a:prstGeom>
          <a:solidFill>
            <a:srgbClr val="162337"/>
          </a:solidFill>
          <a:ln w="12700">
            <a:solidFill>
              <a:srgbClr val="71A7FF"/>
            </a:solidFill>
            <a:prstDash val="solid"/>
          </a:ln>
          <a:effectLst>
            <a:outerShdw sx="100000" sy="100000" kx="0" ky="0" algn="bl" rotWithShape="0" blurRad="4.579164822559364e+172" dist="2.289582411279682e+172" dir="2.1655341152926858e+202">
              <a:srgbClr val="000000">
                <a:alpha val="2.2000000000000006e+209"/>
              </a:srgbClr>
            </a:outerShdw>
          </a:effectLst>
        </p:spPr>
      </p:sp>
      <p:sp>
        <p:nvSpPr>
          <p:cNvPr id="15" name="Text 13"/>
          <p:cNvSpPr txBox="1"/>
          <p:nvPr/>
        </p:nvSpPr>
        <p:spPr>
          <a:xfrm>
            <a:off x="822960" y="5212080"/>
            <a:ext cx="1069848" cy="164592"/>
          </a:xfrm>
          <a:prstGeom prst="rect">
            <a:avLst/>
          </a:prstGeom>
          <a:noFill/>
          <a:ln/>
        </p:spPr>
        <p:txBody>
          <a:bodyPr wrap="square" lIns="0" tIns="0" rIns="0" bIns="0" rtlCol="0" anchor="ctr">
            <a:normAutofit/>
          </a:bodyPr>
          <a:lstStyle/>
          <a:p>
            <a:pPr algn="ctr" indent="0" marL="0">
              <a:buNone/>
            </a:pPr>
            <a:r>
              <a:rPr lang="en-US" sz="950" b="1" dirty="0">
                <a:solidFill>
                  <a:srgbClr val="71A7FF"/>
                </a:solidFill>
                <a:latin typeface="Aptos" pitchFamily="34" charset="0"/>
                <a:ea typeface="Aptos" pitchFamily="34" charset="-122"/>
                <a:cs typeface="Aptos" pitchFamily="34" charset="-120"/>
              </a:rPr>
              <a:t>DB</a:t>
            </a:r>
            <a:endParaRPr lang="en-US" sz="950" dirty="0"/>
          </a:p>
        </p:txBody>
      </p:sp>
      <p:sp>
        <p:nvSpPr>
          <p:cNvPr id="16" name="Shape 14"/>
          <p:cNvSpPr/>
          <p:nvPr/>
        </p:nvSpPr>
        <p:spPr>
          <a:xfrm>
            <a:off x="2971800" y="4782312"/>
            <a:ext cx="0" cy="310896"/>
          </a:xfrm>
          <a:prstGeom prst="line">
            <a:avLst/>
          </a:prstGeom>
          <a:noFill/>
          <a:ln w="16510">
            <a:solidFill>
              <a:srgbClr val="A9B6C8"/>
            </a:solidFill>
            <a:prstDash val="solid"/>
            <a:headEnd type="none"/>
            <a:tailEnd type="triangle"/>
          </a:ln>
        </p:spPr>
      </p:sp>
      <p:sp>
        <p:nvSpPr>
          <p:cNvPr id="17" name="Shape 15"/>
          <p:cNvSpPr/>
          <p:nvPr/>
        </p:nvSpPr>
        <p:spPr>
          <a:xfrm>
            <a:off x="2130552" y="5102352"/>
            <a:ext cx="1069848" cy="429768"/>
          </a:xfrm>
          <a:prstGeom prst="roundRect">
            <a:avLst>
              <a:gd name="adj" fmla="val 34043"/>
            </a:avLst>
          </a:prstGeom>
          <a:solidFill>
            <a:srgbClr val="162337"/>
          </a:solidFill>
          <a:ln w="12700">
            <a:solidFill>
              <a:srgbClr val="3BD6E8"/>
            </a:solidFill>
            <a:prstDash val="solid"/>
          </a:ln>
          <a:effectLst>
            <a:outerShdw sx="100000" sy="100000" kx="0" ky="0" algn="bl" rotWithShape="0" blurRad="5.815539324650392e+176" dist="2.907769662325196e+176" dir="1.2993204691756116e+207">
              <a:srgbClr val="000000">
                <a:alpha val="2.2000000000000007e+214"/>
              </a:srgbClr>
            </a:outerShdw>
          </a:effectLst>
        </p:spPr>
      </p:sp>
      <p:sp>
        <p:nvSpPr>
          <p:cNvPr id="18" name="Text 16"/>
          <p:cNvSpPr txBox="1"/>
          <p:nvPr/>
        </p:nvSpPr>
        <p:spPr>
          <a:xfrm>
            <a:off x="2130552" y="5212080"/>
            <a:ext cx="1069848" cy="164592"/>
          </a:xfrm>
          <a:prstGeom prst="rect">
            <a:avLst/>
          </a:prstGeom>
          <a:noFill/>
          <a:ln/>
        </p:spPr>
        <p:txBody>
          <a:bodyPr wrap="square" lIns="0" tIns="0" rIns="0" bIns="0" rtlCol="0" anchor="ctr">
            <a:normAutofit/>
          </a:bodyPr>
          <a:lstStyle/>
          <a:p>
            <a:pPr algn="ctr" indent="0" marL="0">
              <a:buNone/>
            </a:pPr>
            <a:r>
              <a:rPr lang="en-US" sz="950" b="1" dirty="0">
                <a:solidFill>
                  <a:srgbClr val="3BD6E8"/>
                </a:solidFill>
                <a:latin typeface="Aptos" pitchFamily="34" charset="0"/>
                <a:ea typeface="Aptos" pitchFamily="34" charset="-122"/>
                <a:cs typeface="Aptos" pitchFamily="34" charset="-120"/>
              </a:rPr>
              <a:t>Cloud API</a:t>
            </a:r>
            <a:endParaRPr lang="en-US" sz="950" dirty="0"/>
          </a:p>
        </p:txBody>
      </p:sp>
      <p:sp>
        <p:nvSpPr>
          <p:cNvPr id="19" name="Shape 17"/>
          <p:cNvSpPr/>
          <p:nvPr/>
        </p:nvSpPr>
        <p:spPr>
          <a:xfrm>
            <a:off x="2971800" y="4782312"/>
            <a:ext cx="0" cy="310896"/>
          </a:xfrm>
          <a:prstGeom prst="line">
            <a:avLst/>
          </a:prstGeom>
          <a:noFill/>
          <a:ln w="16510">
            <a:solidFill>
              <a:srgbClr val="A9B6C8"/>
            </a:solidFill>
            <a:prstDash val="solid"/>
            <a:headEnd type="none"/>
            <a:tailEnd type="triangle"/>
          </a:ln>
        </p:spPr>
      </p:sp>
      <p:sp>
        <p:nvSpPr>
          <p:cNvPr id="20" name="Shape 18"/>
          <p:cNvSpPr/>
          <p:nvPr/>
        </p:nvSpPr>
        <p:spPr>
          <a:xfrm>
            <a:off x="3438144" y="5102352"/>
            <a:ext cx="1069848" cy="429768"/>
          </a:xfrm>
          <a:prstGeom prst="roundRect">
            <a:avLst>
              <a:gd name="adj" fmla="val 34043"/>
            </a:avLst>
          </a:prstGeom>
          <a:solidFill>
            <a:srgbClr val="162337"/>
          </a:solidFill>
          <a:ln w="12700">
            <a:solidFill>
              <a:srgbClr val="FF6B35"/>
            </a:solidFill>
            <a:prstDash val="solid"/>
          </a:ln>
          <a:effectLst>
            <a:outerShdw sx="100000" sy="100000" kx="0" ky="0" algn="bl" rotWithShape="0" blurRad="7.385734942305998e+180" dist="3.692867471152999e+180" dir="7.795922815053669e+211">
              <a:srgbClr val="000000">
                <a:alpha val="2.2000000000000008e+219"/>
              </a:srgbClr>
            </a:outerShdw>
          </a:effectLst>
        </p:spPr>
      </p:sp>
      <p:sp>
        <p:nvSpPr>
          <p:cNvPr id="21" name="Text 19"/>
          <p:cNvSpPr txBox="1"/>
          <p:nvPr/>
        </p:nvSpPr>
        <p:spPr>
          <a:xfrm>
            <a:off x="3438144" y="5212080"/>
            <a:ext cx="1069848" cy="164592"/>
          </a:xfrm>
          <a:prstGeom prst="rect">
            <a:avLst/>
          </a:prstGeom>
          <a:noFill/>
          <a:ln/>
        </p:spPr>
        <p:txBody>
          <a:bodyPr wrap="square" lIns="0" tIns="0" rIns="0" bIns="0" rtlCol="0" anchor="ctr">
            <a:normAutofit/>
          </a:bodyPr>
          <a:lstStyle/>
          <a:p>
            <a:pPr algn="ctr" indent="0" marL="0">
              <a:buNone/>
            </a:pPr>
            <a:r>
              <a:rPr lang="en-US" sz="950" b="1" dirty="0">
                <a:solidFill>
                  <a:srgbClr val="FF6B35"/>
                </a:solidFill>
                <a:latin typeface="Aptos" pitchFamily="34" charset="0"/>
                <a:ea typeface="Aptos" pitchFamily="34" charset="-122"/>
                <a:cs typeface="Aptos" pitchFamily="34" charset="-120"/>
              </a:rPr>
              <a:t>Trading</a:t>
            </a:r>
            <a:endParaRPr lang="en-US" sz="950" dirty="0"/>
          </a:p>
        </p:txBody>
      </p:sp>
      <p:sp>
        <p:nvSpPr>
          <p:cNvPr id="22" name="Shape 20"/>
          <p:cNvSpPr/>
          <p:nvPr/>
        </p:nvSpPr>
        <p:spPr>
          <a:xfrm>
            <a:off x="2971800" y="4782312"/>
            <a:ext cx="0" cy="310896"/>
          </a:xfrm>
          <a:prstGeom prst="line">
            <a:avLst/>
          </a:prstGeom>
          <a:noFill/>
          <a:ln w="16510">
            <a:solidFill>
              <a:srgbClr val="A9B6C8"/>
            </a:solidFill>
            <a:prstDash val="solid"/>
            <a:headEnd type="none"/>
            <a:tailEnd type="triangle"/>
          </a:ln>
        </p:spPr>
      </p:sp>
      <p:sp>
        <p:nvSpPr>
          <p:cNvPr id="23" name="Shape 21"/>
          <p:cNvSpPr/>
          <p:nvPr/>
        </p:nvSpPr>
        <p:spPr>
          <a:xfrm>
            <a:off x="4745736" y="5102352"/>
            <a:ext cx="1069848" cy="429768"/>
          </a:xfrm>
          <a:prstGeom prst="roundRect">
            <a:avLst>
              <a:gd name="adj" fmla="val 34043"/>
            </a:avLst>
          </a:prstGeom>
          <a:solidFill>
            <a:srgbClr val="162337"/>
          </a:solidFill>
          <a:ln w="12700">
            <a:solidFill>
              <a:srgbClr val="5FE1A0"/>
            </a:solidFill>
            <a:prstDash val="solid"/>
          </a:ln>
          <a:effectLst>
            <a:outerShdw sx="100000" sy="100000" kx="0" ky="0" algn="bl" rotWithShape="0" blurRad="9.379883376728618e+184" dist="4.689941688364309e+184" dir="4.677553689032201e+216">
              <a:srgbClr val="000000">
                <a:alpha val="2.200000000000001e+224"/>
              </a:srgbClr>
            </a:outerShdw>
          </a:effectLst>
        </p:spPr>
      </p:sp>
      <p:sp>
        <p:nvSpPr>
          <p:cNvPr id="24" name="Text 22"/>
          <p:cNvSpPr txBox="1"/>
          <p:nvPr/>
        </p:nvSpPr>
        <p:spPr>
          <a:xfrm>
            <a:off x="4745736" y="5212080"/>
            <a:ext cx="1069848" cy="164592"/>
          </a:xfrm>
          <a:prstGeom prst="rect">
            <a:avLst/>
          </a:prstGeom>
          <a:noFill/>
          <a:ln/>
        </p:spPr>
        <p:txBody>
          <a:bodyPr wrap="square" lIns="0" tIns="0" rIns="0" bIns="0" rtlCol="0" anchor="ctr">
            <a:normAutofit/>
          </a:bodyPr>
          <a:lstStyle/>
          <a:p>
            <a:pPr algn="ctr" indent="0" marL="0">
              <a:buNone/>
            </a:pPr>
            <a:r>
              <a:rPr lang="en-US" sz="950" b="1" dirty="0">
                <a:solidFill>
                  <a:srgbClr val="5FE1A0"/>
                </a:solidFill>
                <a:latin typeface="Aptos" pitchFamily="34" charset="0"/>
                <a:ea typeface="Aptos" pitchFamily="34" charset="-122"/>
                <a:cs typeface="Aptos" pitchFamily="34" charset="-120"/>
              </a:rPr>
              <a:t>Wallet</a:t>
            </a:r>
            <a:endParaRPr lang="en-US" sz="950" dirty="0"/>
          </a:p>
        </p:txBody>
      </p:sp>
      <p:sp>
        <p:nvSpPr>
          <p:cNvPr id="25" name="Shape 23"/>
          <p:cNvSpPr/>
          <p:nvPr/>
        </p:nvSpPr>
        <p:spPr>
          <a:xfrm>
            <a:off x="2971800" y="4782312"/>
            <a:ext cx="0" cy="310896"/>
          </a:xfrm>
          <a:prstGeom prst="line">
            <a:avLst/>
          </a:prstGeom>
          <a:noFill/>
          <a:ln w="16510">
            <a:solidFill>
              <a:srgbClr val="A9B6C8"/>
            </a:solidFill>
            <a:prstDash val="solid"/>
            <a:headEnd type="none"/>
            <a:tailEnd type="triangle"/>
          </a:ln>
        </p:spPr>
      </p:sp>
      <p:sp>
        <p:nvSpPr>
          <p:cNvPr id="26" name="Shape 24"/>
          <p:cNvSpPr/>
          <p:nvPr/>
        </p:nvSpPr>
        <p:spPr>
          <a:xfrm>
            <a:off x="6419088" y="1874520"/>
            <a:ext cx="5166360" cy="3913632"/>
          </a:xfrm>
          <a:prstGeom prst="roundRect">
            <a:avLst>
              <a:gd name="adj" fmla="val 3738"/>
            </a:avLst>
          </a:prstGeom>
          <a:solidFill>
            <a:srgbClr val="162337"/>
          </a:solidFill>
          <a:ln w="12700">
            <a:solidFill>
              <a:srgbClr val="24344E"/>
            </a:solidFill>
            <a:prstDash val="solid"/>
          </a:ln>
          <a:effectLst>
            <a:outerShdw sx="100000" sy="100000" kx="0" ky="0" algn="bl" rotWithShape="0" blurRad="1.1912451888445345e+189" dist="5.956225944222673e+188" dir="2.806532213419321e+221">
              <a:srgbClr val="000000">
                <a:alpha val="2.2000000000000008e+229"/>
              </a:srgbClr>
            </a:outerShdw>
          </a:effectLst>
        </p:spPr>
      </p:sp>
      <p:sp>
        <p:nvSpPr>
          <p:cNvPr id="27" name="Text 25"/>
          <p:cNvSpPr txBox="1"/>
          <p:nvPr/>
        </p:nvSpPr>
        <p:spPr>
          <a:xfrm>
            <a:off x="6693408" y="2139696"/>
            <a:ext cx="1920240" cy="228600"/>
          </a:xfrm>
          <a:prstGeom prst="rect">
            <a:avLst/>
          </a:prstGeom>
          <a:noFill/>
          <a:ln/>
        </p:spPr>
        <p:txBody>
          <a:bodyPr wrap="square" lIns="0" tIns="0" rIns="0" bIns="0" rtlCol="0" anchor="ctr">
            <a:normAutofit/>
          </a:bodyPr>
          <a:lstStyle/>
          <a:p>
            <a:pPr algn="l" indent="0" marL="0">
              <a:buNone/>
            </a:pPr>
            <a:r>
              <a:rPr lang="en-US" sz="900" b="1" spc="120" kern="0" dirty="0">
                <a:solidFill>
                  <a:srgbClr val="5FE1A0"/>
                </a:solidFill>
                <a:latin typeface="Aptos" pitchFamily="34" charset="0"/>
                <a:ea typeface="Aptos" pitchFamily="34" charset="-122"/>
                <a:cs typeface="Aptos" pitchFamily="34" charset="-120"/>
              </a:rPr>
              <a:t>SECURITY INVARIANT</a:t>
            </a:r>
            <a:endParaRPr lang="en-US" sz="900" dirty="0"/>
          </a:p>
        </p:txBody>
      </p:sp>
      <p:sp>
        <p:nvSpPr>
          <p:cNvPr id="28" name="Text 26"/>
          <p:cNvSpPr txBox="1"/>
          <p:nvPr/>
        </p:nvSpPr>
        <p:spPr>
          <a:xfrm>
            <a:off x="6693408" y="2651760"/>
            <a:ext cx="4315968" cy="749808"/>
          </a:xfrm>
          <a:prstGeom prst="rect">
            <a:avLst/>
          </a:prstGeom>
          <a:noFill/>
          <a:ln/>
        </p:spPr>
        <p:txBody>
          <a:bodyPr wrap="square" lIns="0" tIns="0" rIns="0" bIns="0" rtlCol="0" anchor="ctr">
            <a:normAutofit/>
          </a:bodyPr>
          <a:lstStyle/>
          <a:p>
            <a:pPr algn="l" indent="0" marL="0">
              <a:buNone/>
            </a:pPr>
            <a:r>
              <a:rPr lang="en-US" sz="2400" b="1" dirty="0">
                <a:solidFill>
                  <a:srgbClr val="F5F7FA"/>
                </a:solidFill>
                <a:latin typeface="Aptos" pitchFamily="34" charset="0"/>
                <a:ea typeface="Aptos" pitchFamily="34" charset="-122"/>
                <a:cs typeface="Aptos" pitchFamily="34" charset="-120"/>
              </a:rPr>
              <a:t>Credentials are released to attested code — not to machines.</a:t>
            </a:r>
            <a:endParaRPr lang="en-US" sz="2400" dirty="0"/>
          </a:p>
        </p:txBody>
      </p:sp>
      <p:sp>
        <p:nvSpPr>
          <p:cNvPr id="29" name="Shape 27"/>
          <p:cNvSpPr/>
          <p:nvPr/>
        </p:nvSpPr>
        <p:spPr>
          <a:xfrm>
            <a:off x="6693408" y="3611880"/>
            <a:ext cx="4187952" cy="0"/>
          </a:xfrm>
          <a:prstGeom prst="line">
            <a:avLst/>
          </a:prstGeom>
          <a:noFill/>
          <a:ln w="15240">
            <a:solidFill>
              <a:srgbClr val="24344E"/>
            </a:solidFill>
            <a:prstDash val="solid"/>
            <a:headEnd type="none"/>
            <a:tailEnd type="none"/>
          </a:ln>
        </p:spPr>
      </p:sp>
      <p:sp>
        <p:nvSpPr>
          <p:cNvPr id="30" name="Shape 28"/>
          <p:cNvSpPr/>
          <p:nvPr/>
        </p:nvSpPr>
        <p:spPr>
          <a:xfrm>
            <a:off x="6711696" y="3858768"/>
            <a:ext cx="310896" cy="310896"/>
          </a:xfrm>
          <a:prstGeom prst="ellipse">
            <a:avLst/>
          </a:prstGeom>
          <a:solidFill>
            <a:srgbClr val="5FE1A0">
              <a:alpha val="18000"/>
            </a:srgbClr>
          </a:solidFill>
          <a:ln w="15240">
            <a:solidFill>
              <a:srgbClr val="5FE1A0"/>
            </a:solidFill>
            <a:prstDash val="solid"/>
          </a:ln>
        </p:spPr>
      </p:sp>
      <p:sp>
        <p:nvSpPr>
          <p:cNvPr id="31" name="Text 29"/>
          <p:cNvSpPr txBox="1"/>
          <p:nvPr/>
        </p:nvSpPr>
        <p:spPr>
          <a:xfrm>
            <a:off x="6711696" y="3867912"/>
            <a:ext cx="310896" cy="292608"/>
          </a:xfrm>
          <a:prstGeom prst="rect">
            <a:avLst/>
          </a:prstGeom>
          <a:noFill/>
          <a:ln/>
        </p:spPr>
        <p:txBody>
          <a:bodyPr wrap="square" lIns="0" tIns="0" rIns="0" bIns="0" rtlCol="0" anchor="ctr">
            <a:normAutofit/>
          </a:bodyPr>
          <a:lstStyle/>
          <a:p>
            <a:pPr algn="ctr" indent="0" marL="0">
              <a:buNone/>
            </a:pPr>
            <a:r>
              <a:rPr lang="en-US" sz="1500" b="1" dirty="0">
                <a:solidFill>
                  <a:srgbClr val="5FE1A0"/>
                </a:solidFill>
                <a:latin typeface="Aptos" pitchFamily="34" charset="0"/>
                <a:ea typeface="Aptos" pitchFamily="34" charset="-122"/>
                <a:cs typeface="Aptos" pitchFamily="34" charset="-120"/>
              </a:rPr>
              <a:t>✓</a:t>
            </a:r>
            <a:endParaRPr lang="en-US" sz="1500" dirty="0"/>
          </a:p>
        </p:txBody>
      </p:sp>
      <p:sp>
        <p:nvSpPr>
          <p:cNvPr id="32" name="Text 30"/>
          <p:cNvSpPr txBox="1"/>
          <p:nvPr/>
        </p:nvSpPr>
        <p:spPr>
          <a:xfrm>
            <a:off x="7187184" y="3877056"/>
            <a:ext cx="3246120" cy="201168"/>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Policy-limited capabilities</a:t>
            </a:r>
            <a:endParaRPr lang="en-US" sz="1050" dirty="0"/>
          </a:p>
        </p:txBody>
      </p:sp>
      <p:sp>
        <p:nvSpPr>
          <p:cNvPr id="33" name="Shape 31"/>
          <p:cNvSpPr/>
          <p:nvPr/>
        </p:nvSpPr>
        <p:spPr>
          <a:xfrm>
            <a:off x="6711696" y="4270248"/>
            <a:ext cx="310896" cy="310896"/>
          </a:xfrm>
          <a:prstGeom prst="ellipse">
            <a:avLst/>
          </a:prstGeom>
          <a:solidFill>
            <a:srgbClr val="5FE1A0">
              <a:alpha val="18000"/>
            </a:srgbClr>
          </a:solidFill>
          <a:ln w="15240">
            <a:solidFill>
              <a:srgbClr val="5FE1A0"/>
            </a:solidFill>
            <a:prstDash val="solid"/>
          </a:ln>
        </p:spPr>
      </p:sp>
      <p:sp>
        <p:nvSpPr>
          <p:cNvPr id="34" name="Text 32"/>
          <p:cNvSpPr txBox="1"/>
          <p:nvPr/>
        </p:nvSpPr>
        <p:spPr>
          <a:xfrm>
            <a:off x="6711696" y="4279392"/>
            <a:ext cx="310896" cy="292608"/>
          </a:xfrm>
          <a:prstGeom prst="rect">
            <a:avLst/>
          </a:prstGeom>
          <a:noFill/>
          <a:ln/>
        </p:spPr>
        <p:txBody>
          <a:bodyPr wrap="square" lIns="0" tIns="0" rIns="0" bIns="0" rtlCol="0" anchor="ctr">
            <a:normAutofit/>
          </a:bodyPr>
          <a:lstStyle/>
          <a:p>
            <a:pPr algn="ctr" indent="0" marL="0">
              <a:buNone/>
            </a:pPr>
            <a:r>
              <a:rPr lang="en-US" sz="1500" b="1" dirty="0">
                <a:solidFill>
                  <a:srgbClr val="5FE1A0"/>
                </a:solidFill>
                <a:latin typeface="Aptos" pitchFamily="34" charset="0"/>
                <a:ea typeface="Aptos" pitchFamily="34" charset="-122"/>
                <a:cs typeface="Aptos" pitchFamily="34" charset="-120"/>
              </a:rPr>
              <a:t>✓</a:t>
            </a:r>
            <a:endParaRPr lang="en-US" sz="1500" dirty="0"/>
          </a:p>
        </p:txBody>
      </p:sp>
      <p:sp>
        <p:nvSpPr>
          <p:cNvPr id="35" name="Text 33"/>
          <p:cNvSpPr txBox="1"/>
          <p:nvPr/>
        </p:nvSpPr>
        <p:spPr>
          <a:xfrm>
            <a:off x="7187184" y="4288536"/>
            <a:ext cx="3246120" cy="201168"/>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Time-bounded secrets</a:t>
            </a:r>
            <a:endParaRPr lang="en-US" sz="1050" dirty="0"/>
          </a:p>
        </p:txBody>
      </p:sp>
      <p:sp>
        <p:nvSpPr>
          <p:cNvPr id="36" name="Shape 34"/>
          <p:cNvSpPr/>
          <p:nvPr/>
        </p:nvSpPr>
        <p:spPr>
          <a:xfrm>
            <a:off x="6711696" y="4681728"/>
            <a:ext cx="310896" cy="310896"/>
          </a:xfrm>
          <a:prstGeom prst="ellipse">
            <a:avLst/>
          </a:prstGeom>
          <a:solidFill>
            <a:srgbClr val="5FE1A0">
              <a:alpha val="18000"/>
            </a:srgbClr>
          </a:solidFill>
          <a:ln w="15240">
            <a:solidFill>
              <a:srgbClr val="5FE1A0"/>
            </a:solidFill>
            <a:prstDash val="solid"/>
          </a:ln>
        </p:spPr>
      </p:sp>
      <p:sp>
        <p:nvSpPr>
          <p:cNvPr id="37" name="Text 35"/>
          <p:cNvSpPr txBox="1"/>
          <p:nvPr/>
        </p:nvSpPr>
        <p:spPr>
          <a:xfrm>
            <a:off x="6711696" y="4690872"/>
            <a:ext cx="310896" cy="292608"/>
          </a:xfrm>
          <a:prstGeom prst="rect">
            <a:avLst/>
          </a:prstGeom>
          <a:noFill/>
          <a:ln/>
        </p:spPr>
        <p:txBody>
          <a:bodyPr wrap="square" lIns="0" tIns="0" rIns="0" bIns="0" rtlCol="0" anchor="ctr">
            <a:normAutofit/>
          </a:bodyPr>
          <a:lstStyle/>
          <a:p>
            <a:pPr algn="ctr" indent="0" marL="0">
              <a:buNone/>
            </a:pPr>
            <a:r>
              <a:rPr lang="en-US" sz="1500" b="1" dirty="0">
                <a:solidFill>
                  <a:srgbClr val="5FE1A0"/>
                </a:solidFill>
                <a:latin typeface="Aptos" pitchFamily="34" charset="0"/>
                <a:ea typeface="Aptos" pitchFamily="34" charset="-122"/>
                <a:cs typeface="Aptos" pitchFamily="34" charset="-120"/>
              </a:rPr>
              <a:t>✓</a:t>
            </a:r>
            <a:endParaRPr lang="en-US" sz="1500" dirty="0"/>
          </a:p>
        </p:txBody>
      </p:sp>
      <p:sp>
        <p:nvSpPr>
          <p:cNvPr id="38" name="Text 36"/>
          <p:cNvSpPr txBox="1"/>
          <p:nvPr/>
        </p:nvSpPr>
        <p:spPr>
          <a:xfrm>
            <a:off x="7187184" y="4700016"/>
            <a:ext cx="3246120" cy="201168"/>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Attested tool access</a:t>
            </a:r>
            <a:endParaRPr lang="en-US" sz="1050" dirty="0"/>
          </a:p>
        </p:txBody>
      </p:sp>
      <p:sp>
        <p:nvSpPr>
          <p:cNvPr id="39" name="Shape 37"/>
          <p:cNvSpPr/>
          <p:nvPr/>
        </p:nvSpPr>
        <p:spPr>
          <a:xfrm>
            <a:off x="6711696" y="5093208"/>
            <a:ext cx="310896" cy="310896"/>
          </a:xfrm>
          <a:prstGeom prst="ellipse">
            <a:avLst/>
          </a:prstGeom>
          <a:solidFill>
            <a:srgbClr val="5FE1A0">
              <a:alpha val="18000"/>
            </a:srgbClr>
          </a:solidFill>
          <a:ln w="15240">
            <a:solidFill>
              <a:srgbClr val="5FE1A0"/>
            </a:solidFill>
            <a:prstDash val="solid"/>
          </a:ln>
        </p:spPr>
      </p:sp>
      <p:sp>
        <p:nvSpPr>
          <p:cNvPr id="40" name="Text 38"/>
          <p:cNvSpPr txBox="1"/>
          <p:nvPr/>
        </p:nvSpPr>
        <p:spPr>
          <a:xfrm>
            <a:off x="6711696" y="5102352"/>
            <a:ext cx="310896" cy="292608"/>
          </a:xfrm>
          <a:prstGeom prst="rect">
            <a:avLst/>
          </a:prstGeom>
          <a:noFill/>
          <a:ln/>
        </p:spPr>
        <p:txBody>
          <a:bodyPr wrap="square" lIns="0" tIns="0" rIns="0" bIns="0" rtlCol="0" anchor="ctr">
            <a:normAutofit/>
          </a:bodyPr>
          <a:lstStyle/>
          <a:p>
            <a:pPr algn="ctr" indent="0" marL="0">
              <a:buNone/>
            </a:pPr>
            <a:r>
              <a:rPr lang="en-US" sz="1500" b="1" dirty="0">
                <a:solidFill>
                  <a:srgbClr val="5FE1A0"/>
                </a:solidFill>
                <a:latin typeface="Aptos" pitchFamily="34" charset="0"/>
                <a:ea typeface="Aptos" pitchFamily="34" charset="-122"/>
                <a:cs typeface="Aptos" pitchFamily="34" charset="-120"/>
              </a:rPr>
              <a:t>✓</a:t>
            </a:r>
            <a:endParaRPr lang="en-US" sz="1500" dirty="0"/>
          </a:p>
        </p:txBody>
      </p:sp>
      <p:sp>
        <p:nvSpPr>
          <p:cNvPr id="41" name="Text 39"/>
          <p:cNvSpPr txBox="1"/>
          <p:nvPr/>
        </p:nvSpPr>
        <p:spPr>
          <a:xfrm>
            <a:off x="7187184" y="5111496"/>
            <a:ext cx="3246120" cy="201168"/>
          </a:xfrm>
          <a:prstGeom prst="rect">
            <a:avLst/>
          </a:prstGeom>
          <a:noFill/>
          <a:ln/>
        </p:spPr>
        <p:txBody>
          <a:bodyPr wrap="square" lIns="0" tIns="0" rIns="0" bIns="0" rtlCol="0" anchor="ctr">
            <a:normAutofit/>
          </a:bodyPr>
          <a:lstStyle/>
          <a:p>
            <a:pPr algn="l" indent="0" marL="0">
              <a:buNone/>
            </a:pPr>
            <a:r>
              <a:rPr lang="en-US" sz="1050" dirty="0">
                <a:solidFill>
                  <a:srgbClr val="D8E2EF"/>
                </a:solidFill>
                <a:latin typeface="Aptos" pitchFamily="34" charset="0"/>
                <a:ea typeface="Aptos" pitchFamily="34" charset="-122"/>
                <a:cs typeface="Aptos" pitchFamily="34" charset="-120"/>
              </a:rPr>
              <a:t>Non-exportable signing keys</a:t>
            </a:r>
            <a:endParaRPr lang="en-US" sz="1050" dirty="0"/>
          </a:p>
        </p:txBody>
      </p:sp>
      <p:sp>
        <p:nvSpPr>
          <p:cNvPr id="42" name="Text 40"/>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Cerebras CS-4 explicitly targets agentic workloads; C-CCA extends that trajectory with confidential credentials and attested tool access.</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11 • DEMAND MAP</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Where confidential Cerebras has the strongest economic pull.</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Prioritize markets where data sensitivity + model IP + action authority overlap.</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12</a:t>
            </a:r>
            <a:endParaRPr lang="en-US" sz="1000" dirty="0"/>
          </a:p>
        </p:txBody>
      </p:sp>
      <p:sp>
        <p:nvSpPr>
          <p:cNvPr id="6" name="Shape 4"/>
          <p:cNvSpPr/>
          <p:nvPr/>
        </p:nvSpPr>
        <p:spPr>
          <a:xfrm>
            <a:off x="566928" y="1956816"/>
            <a:ext cx="5321808" cy="1069848"/>
          </a:xfrm>
          <a:prstGeom prst="roundRect">
            <a:avLst>
              <a:gd name="adj" fmla="val 13675"/>
            </a:avLst>
          </a:prstGeom>
          <a:solidFill>
            <a:srgbClr val="121C2E"/>
          </a:solidFill>
          <a:ln w="12700">
            <a:solidFill>
              <a:srgbClr val="24344E"/>
            </a:solidFill>
            <a:prstDash val="solid"/>
          </a:ln>
          <a:effectLst>
            <a:outerShdw sx="100000" sy="100000" kx="0" ky="0" algn="bl" rotWithShape="0" blurRad="1.5128813898325588e+193" dist="7.564406949162794e+192" dir="1.6839193280515925e+226">
              <a:srgbClr val="000000">
                <a:alpha val="2.2000000000000008e+234"/>
              </a:srgbClr>
            </a:outerShdw>
          </a:effectLst>
        </p:spPr>
      </p:sp>
      <p:sp>
        <p:nvSpPr>
          <p:cNvPr id="7" name="Shape 5"/>
          <p:cNvSpPr/>
          <p:nvPr/>
        </p:nvSpPr>
        <p:spPr>
          <a:xfrm>
            <a:off x="731520" y="2167128"/>
            <a:ext cx="384048" cy="384048"/>
          </a:xfrm>
          <a:prstGeom prst="ellipse">
            <a:avLst/>
          </a:prstGeom>
          <a:solidFill>
            <a:srgbClr val="FF6B35">
              <a:alpha val="18000"/>
            </a:srgbClr>
          </a:solidFill>
          <a:ln w="15240">
            <a:solidFill>
              <a:srgbClr val="FF6B35"/>
            </a:solidFill>
            <a:prstDash val="solid"/>
          </a:ln>
        </p:spPr>
      </p:sp>
      <p:sp>
        <p:nvSpPr>
          <p:cNvPr id="8" name="Text 6"/>
          <p:cNvSpPr txBox="1"/>
          <p:nvPr/>
        </p:nvSpPr>
        <p:spPr>
          <a:xfrm>
            <a:off x="731520" y="2176272"/>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FF6B35"/>
                </a:solidFill>
                <a:latin typeface="Aptos" pitchFamily="34" charset="0"/>
                <a:ea typeface="Aptos" pitchFamily="34" charset="-122"/>
                <a:cs typeface="Aptos" pitchFamily="34" charset="-120"/>
              </a:rPr>
              <a:t>1</a:t>
            </a:r>
            <a:endParaRPr lang="en-US" sz="1500" dirty="0"/>
          </a:p>
        </p:txBody>
      </p:sp>
      <p:sp>
        <p:nvSpPr>
          <p:cNvPr id="9" name="Text 7"/>
          <p:cNvSpPr txBox="1"/>
          <p:nvPr/>
        </p:nvSpPr>
        <p:spPr>
          <a:xfrm>
            <a:off x="1280160" y="2121408"/>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Sovereign / classified AI</a:t>
            </a:r>
            <a:endParaRPr lang="en-US" sz="1200" dirty="0"/>
          </a:p>
        </p:txBody>
      </p:sp>
      <p:sp>
        <p:nvSpPr>
          <p:cNvPr id="10" name="Text 8"/>
          <p:cNvSpPr txBox="1"/>
          <p:nvPr/>
        </p:nvSpPr>
        <p:spPr>
          <a:xfrm>
            <a:off x="1280160" y="2441448"/>
            <a:ext cx="3474720" cy="274320"/>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National data, local models, mission systems</a:t>
            </a:r>
            <a:endParaRPr lang="en-US" sz="980" dirty="0"/>
          </a:p>
        </p:txBody>
      </p:sp>
      <p:sp>
        <p:nvSpPr>
          <p:cNvPr id="11" name="Text 9"/>
          <p:cNvSpPr txBox="1"/>
          <p:nvPr/>
        </p:nvSpPr>
        <p:spPr>
          <a:xfrm>
            <a:off x="4882896" y="2121408"/>
            <a:ext cx="777240" cy="228600"/>
          </a:xfrm>
          <a:prstGeom prst="rect">
            <a:avLst/>
          </a:prstGeom>
          <a:noFill/>
          <a:ln/>
        </p:spPr>
        <p:txBody>
          <a:bodyPr wrap="square" lIns="0" tIns="0" rIns="0" bIns="0" rtlCol="0" anchor="ctr">
            <a:normAutofit/>
          </a:bodyPr>
          <a:lstStyle/>
          <a:p>
            <a:pPr algn="r" indent="0" marL="0">
              <a:buNone/>
            </a:pPr>
            <a:r>
              <a:rPr lang="en-US" sz="1100" b="1" dirty="0">
                <a:solidFill>
                  <a:srgbClr val="FF6B35"/>
                </a:solidFill>
                <a:latin typeface="Aptos" pitchFamily="34" charset="0"/>
                <a:ea typeface="Aptos" pitchFamily="34" charset="-122"/>
                <a:cs typeface="Aptos" pitchFamily="34" charset="-120"/>
              </a:rPr>
              <a:t>★★★★★</a:t>
            </a:r>
            <a:endParaRPr lang="en-US" sz="1100" dirty="0"/>
          </a:p>
        </p:txBody>
      </p:sp>
      <p:sp>
        <p:nvSpPr>
          <p:cNvPr id="12" name="Shape 10"/>
          <p:cNvSpPr/>
          <p:nvPr/>
        </p:nvSpPr>
        <p:spPr>
          <a:xfrm>
            <a:off x="6172200" y="1956816"/>
            <a:ext cx="5321808" cy="1069848"/>
          </a:xfrm>
          <a:prstGeom prst="roundRect">
            <a:avLst>
              <a:gd name="adj" fmla="val 13675"/>
            </a:avLst>
          </a:prstGeom>
          <a:solidFill>
            <a:srgbClr val="121C2E"/>
          </a:solidFill>
          <a:ln w="12700">
            <a:solidFill>
              <a:srgbClr val="24344E"/>
            </a:solidFill>
            <a:prstDash val="solid"/>
          </a:ln>
          <a:effectLst>
            <a:outerShdw sx="100000" sy="100000" kx="0" ky="0" algn="bl" rotWithShape="0" blurRad="1.9213593650873497e+197" dist="9.606796825436748e+196" dir="1.0103515968309554e+231">
              <a:srgbClr val="000000">
                <a:alpha val="2.200000000000001e+239"/>
              </a:srgbClr>
            </a:outerShdw>
          </a:effectLst>
        </p:spPr>
      </p:sp>
      <p:sp>
        <p:nvSpPr>
          <p:cNvPr id="13" name="Shape 11"/>
          <p:cNvSpPr/>
          <p:nvPr/>
        </p:nvSpPr>
        <p:spPr>
          <a:xfrm>
            <a:off x="6336792" y="2167128"/>
            <a:ext cx="384048" cy="384048"/>
          </a:xfrm>
          <a:prstGeom prst="ellipse">
            <a:avLst/>
          </a:prstGeom>
          <a:solidFill>
            <a:srgbClr val="5FE1A0">
              <a:alpha val="18000"/>
            </a:srgbClr>
          </a:solidFill>
          <a:ln w="15240">
            <a:solidFill>
              <a:srgbClr val="5FE1A0"/>
            </a:solidFill>
            <a:prstDash val="solid"/>
          </a:ln>
        </p:spPr>
      </p:sp>
      <p:sp>
        <p:nvSpPr>
          <p:cNvPr id="14" name="Text 12"/>
          <p:cNvSpPr txBox="1"/>
          <p:nvPr/>
        </p:nvSpPr>
        <p:spPr>
          <a:xfrm>
            <a:off x="6336792" y="2176272"/>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5FE1A0"/>
                </a:solidFill>
                <a:latin typeface="Aptos" pitchFamily="34" charset="0"/>
                <a:ea typeface="Aptos" pitchFamily="34" charset="-122"/>
                <a:cs typeface="Aptos" pitchFamily="34" charset="-120"/>
              </a:rPr>
              <a:t>2</a:t>
            </a:r>
            <a:endParaRPr lang="en-US" sz="1500" dirty="0"/>
          </a:p>
        </p:txBody>
      </p:sp>
      <p:sp>
        <p:nvSpPr>
          <p:cNvPr id="15" name="Text 13"/>
          <p:cNvSpPr txBox="1"/>
          <p:nvPr/>
        </p:nvSpPr>
        <p:spPr>
          <a:xfrm>
            <a:off x="6885432" y="2121408"/>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Healthcare / pharma</a:t>
            </a:r>
            <a:endParaRPr lang="en-US" sz="1200" dirty="0"/>
          </a:p>
        </p:txBody>
      </p:sp>
      <p:sp>
        <p:nvSpPr>
          <p:cNvPr id="16" name="Text 14"/>
          <p:cNvSpPr txBox="1"/>
          <p:nvPr/>
        </p:nvSpPr>
        <p:spPr>
          <a:xfrm>
            <a:off x="6885432" y="2441448"/>
            <a:ext cx="3474720" cy="274320"/>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PHI, genomics, drug discovery, cross-org collaboration</a:t>
            </a:r>
            <a:endParaRPr lang="en-US" sz="980" dirty="0"/>
          </a:p>
        </p:txBody>
      </p:sp>
      <p:sp>
        <p:nvSpPr>
          <p:cNvPr id="17" name="Text 15"/>
          <p:cNvSpPr txBox="1"/>
          <p:nvPr/>
        </p:nvSpPr>
        <p:spPr>
          <a:xfrm>
            <a:off x="10488168" y="2121408"/>
            <a:ext cx="777240" cy="228600"/>
          </a:xfrm>
          <a:prstGeom prst="rect">
            <a:avLst/>
          </a:prstGeom>
          <a:noFill/>
          <a:ln/>
        </p:spPr>
        <p:txBody>
          <a:bodyPr wrap="square" lIns="0" tIns="0" rIns="0" bIns="0" rtlCol="0" anchor="ctr">
            <a:normAutofit/>
          </a:bodyPr>
          <a:lstStyle/>
          <a:p>
            <a:pPr algn="r" indent="0" marL="0">
              <a:buNone/>
            </a:pPr>
            <a:r>
              <a:rPr lang="en-US" sz="1100" b="1" dirty="0">
                <a:solidFill>
                  <a:srgbClr val="5FE1A0"/>
                </a:solidFill>
                <a:latin typeface="Aptos" pitchFamily="34" charset="0"/>
                <a:ea typeface="Aptos" pitchFamily="34" charset="-122"/>
                <a:cs typeface="Aptos" pitchFamily="34" charset="-120"/>
              </a:rPr>
              <a:t>★★★★★</a:t>
            </a:r>
            <a:endParaRPr lang="en-US" sz="1100" dirty="0"/>
          </a:p>
        </p:txBody>
      </p:sp>
      <p:sp>
        <p:nvSpPr>
          <p:cNvPr id="18" name="Shape 16"/>
          <p:cNvSpPr/>
          <p:nvPr/>
        </p:nvSpPr>
        <p:spPr>
          <a:xfrm>
            <a:off x="566928" y="3264408"/>
            <a:ext cx="5321808" cy="1069848"/>
          </a:xfrm>
          <a:prstGeom prst="roundRect">
            <a:avLst>
              <a:gd name="adj" fmla="val 13675"/>
            </a:avLst>
          </a:prstGeom>
          <a:solidFill>
            <a:srgbClr val="162337"/>
          </a:solidFill>
          <a:ln w="12700">
            <a:solidFill>
              <a:srgbClr val="24344E"/>
            </a:solidFill>
            <a:prstDash val="solid"/>
          </a:ln>
          <a:effectLst>
            <a:outerShdw sx="100000" sy="100000" kx="0" ky="0" algn="bl" rotWithShape="0" blurRad="2.440126393660934e+201" dist="1.220063196830467e+201" dir="6.062109580985733e+235">
              <a:srgbClr val="000000">
                <a:alpha val="2.200000000000001e+244"/>
              </a:srgbClr>
            </a:outerShdw>
          </a:effectLst>
        </p:spPr>
      </p:sp>
      <p:sp>
        <p:nvSpPr>
          <p:cNvPr id="19" name="Shape 17"/>
          <p:cNvSpPr/>
          <p:nvPr/>
        </p:nvSpPr>
        <p:spPr>
          <a:xfrm>
            <a:off x="731520" y="3474720"/>
            <a:ext cx="384048" cy="384048"/>
          </a:xfrm>
          <a:prstGeom prst="ellipse">
            <a:avLst/>
          </a:prstGeom>
          <a:solidFill>
            <a:srgbClr val="3BD6E8">
              <a:alpha val="18000"/>
            </a:srgbClr>
          </a:solidFill>
          <a:ln w="15240">
            <a:solidFill>
              <a:srgbClr val="3BD6E8"/>
            </a:solidFill>
            <a:prstDash val="solid"/>
          </a:ln>
        </p:spPr>
      </p:sp>
      <p:sp>
        <p:nvSpPr>
          <p:cNvPr id="20" name="Text 18"/>
          <p:cNvSpPr txBox="1"/>
          <p:nvPr/>
        </p:nvSpPr>
        <p:spPr>
          <a:xfrm>
            <a:off x="731520" y="3483864"/>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3BD6E8"/>
                </a:solidFill>
                <a:latin typeface="Aptos" pitchFamily="34" charset="0"/>
                <a:ea typeface="Aptos" pitchFamily="34" charset="-122"/>
                <a:cs typeface="Aptos" pitchFamily="34" charset="-120"/>
              </a:rPr>
              <a:t>3</a:t>
            </a:r>
            <a:endParaRPr lang="en-US" sz="1500" dirty="0"/>
          </a:p>
        </p:txBody>
      </p:sp>
      <p:sp>
        <p:nvSpPr>
          <p:cNvPr id="21" name="Text 19"/>
          <p:cNvSpPr txBox="1"/>
          <p:nvPr/>
        </p:nvSpPr>
        <p:spPr>
          <a:xfrm>
            <a:off x="1280160" y="3429000"/>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Finance / trading</a:t>
            </a:r>
            <a:endParaRPr lang="en-US" sz="1200" dirty="0"/>
          </a:p>
        </p:txBody>
      </p:sp>
      <p:sp>
        <p:nvSpPr>
          <p:cNvPr id="22" name="Text 20"/>
          <p:cNvSpPr txBox="1"/>
          <p:nvPr/>
        </p:nvSpPr>
        <p:spPr>
          <a:xfrm>
            <a:off x="1280160" y="3749040"/>
            <a:ext cx="3474720" cy="274320"/>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Fraud, AML, private research, strategies, signing keys</a:t>
            </a:r>
            <a:endParaRPr lang="en-US" sz="980" dirty="0"/>
          </a:p>
        </p:txBody>
      </p:sp>
      <p:sp>
        <p:nvSpPr>
          <p:cNvPr id="23" name="Text 21"/>
          <p:cNvSpPr txBox="1"/>
          <p:nvPr/>
        </p:nvSpPr>
        <p:spPr>
          <a:xfrm>
            <a:off x="4882896" y="3429000"/>
            <a:ext cx="777240" cy="228600"/>
          </a:xfrm>
          <a:prstGeom prst="rect">
            <a:avLst/>
          </a:prstGeom>
          <a:noFill/>
          <a:ln/>
        </p:spPr>
        <p:txBody>
          <a:bodyPr wrap="square" lIns="0" tIns="0" rIns="0" bIns="0" rtlCol="0" anchor="ctr">
            <a:normAutofit/>
          </a:bodyPr>
          <a:lstStyle/>
          <a:p>
            <a:pPr algn="r" indent="0" marL="0">
              <a:buNone/>
            </a:pPr>
            <a:r>
              <a:rPr lang="en-US" sz="1100" b="1" dirty="0">
                <a:solidFill>
                  <a:srgbClr val="3BD6E8"/>
                </a:solidFill>
                <a:latin typeface="Aptos" pitchFamily="34" charset="0"/>
                <a:ea typeface="Aptos" pitchFamily="34" charset="-122"/>
                <a:cs typeface="Aptos" pitchFamily="34" charset="-120"/>
              </a:rPr>
              <a:t>★★★★★</a:t>
            </a:r>
            <a:endParaRPr lang="en-US" sz="1100" dirty="0"/>
          </a:p>
        </p:txBody>
      </p:sp>
      <p:sp>
        <p:nvSpPr>
          <p:cNvPr id="24" name="Shape 22"/>
          <p:cNvSpPr/>
          <p:nvPr/>
        </p:nvSpPr>
        <p:spPr>
          <a:xfrm>
            <a:off x="6172200" y="3264408"/>
            <a:ext cx="5321808" cy="1069848"/>
          </a:xfrm>
          <a:prstGeom prst="roundRect">
            <a:avLst>
              <a:gd name="adj" fmla="val 13675"/>
            </a:avLst>
          </a:prstGeom>
          <a:solidFill>
            <a:srgbClr val="162337"/>
          </a:solidFill>
          <a:ln w="12700">
            <a:solidFill>
              <a:srgbClr val="24344E"/>
            </a:solidFill>
            <a:prstDash val="solid"/>
          </a:ln>
          <a:effectLst>
            <a:outerShdw sx="100000" sy="100000" kx="0" ky="0" algn="bl" rotWithShape="0" blurRad="3.0989605199493864e+205" dist="1.5494802599746932e+205" dir="3.63726574859144e+240">
              <a:srgbClr val="000000">
                <a:alpha val="2.200000000000001e+249"/>
              </a:srgbClr>
            </a:outerShdw>
          </a:effectLst>
        </p:spPr>
      </p:sp>
      <p:sp>
        <p:nvSpPr>
          <p:cNvPr id="25" name="Shape 23"/>
          <p:cNvSpPr/>
          <p:nvPr/>
        </p:nvSpPr>
        <p:spPr>
          <a:xfrm>
            <a:off x="6336792" y="3474720"/>
            <a:ext cx="384048" cy="384048"/>
          </a:xfrm>
          <a:prstGeom prst="ellipse">
            <a:avLst/>
          </a:prstGeom>
          <a:solidFill>
            <a:srgbClr val="FFD166">
              <a:alpha val="18000"/>
            </a:srgbClr>
          </a:solidFill>
          <a:ln w="15240">
            <a:solidFill>
              <a:srgbClr val="FFD166"/>
            </a:solidFill>
            <a:prstDash val="solid"/>
          </a:ln>
        </p:spPr>
      </p:sp>
      <p:sp>
        <p:nvSpPr>
          <p:cNvPr id="26" name="Text 24"/>
          <p:cNvSpPr txBox="1"/>
          <p:nvPr/>
        </p:nvSpPr>
        <p:spPr>
          <a:xfrm>
            <a:off x="6336792" y="3483864"/>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FFD166"/>
                </a:solidFill>
                <a:latin typeface="Aptos" pitchFamily="34" charset="0"/>
                <a:ea typeface="Aptos" pitchFamily="34" charset="-122"/>
                <a:cs typeface="Aptos" pitchFamily="34" charset="-120"/>
              </a:rPr>
              <a:t>4</a:t>
            </a:r>
            <a:endParaRPr lang="en-US" sz="1500" dirty="0"/>
          </a:p>
        </p:txBody>
      </p:sp>
      <p:sp>
        <p:nvSpPr>
          <p:cNvPr id="27" name="Text 25"/>
          <p:cNvSpPr txBox="1"/>
          <p:nvPr/>
        </p:nvSpPr>
        <p:spPr>
          <a:xfrm>
            <a:off x="6885432" y="3429000"/>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AI agents</a:t>
            </a:r>
            <a:endParaRPr lang="en-US" sz="1200" dirty="0"/>
          </a:p>
        </p:txBody>
      </p:sp>
      <p:sp>
        <p:nvSpPr>
          <p:cNvPr id="28" name="Text 26"/>
          <p:cNvSpPr txBox="1"/>
          <p:nvPr/>
        </p:nvSpPr>
        <p:spPr>
          <a:xfrm>
            <a:off x="6885432" y="3749040"/>
            <a:ext cx="3474720" cy="274320"/>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Enterprise tools, credentials, autonomous workflows</a:t>
            </a:r>
            <a:endParaRPr lang="en-US" sz="980" dirty="0"/>
          </a:p>
        </p:txBody>
      </p:sp>
      <p:sp>
        <p:nvSpPr>
          <p:cNvPr id="29" name="Text 27"/>
          <p:cNvSpPr txBox="1"/>
          <p:nvPr/>
        </p:nvSpPr>
        <p:spPr>
          <a:xfrm>
            <a:off x="10488168" y="3429000"/>
            <a:ext cx="777240" cy="228600"/>
          </a:xfrm>
          <a:prstGeom prst="rect">
            <a:avLst/>
          </a:prstGeom>
          <a:noFill/>
          <a:ln/>
        </p:spPr>
        <p:txBody>
          <a:bodyPr wrap="square" lIns="0" tIns="0" rIns="0" bIns="0" rtlCol="0" anchor="ctr">
            <a:normAutofit/>
          </a:bodyPr>
          <a:lstStyle/>
          <a:p>
            <a:pPr algn="r" indent="0" marL="0">
              <a:buNone/>
            </a:pPr>
            <a:r>
              <a:rPr lang="en-US" sz="1100" b="1" dirty="0">
                <a:solidFill>
                  <a:srgbClr val="FFD166"/>
                </a:solidFill>
                <a:latin typeface="Aptos" pitchFamily="34" charset="0"/>
                <a:ea typeface="Aptos" pitchFamily="34" charset="-122"/>
                <a:cs typeface="Aptos" pitchFamily="34" charset="-120"/>
              </a:rPr>
              <a:t>★★★★★</a:t>
            </a:r>
            <a:endParaRPr lang="en-US" sz="1100" dirty="0"/>
          </a:p>
        </p:txBody>
      </p:sp>
      <p:sp>
        <p:nvSpPr>
          <p:cNvPr id="30" name="Shape 28"/>
          <p:cNvSpPr/>
          <p:nvPr/>
        </p:nvSpPr>
        <p:spPr>
          <a:xfrm>
            <a:off x="566928" y="4572000"/>
            <a:ext cx="5321808" cy="1069848"/>
          </a:xfrm>
          <a:prstGeom prst="roundRect">
            <a:avLst>
              <a:gd name="adj" fmla="val 13675"/>
            </a:avLst>
          </a:prstGeom>
          <a:solidFill>
            <a:srgbClr val="121C2E"/>
          </a:solidFill>
          <a:ln w="12700">
            <a:solidFill>
              <a:srgbClr val="24344E"/>
            </a:solidFill>
            <a:prstDash val="solid"/>
          </a:ln>
          <a:effectLst>
            <a:outerShdw sx="100000" sy="100000" kx="0" ky="0" algn="bl" rotWithShape="0" blurRad="3.9356798603357206e+209" dist="1.9678399301678603e+209" dir="2.182359449154864e+245">
              <a:srgbClr val="000000">
                <a:alpha val="2.200000000000001e+254"/>
              </a:srgbClr>
            </a:outerShdw>
          </a:effectLst>
        </p:spPr>
      </p:sp>
      <p:sp>
        <p:nvSpPr>
          <p:cNvPr id="31" name="Shape 29"/>
          <p:cNvSpPr/>
          <p:nvPr/>
        </p:nvSpPr>
        <p:spPr>
          <a:xfrm>
            <a:off x="731520" y="4782312"/>
            <a:ext cx="384048" cy="384048"/>
          </a:xfrm>
          <a:prstGeom prst="ellipse">
            <a:avLst/>
          </a:prstGeom>
          <a:solidFill>
            <a:srgbClr val="71A7FF">
              <a:alpha val="18000"/>
            </a:srgbClr>
          </a:solidFill>
          <a:ln w="15240">
            <a:solidFill>
              <a:srgbClr val="71A7FF"/>
            </a:solidFill>
            <a:prstDash val="solid"/>
          </a:ln>
        </p:spPr>
      </p:sp>
      <p:sp>
        <p:nvSpPr>
          <p:cNvPr id="32" name="Text 30"/>
          <p:cNvSpPr txBox="1"/>
          <p:nvPr/>
        </p:nvSpPr>
        <p:spPr>
          <a:xfrm>
            <a:off x="731520" y="4791456"/>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71A7FF"/>
                </a:solidFill>
                <a:latin typeface="Aptos" pitchFamily="34" charset="0"/>
                <a:ea typeface="Aptos" pitchFamily="34" charset="-122"/>
                <a:cs typeface="Aptos" pitchFamily="34" charset="-120"/>
              </a:rPr>
              <a:t>5</a:t>
            </a:r>
            <a:endParaRPr lang="en-US" sz="1500" dirty="0"/>
          </a:p>
        </p:txBody>
      </p:sp>
      <p:sp>
        <p:nvSpPr>
          <p:cNvPr id="33" name="Text 31"/>
          <p:cNvSpPr txBox="1"/>
          <p:nvPr/>
        </p:nvSpPr>
        <p:spPr>
          <a:xfrm>
            <a:off x="1280160" y="4736592"/>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Cryptography / Web3</a:t>
            </a:r>
            <a:endParaRPr lang="en-US" sz="1200" dirty="0"/>
          </a:p>
        </p:txBody>
      </p:sp>
      <p:sp>
        <p:nvSpPr>
          <p:cNvPr id="34" name="Text 32"/>
          <p:cNvSpPr txBox="1"/>
          <p:nvPr/>
        </p:nvSpPr>
        <p:spPr>
          <a:xfrm>
            <a:off x="1280160" y="5056632"/>
            <a:ext cx="3474720" cy="274320"/>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MPC, threshold shares, wallets, validators</a:t>
            </a:r>
            <a:endParaRPr lang="en-US" sz="980" dirty="0"/>
          </a:p>
        </p:txBody>
      </p:sp>
      <p:sp>
        <p:nvSpPr>
          <p:cNvPr id="35" name="Text 33"/>
          <p:cNvSpPr txBox="1"/>
          <p:nvPr/>
        </p:nvSpPr>
        <p:spPr>
          <a:xfrm>
            <a:off x="4882896" y="4736592"/>
            <a:ext cx="777240" cy="228600"/>
          </a:xfrm>
          <a:prstGeom prst="rect">
            <a:avLst/>
          </a:prstGeom>
          <a:noFill/>
          <a:ln/>
        </p:spPr>
        <p:txBody>
          <a:bodyPr wrap="square" lIns="0" tIns="0" rIns="0" bIns="0" rtlCol="0" anchor="ctr">
            <a:normAutofit/>
          </a:bodyPr>
          <a:lstStyle/>
          <a:p>
            <a:pPr algn="r" indent="0" marL="0">
              <a:buNone/>
            </a:pPr>
            <a:r>
              <a:rPr lang="en-US" sz="1100" b="1" dirty="0">
                <a:solidFill>
                  <a:srgbClr val="71A7FF"/>
                </a:solidFill>
                <a:latin typeface="Aptos" pitchFamily="34" charset="0"/>
                <a:ea typeface="Aptos" pitchFamily="34" charset="-122"/>
                <a:cs typeface="Aptos" pitchFamily="34" charset="-120"/>
              </a:rPr>
              <a:t>★★★★☆</a:t>
            </a:r>
            <a:endParaRPr lang="en-US" sz="1100" dirty="0"/>
          </a:p>
        </p:txBody>
      </p:sp>
      <p:sp>
        <p:nvSpPr>
          <p:cNvPr id="36" name="Shape 34"/>
          <p:cNvSpPr/>
          <p:nvPr/>
        </p:nvSpPr>
        <p:spPr>
          <a:xfrm>
            <a:off x="6172200" y="4572000"/>
            <a:ext cx="5321808" cy="1069848"/>
          </a:xfrm>
          <a:prstGeom prst="roundRect">
            <a:avLst>
              <a:gd name="adj" fmla="val 13675"/>
            </a:avLst>
          </a:prstGeom>
          <a:solidFill>
            <a:srgbClr val="121C2E"/>
          </a:solidFill>
          <a:ln w="12700">
            <a:solidFill>
              <a:srgbClr val="24344E"/>
            </a:solidFill>
            <a:prstDash val="solid"/>
          </a:ln>
          <a:effectLst>
            <a:outerShdw sx="100000" sy="100000" kx="0" ky="0" algn="bl" rotWithShape="0" blurRad="4.9983134226263654e+213" dist="2.4991567113131827e+213" dir="1.3094156694929184e+250">
              <a:srgbClr val="000000">
                <a:alpha val="2.200000000000001e+259"/>
              </a:srgbClr>
            </a:outerShdw>
          </a:effectLst>
        </p:spPr>
      </p:sp>
      <p:sp>
        <p:nvSpPr>
          <p:cNvPr id="37" name="Shape 35"/>
          <p:cNvSpPr/>
          <p:nvPr/>
        </p:nvSpPr>
        <p:spPr>
          <a:xfrm>
            <a:off x="6336792" y="4782312"/>
            <a:ext cx="384048" cy="384048"/>
          </a:xfrm>
          <a:prstGeom prst="ellipse">
            <a:avLst/>
          </a:prstGeom>
          <a:solidFill>
            <a:srgbClr val="FF8A5C">
              <a:alpha val="18000"/>
            </a:srgbClr>
          </a:solidFill>
          <a:ln w="15240">
            <a:solidFill>
              <a:srgbClr val="FF8A5C"/>
            </a:solidFill>
            <a:prstDash val="solid"/>
          </a:ln>
        </p:spPr>
      </p:sp>
      <p:sp>
        <p:nvSpPr>
          <p:cNvPr id="38" name="Text 36"/>
          <p:cNvSpPr txBox="1"/>
          <p:nvPr/>
        </p:nvSpPr>
        <p:spPr>
          <a:xfrm>
            <a:off x="6336792" y="4791456"/>
            <a:ext cx="384048" cy="365760"/>
          </a:xfrm>
          <a:prstGeom prst="rect">
            <a:avLst/>
          </a:prstGeom>
          <a:noFill/>
          <a:ln/>
        </p:spPr>
        <p:txBody>
          <a:bodyPr wrap="square" lIns="0" tIns="0" rIns="0" bIns="0" rtlCol="0" anchor="ctr">
            <a:normAutofit/>
          </a:bodyPr>
          <a:lstStyle/>
          <a:p>
            <a:pPr algn="ctr" indent="0" marL="0">
              <a:buNone/>
            </a:pPr>
            <a:r>
              <a:rPr lang="en-US" sz="1500" b="1" dirty="0">
                <a:solidFill>
                  <a:srgbClr val="FF8A5C"/>
                </a:solidFill>
                <a:latin typeface="Aptos" pitchFamily="34" charset="0"/>
                <a:ea typeface="Aptos" pitchFamily="34" charset="-122"/>
                <a:cs typeface="Aptos" pitchFamily="34" charset="-120"/>
              </a:rPr>
              <a:t>6</a:t>
            </a:r>
            <a:endParaRPr lang="en-US" sz="1500" dirty="0"/>
          </a:p>
        </p:txBody>
      </p:sp>
      <p:sp>
        <p:nvSpPr>
          <p:cNvPr id="39" name="Text 37"/>
          <p:cNvSpPr txBox="1"/>
          <p:nvPr/>
        </p:nvSpPr>
        <p:spPr>
          <a:xfrm>
            <a:off x="6885432" y="4736592"/>
            <a:ext cx="2240280" cy="228600"/>
          </a:xfrm>
          <a:prstGeom prst="rect">
            <a:avLst/>
          </a:prstGeom>
          <a:noFill/>
          <a:ln/>
        </p:spPr>
        <p:txBody>
          <a:bodyPr wrap="square" lIns="0" tIns="0" rIns="0" bIns="0" rtlCol="0" anchor="ctr">
            <a:normAutofit/>
          </a:bodyPr>
          <a:lstStyle/>
          <a:p>
            <a:pPr algn="l" indent="0" marL="0">
              <a:buNone/>
            </a:pPr>
            <a:r>
              <a:rPr lang="en-US" sz="1200" b="1" dirty="0">
                <a:solidFill>
                  <a:srgbClr val="F5F7FA"/>
                </a:solidFill>
                <a:latin typeface="Aptos" pitchFamily="34" charset="0"/>
                <a:ea typeface="Aptos" pitchFamily="34" charset="-122"/>
                <a:cs typeface="Aptos" pitchFamily="34" charset="-120"/>
              </a:rPr>
              <a:t>Proprietary model serving</a:t>
            </a:r>
            <a:endParaRPr lang="en-US" sz="1200" dirty="0"/>
          </a:p>
        </p:txBody>
      </p:sp>
      <p:sp>
        <p:nvSpPr>
          <p:cNvPr id="40" name="Text 38"/>
          <p:cNvSpPr txBox="1"/>
          <p:nvPr/>
        </p:nvSpPr>
        <p:spPr>
          <a:xfrm>
            <a:off x="6885432" y="5056632"/>
            <a:ext cx="3474720" cy="274320"/>
          </a:xfrm>
          <a:prstGeom prst="rect">
            <a:avLst/>
          </a:prstGeom>
          <a:noFill/>
          <a:ln/>
        </p:spPr>
        <p:txBody>
          <a:bodyPr wrap="square" lIns="0" tIns="0" rIns="0" bIns="0" rtlCol="0" anchor="ctr">
            <a:normAutofit/>
          </a:bodyPr>
          <a:lstStyle/>
          <a:p>
            <a:pPr algn="l" indent="0" marL="0">
              <a:buNone/>
            </a:pPr>
            <a:r>
              <a:rPr lang="en-US" sz="980" dirty="0">
                <a:solidFill>
                  <a:srgbClr val="D8E2EF"/>
                </a:solidFill>
                <a:latin typeface="Aptos" pitchFamily="34" charset="0"/>
                <a:ea typeface="Aptos" pitchFamily="34" charset="-122"/>
                <a:cs typeface="Aptos" pitchFamily="34" charset="-120"/>
              </a:rPr>
              <a:t>Model IP protection for hosted inference</a:t>
            </a:r>
            <a:endParaRPr lang="en-US" sz="980" dirty="0"/>
          </a:p>
        </p:txBody>
      </p:sp>
      <p:sp>
        <p:nvSpPr>
          <p:cNvPr id="41" name="Text 39"/>
          <p:cNvSpPr txBox="1"/>
          <p:nvPr/>
        </p:nvSpPr>
        <p:spPr>
          <a:xfrm>
            <a:off x="10488168" y="4736592"/>
            <a:ext cx="777240" cy="228600"/>
          </a:xfrm>
          <a:prstGeom prst="rect">
            <a:avLst/>
          </a:prstGeom>
          <a:noFill/>
          <a:ln/>
        </p:spPr>
        <p:txBody>
          <a:bodyPr wrap="square" lIns="0" tIns="0" rIns="0" bIns="0" rtlCol="0" anchor="ctr">
            <a:normAutofit/>
          </a:bodyPr>
          <a:lstStyle/>
          <a:p>
            <a:pPr algn="r" indent="0" marL="0">
              <a:buNone/>
            </a:pPr>
            <a:r>
              <a:rPr lang="en-US" sz="1100" b="1" dirty="0">
                <a:solidFill>
                  <a:srgbClr val="FF8A5C"/>
                </a:solidFill>
                <a:latin typeface="Aptos" pitchFamily="34" charset="0"/>
                <a:ea typeface="Aptos" pitchFamily="34" charset="-122"/>
                <a:cs typeface="Aptos" pitchFamily="34" charset="-120"/>
              </a:rPr>
              <a:t>★★★★☆</a:t>
            </a:r>
            <a:endParaRPr lang="en-US" sz="1100" dirty="0"/>
          </a:p>
        </p:txBody>
      </p:sp>
      <p:sp>
        <p:nvSpPr>
          <p:cNvPr id="42" name="Text 40"/>
          <p:cNvSpPr txBox="1"/>
          <p:nvPr/>
        </p:nvSpPr>
        <p:spPr>
          <a:xfrm>
            <a:off x="658368" y="5971032"/>
            <a:ext cx="10607040" cy="256032"/>
          </a:xfrm>
          <a:prstGeom prst="rect">
            <a:avLst/>
          </a:prstGeom>
          <a:noFill/>
          <a:ln/>
        </p:spPr>
        <p:txBody>
          <a:bodyPr wrap="square" lIns="0" tIns="0" rIns="0" bIns="0" rtlCol="0" anchor="ctr">
            <a:normAutofit/>
          </a:bodyPr>
          <a:lstStyle/>
          <a:p>
            <a:pPr algn="ctr" indent="0" marL="0">
              <a:buNone/>
            </a:pPr>
            <a:r>
              <a:rPr lang="en-US" sz="1120" b="1" dirty="0">
                <a:solidFill>
                  <a:srgbClr val="F5F7FA"/>
                </a:solidFill>
                <a:latin typeface="Aptos" pitchFamily="34" charset="0"/>
                <a:ea typeface="Aptos" pitchFamily="34" charset="-122"/>
                <a:cs typeface="Aptos" pitchFamily="34" charset="-120"/>
              </a:rPr>
              <a:t>Cerebras already cites medical research, cryptography, energy and agentic AI among the domains using its systems.</a:t>
            </a:r>
            <a:endParaRPr lang="en-US" sz="1120" dirty="0"/>
          </a:p>
        </p:txBody>
      </p:sp>
      <p:sp>
        <p:nvSpPr>
          <p:cNvPr id="43" name="Text 41"/>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Source: Cerebras company materials (current domains include medical research, cryptography, energy and agentic AI); sovereign AI materials.</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12 • COMPETITIVE POSITION</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Do not copy the GPU TEE. Create the wafer-scale TEE category.</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The differentiator is the security architecture of the computing fabric itself.</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13</a:t>
            </a:r>
            <a:endParaRPr lang="en-US" sz="1000" dirty="0"/>
          </a:p>
        </p:txBody>
      </p:sp>
      <p:sp>
        <p:nvSpPr>
          <p:cNvPr id="6" name="Shape 4"/>
          <p:cNvSpPr/>
          <p:nvPr/>
        </p:nvSpPr>
        <p:spPr>
          <a:xfrm>
            <a:off x="640080" y="1938528"/>
            <a:ext cx="2615184" cy="658368"/>
          </a:xfrm>
          <a:prstGeom prst="roundRect">
            <a:avLst>
              <a:gd name="adj" fmla="val 22222"/>
            </a:avLst>
          </a:prstGeom>
          <a:solidFill>
            <a:srgbClr val="121F31"/>
          </a:solidFill>
          <a:ln w="12700">
            <a:solidFill>
              <a:srgbClr val="3BD6E8"/>
            </a:solidFill>
            <a:prstDash val="solid"/>
          </a:ln>
          <a:effectLst>
            <a:outerShdw sx="100000" sy="100000" kx="0" ky="0" algn="bl" rotWithShape="0" blurRad="6.347858046735484e+217" dist="3.173929023367742e+217" dir="7.85649401695751e+254">
              <a:srgbClr val="000000">
                <a:alpha val="2.200000000000001e+264"/>
              </a:srgbClr>
            </a:outerShdw>
          </a:effectLst>
        </p:spPr>
      </p:sp>
      <p:sp>
        <p:nvSpPr>
          <p:cNvPr id="7" name="Text 5"/>
          <p:cNvSpPr txBox="1"/>
          <p:nvPr/>
        </p:nvSpPr>
        <p:spPr>
          <a:xfrm>
            <a:off x="804672" y="2130552"/>
            <a:ext cx="2267712" cy="201168"/>
          </a:xfrm>
          <a:prstGeom prst="rect">
            <a:avLst/>
          </a:prstGeom>
          <a:noFill/>
          <a:ln/>
        </p:spPr>
        <p:txBody>
          <a:bodyPr wrap="square" lIns="0" tIns="0" rIns="0" bIns="0" rtlCol="0" anchor="ctr">
            <a:normAutofit/>
          </a:bodyPr>
          <a:lstStyle/>
          <a:p>
            <a:pPr algn="ctr" indent="0" marL="0">
              <a:buNone/>
            </a:pPr>
            <a:r>
              <a:rPr lang="en-US" sz="1200" b="1" dirty="0">
                <a:solidFill>
                  <a:srgbClr val="3BD6E8"/>
                </a:solidFill>
                <a:latin typeface="Aptos" pitchFamily="34" charset="0"/>
                <a:ea typeface="Aptos" pitchFamily="34" charset="-122"/>
                <a:cs typeface="Aptos" pitchFamily="34" charset="-120"/>
              </a:rPr>
              <a:t>Baseline</a:t>
            </a:r>
            <a:endParaRPr lang="en-US" sz="1200" dirty="0"/>
          </a:p>
        </p:txBody>
      </p:sp>
      <p:sp>
        <p:nvSpPr>
          <p:cNvPr id="8" name="Text 6"/>
          <p:cNvSpPr txBox="1"/>
          <p:nvPr/>
        </p:nvSpPr>
        <p:spPr>
          <a:xfrm>
            <a:off x="804672" y="2395728"/>
            <a:ext cx="2267712" cy="164592"/>
          </a:xfrm>
          <a:prstGeom prst="rect">
            <a:avLst/>
          </a:prstGeom>
          <a:noFill/>
          <a:ln/>
        </p:spPr>
        <p:txBody>
          <a:bodyPr wrap="square" lIns="0" tIns="0" rIns="0" bIns="0" rtlCol="0" anchor="ctr">
            <a:normAutofit/>
          </a:bodyPr>
          <a:lstStyle/>
          <a:p>
            <a:pPr algn="ctr" indent="0" marL="0">
              <a:buNone/>
            </a:pPr>
            <a:r>
              <a:rPr lang="en-US" sz="870" dirty="0">
                <a:solidFill>
                  <a:srgbClr val="D8E2EF"/>
                </a:solidFill>
                <a:latin typeface="Aptos" pitchFamily="34" charset="0"/>
                <a:ea typeface="Aptos" pitchFamily="34" charset="-122"/>
                <a:cs typeface="Aptos" pitchFamily="34" charset="-120"/>
              </a:rPr>
              <a:t>CPU confidential VM</a:t>
            </a:r>
            <a:endParaRPr lang="en-US" sz="870" dirty="0"/>
          </a:p>
        </p:txBody>
      </p:sp>
      <p:sp>
        <p:nvSpPr>
          <p:cNvPr id="9" name="Shape 7"/>
          <p:cNvSpPr/>
          <p:nvPr/>
        </p:nvSpPr>
        <p:spPr>
          <a:xfrm>
            <a:off x="3657600" y="1938528"/>
            <a:ext cx="2615184" cy="658368"/>
          </a:xfrm>
          <a:prstGeom prst="roundRect">
            <a:avLst>
              <a:gd name="adj" fmla="val 22222"/>
            </a:avLst>
          </a:prstGeom>
          <a:solidFill>
            <a:srgbClr val="121F31"/>
          </a:solidFill>
          <a:ln w="12700">
            <a:solidFill>
              <a:srgbClr val="5FE1A0"/>
            </a:solidFill>
            <a:prstDash val="solid"/>
          </a:ln>
          <a:effectLst>
            <a:outerShdw sx="100000" sy="100000" kx="0" ky="0" algn="bl" rotWithShape="0" blurRad="8.061779719354066e+221" dist="4.030889859677033e+221" dir="4.713896410174506e+259">
              <a:srgbClr val="000000">
                <a:alpha val="2.2000000000000007e+269"/>
              </a:srgbClr>
            </a:outerShdw>
          </a:effectLst>
        </p:spPr>
      </p:sp>
      <p:sp>
        <p:nvSpPr>
          <p:cNvPr id="10" name="Text 8"/>
          <p:cNvSpPr txBox="1"/>
          <p:nvPr/>
        </p:nvSpPr>
        <p:spPr>
          <a:xfrm>
            <a:off x="3822192" y="2130552"/>
            <a:ext cx="2267712" cy="201168"/>
          </a:xfrm>
          <a:prstGeom prst="rect">
            <a:avLst/>
          </a:prstGeom>
          <a:noFill/>
          <a:ln/>
        </p:spPr>
        <p:txBody>
          <a:bodyPr wrap="square" lIns="0" tIns="0" rIns="0" bIns="0" rtlCol="0" anchor="ctr">
            <a:normAutofit/>
          </a:bodyPr>
          <a:lstStyle/>
          <a:p>
            <a:pPr algn="ctr" indent="0" marL="0">
              <a:buNone/>
            </a:pPr>
            <a:r>
              <a:rPr lang="en-US" sz="1200" b="1" dirty="0">
                <a:solidFill>
                  <a:srgbClr val="5FE1A0"/>
                </a:solidFill>
                <a:latin typeface="Aptos" pitchFamily="34" charset="0"/>
                <a:ea typeface="Aptos" pitchFamily="34" charset="-122"/>
                <a:cs typeface="Aptos" pitchFamily="34" charset="-120"/>
              </a:rPr>
              <a:t>Accelerator CC</a:t>
            </a:r>
            <a:endParaRPr lang="en-US" sz="1200" dirty="0"/>
          </a:p>
        </p:txBody>
      </p:sp>
      <p:sp>
        <p:nvSpPr>
          <p:cNvPr id="11" name="Text 9"/>
          <p:cNvSpPr txBox="1"/>
          <p:nvPr/>
        </p:nvSpPr>
        <p:spPr>
          <a:xfrm>
            <a:off x="3822192" y="2395728"/>
            <a:ext cx="2267712" cy="164592"/>
          </a:xfrm>
          <a:prstGeom prst="rect">
            <a:avLst/>
          </a:prstGeom>
          <a:noFill/>
          <a:ln/>
        </p:spPr>
        <p:txBody>
          <a:bodyPr wrap="square" lIns="0" tIns="0" rIns="0" bIns="0" rtlCol="0" anchor="ctr">
            <a:normAutofit/>
          </a:bodyPr>
          <a:lstStyle/>
          <a:p>
            <a:pPr algn="ctr" indent="0" marL="0">
              <a:buNone/>
            </a:pPr>
            <a:r>
              <a:rPr lang="en-US" sz="870" dirty="0">
                <a:solidFill>
                  <a:srgbClr val="D8E2EF"/>
                </a:solidFill>
                <a:latin typeface="Aptos" pitchFamily="34" charset="0"/>
                <a:ea typeface="Aptos" pitchFamily="34" charset="-122"/>
                <a:cs typeface="Aptos" pitchFamily="34" charset="-120"/>
              </a:rPr>
              <a:t>GPU + TEE</a:t>
            </a:r>
            <a:endParaRPr lang="en-US" sz="870" dirty="0"/>
          </a:p>
        </p:txBody>
      </p:sp>
      <p:sp>
        <p:nvSpPr>
          <p:cNvPr id="12" name="Shape 10"/>
          <p:cNvSpPr/>
          <p:nvPr/>
        </p:nvSpPr>
        <p:spPr>
          <a:xfrm>
            <a:off x="6656832" y="1938528"/>
            <a:ext cx="2615184" cy="658368"/>
          </a:xfrm>
          <a:prstGeom prst="roundRect">
            <a:avLst>
              <a:gd name="adj" fmla="val 22222"/>
            </a:avLst>
          </a:prstGeom>
          <a:solidFill>
            <a:srgbClr val="121F31"/>
          </a:solidFill>
          <a:ln w="12700">
            <a:solidFill>
              <a:srgbClr val="FF6B35"/>
            </a:solidFill>
            <a:prstDash val="solid"/>
          </a:ln>
          <a:effectLst>
            <a:outerShdw sx="100000" sy="100000" kx="0" ky="0" algn="bl" rotWithShape="0" blurRad="1.0238460243579663e+226" dist="5.1192301217898315e+225" dir="2.8283378461047036e+264">
              <a:srgbClr val="000000">
                <a:alpha val="2.200000000000001e+274"/>
              </a:srgbClr>
            </a:outerShdw>
          </a:effectLst>
        </p:spPr>
      </p:sp>
      <p:sp>
        <p:nvSpPr>
          <p:cNvPr id="13" name="Text 11"/>
          <p:cNvSpPr txBox="1"/>
          <p:nvPr/>
        </p:nvSpPr>
        <p:spPr>
          <a:xfrm>
            <a:off x="6821424" y="2130552"/>
            <a:ext cx="2267712" cy="201168"/>
          </a:xfrm>
          <a:prstGeom prst="rect">
            <a:avLst/>
          </a:prstGeom>
          <a:noFill/>
          <a:ln/>
        </p:spPr>
        <p:txBody>
          <a:bodyPr wrap="square" lIns="0" tIns="0" rIns="0" bIns="0" rtlCol="0" anchor="ctr">
            <a:normAutofit/>
          </a:bodyPr>
          <a:lstStyle/>
          <a:p>
            <a:pPr algn="ctr" indent="0" marL="0">
              <a:buNone/>
            </a:pPr>
            <a:r>
              <a:rPr lang="en-US" sz="1200" b="1" dirty="0">
                <a:solidFill>
                  <a:srgbClr val="FF6B35"/>
                </a:solidFill>
                <a:latin typeface="Aptos" pitchFamily="34" charset="0"/>
                <a:ea typeface="Aptos" pitchFamily="34" charset="-122"/>
                <a:cs typeface="Aptos" pitchFamily="34" charset="-120"/>
              </a:rPr>
              <a:t>C-CCA</a:t>
            </a:r>
            <a:endParaRPr lang="en-US" sz="1200" dirty="0"/>
          </a:p>
        </p:txBody>
      </p:sp>
      <p:sp>
        <p:nvSpPr>
          <p:cNvPr id="14" name="Text 12"/>
          <p:cNvSpPr txBox="1"/>
          <p:nvPr/>
        </p:nvSpPr>
        <p:spPr>
          <a:xfrm>
            <a:off x="6821424" y="2395728"/>
            <a:ext cx="2267712" cy="164592"/>
          </a:xfrm>
          <a:prstGeom prst="rect">
            <a:avLst/>
          </a:prstGeom>
          <a:noFill/>
          <a:ln/>
        </p:spPr>
        <p:txBody>
          <a:bodyPr wrap="square" lIns="0" tIns="0" rIns="0" bIns="0" rtlCol="0" anchor="ctr">
            <a:normAutofit/>
          </a:bodyPr>
          <a:lstStyle/>
          <a:p>
            <a:pPr algn="ctr" indent="0" marL="0">
              <a:buNone/>
            </a:pPr>
            <a:r>
              <a:rPr lang="en-US" sz="870" dirty="0">
                <a:solidFill>
                  <a:srgbClr val="D8E2EF"/>
                </a:solidFill>
                <a:latin typeface="Aptos" pitchFamily="34" charset="0"/>
                <a:ea typeface="Aptos" pitchFamily="34" charset="-122"/>
                <a:cs typeface="Aptos" pitchFamily="34" charset="-120"/>
              </a:rPr>
              <a:t>CPU + WSE composite</a:t>
            </a:r>
            <a:endParaRPr lang="en-US" sz="870" dirty="0"/>
          </a:p>
        </p:txBody>
      </p:sp>
      <p:sp>
        <p:nvSpPr>
          <p:cNvPr id="15" name="Shape 13"/>
          <p:cNvSpPr/>
          <p:nvPr/>
        </p:nvSpPr>
        <p:spPr>
          <a:xfrm>
            <a:off x="9253728" y="1938528"/>
            <a:ext cx="2304288" cy="658368"/>
          </a:xfrm>
          <a:prstGeom prst="roundRect">
            <a:avLst>
              <a:gd name="adj" fmla="val 22222"/>
            </a:avLst>
          </a:prstGeom>
          <a:solidFill>
            <a:srgbClr val="121F31"/>
          </a:solidFill>
          <a:ln w="12700">
            <a:solidFill>
              <a:srgbClr val="FFD166"/>
            </a:solidFill>
            <a:prstDash val="solid"/>
          </a:ln>
          <a:effectLst>
            <a:outerShdw sx="100000" sy="100000" kx="0" ky="0" algn="bl" rotWithShape="0" blurRad="1.3002844509346172e+230" dist="6.501422254673086e+229" dir="1.6970027076628222e+269">
              <a:srgbClr val="000000">
                <a:alpha val="2.200000000000001e+279"/>
              </a:srgbClr>
            </a:outerShdw>
          </a:effectLst>
        </p:spPr>
      </p:sp>
      <p:sp>
        <p:nvSpPr>
          <p:cNvPr id="16" name="Text 14"/>
          <p:cNvSpPr txBox="1"/>
          <p:nvPr/>
        </p:nvSpPr>
        <p:spPr>
          <a:xfrm>
            <a:off x="9418320" y="2130552"/>
            <a:ext cx="1938528" cy="201168"/>
          </a:xfrm>
          <a:prstGeom prst="rect">
            <a:avLst/>
          </a:prstGeom>
          <a:noFill/>
          <a:ln/>
        </p:spPr>
        <p:txBody>
          <a:bodyPr wrap="square" lIns="0" tIns="0" rIns="0" bIns="0" rtlCol="0" anchor="ctr">
            <a:normAutofit/>
          </a:bodyPr>
          <a:lstStyle/>
          <a:p>
            <a:pPr algn="ctr" indent="0" marL="0">
              <a:buNone/>
            </a:pPr>
            <a:r>
              <a:rPr lang="en-US" sz="1200" b="1" dirty="0">
                <a:solidFill>
                  <a:srgbClr val="FFD166"/>
                </a:solidFill>
                <a:latin typeface="Aptos" pitchFamily="34" charset="0"/>
                <a:ea typeface="Aptos" pitchFamily="34" charset="-122"/>
                <a:cs typeface="Aptos" pitchFamily="34" charset="-120"/>
              </a:rPr>
              <a:t>Outcome</a:t>
            </a:r>
            <a:endParaRPr lang="en-US" sz="1200" dirty="0"/>
          </a:p>
        </p:txBody>
      </p:sp>
      <p:sp>
        <p:nvSpPr>
          <p:cNvPr id="17" name="Text 15"/>
          <p:cNvSpPr txBox="1"/>
          <p:nvPr/>
        </p:nvSpPr>
        <p:spPr>
          <a:xfrm>
            <a:off x="9418320" y="2395728"/>
            <a:ext cx="1938528" cy="164592"/>
          </a:xfrm>
          <a:prstGeom prst="rect">
            <a:avLst/>
          </a:prstGeom>
          <a:noFill/>
          <a:ln/>
        </p:spPr>
        <p:txBody>
          <a:bodyPr wrap="square" lIns="0" tIns="0" rIns="0" bIns="0" rtlCol="0" anchor="ctr">
            <a:normAutofit/>
          </a:bodyPr>
          <a:lstStyle/>
          <a:p>
            <a:pPr algn="ctr" indent="0" marL="0">
              <a:buNone/>
            </a:pPr>
            <a:r>
              <a:rPr lang="en-US" sz="870" dirty="0">
                <a:solidFill>
                  <a:srgbClr val="D8E2EF"/>
                </a:solidFill>
                <a:latin typeface="Aptos" pitchFamily="34" charset="0"/>
                <a:ea typeface="Aptos" pitchFamily="34" charset="-122"/>
                <a:cs typeface="Aptos" pitchFamily="34" charset="-120"/>
              </a:rPr>
              <a:t>New category</a:t>
            </a:r>
            <a:endParaRPr lang="en-US" sz="870" dirty="0"/>
          </a:p>
        </p:txBody>
      </p:sp>
      <p:sp>
        <p:nvSpPr>
          <p:cNvPr id="18" name="Shape 16"/>
          <p:cNvSpPr/>
          <p:nvPr/>
        </p:nvSpPr>
        <p:spPr>
          <a:xfrm>
            <a:off x="640080" y="2862072"/>
            <a:ext cx="10927080" cy="347472"/>
          </a:xfrm>
          <a:prstGeom prst="roundRect">
            <a:avLst>
              <a:gd name="adj" fmla="val 42105"/>
            </a:avLst>
          </a:prstGeom>
          <a:solidFill>
            <a:srgbClr val="121C2E"/>
          </a:solidFill>
          <a:ln w="12700">
            <a:solidFill>
              <a:srgbClr val="22334B"/>
            </a:solidFill>
            <a:prstDash val="solid"/>
          </a:ln>
          <a:effectLst>
            <a:outerShdw sx="100000" sy="100000" kx="0" ky="0" algn="bl" rotWithShape="0" blurRad="1.6513612526869638e+234" dist="8.256806263434819e+233" dir="1.0182016245976934e+274">
              <a:srgbClr val="000000">
                <a:alpha val="2.200000000000001e+284"/>
              </a:srgbClr>
            </a:outerShdw>
          </a:effectLst>
        </p:spPr>
      </p:sp>
      <p:sp>
        <p:nvSpPr>
          <p:cNvPr id="19" name="Text 17"/>
          <p:cNvSpPr txBox="1"/>
          <p:nvPr/>
        </p:nvSpPr>
        <p:spPr>
          <a:xfrm>
            <a:off x="841248" y="2935224"/>
            <a:ext cx="2743200" cy="164592"/>
          </a:xfrm>
          <a:prstGeom prst="rect">
            <a:avLst/>
          </a:prstGeom>
          <a:noFill/>
          <a:ln/>
        </p:spPr>
        <p:txBody>
          <a:bodyPr wrap="square" lIns="0" tIns="0" rIns="0" bIns="0" rtlCol="0" anchor="ctr">
            <a:normAutofit/>
          </a:bodyPr>
          <a:lstStyle/>
          <a:p>
            <a:pPr algn="l" indent="0" marL="0">
              <a:buNone/>
            </a:pPr>
            <a:r>
              <a:rPr lang="en-US" sz="970" b="1" dirty="0">
                <a:solidFill>
                  <a:srgbClr val="F5F7FA"/>
                </a:solidFill>
                <a:latin typeface="Aptos" pitchFamily="34" charset="0"/>
                <a:ea typeface="Aptos" pitchFamily="34" charset="-122"/>
                <a:cs typeface="Aptos" pitchFamily="34" charset="-120"/>
              </a:rPr>
              <a:t>VM memory confidentiality</a:t>
            </a:r>
            <a:endParaRPr lang="en-US" sz="970" dirty="0"/>
          </a:p>
        </p:txBody>
      </p:sp>
      <p:sp>
        <p:nvSpPr>
          <p:cNvPr id="20" name="Text 18"/>
          <p:cNvSpPr txBox="1"/>
          <p:nvPr/>
        </p:nvSpPr>
        <p:spPr>
          <a:xfrm>
            <a:off x="3858768" y="2935224"/>
            <a:ext cx="2240280" cy="164592"/>
          </a:xfrm>
          <a:prstGeom prst="rect">
            <a:avLst/>
          </a:prstGeom>
          <a:noFill/>
          <a:ln/>
        </p:spPr>
        <p:txBody>
          <a:bodyPr wrap="square" lIns="0" tIns="0" rIns="0" bIns="0" rtlCol="0" anchor="ctr">
            <a:normAutofit/>
          </a:bodyPr>
          <a:lstStyle/>
          <a:p>
            <a:pPr algn="ctr" indent="0" marL="0">
              <a:buNone/>
            </a:pPr>
            <a:r>
              <a:rPr lang="en-US" sz="1000" dirty="0">
                <a:solidFill>
                  <a:srgbClr val="5FE1A0"/>
                </a:solidFill>
                <a:latin typeface="Aptos" pitchFamily="34" charset="0"/>
                <a:ea typeface="Aptos" pitchFamily="34" charset="-122"/>
                <a:cs typeface="Aptos" pitchFamily="34" charset="-120"/>
              </a:rPr>
              <a:t>✓</a:t>
            </a:r>
            <a:endParaRPr lang="en-US" sz="1000" dirty="0"/>
          </a:p>
        </p:txBody>
      </p:sp>
      <p:sp>
        <p:nvSpPr>
          <p:cNvPr id="21" name="Text 19"/>
          <p:cNvSpPr txBox="1"/>
          <p:nvPr/>
        </p:nvSpPr>
        <p:spPr>
          <a:xfrm>
            <a:off x="6858000" y="2935224"/>
            <a:ext cx="2103120" cy="164592"/>
          </a:xfrm>
          <a:prstGeom prst="rect">
            <a:avLst/>
          </a:prstGeom>
          <a:noFill/>
          <a:ln/>
        </p:spPr>
        <p:txBody>
          <a:bodyPr wrap="square" lIns="0" tIns="0" rIns="0" bIns="0" rtlCol="0" anchor="ctr">
            <a:normAutofit/>
          </a:bodyPr>
          <a:lstStyle/>
          <a:p>
            <a:pPr algn="ctr" indent="0" marL="0">
              <a:buNone/>
            </a:pPr>
            <a:r>
              <a:rPr lang="en-US" sz="1000" dirty="0">
                <a:solidFill>
                  <a:srgbClr val="5FE1A0"/>
                </a:solidFill>
                <a:latin typeface="Aptos" pitchFamily="34" charset="0"/>
                <a:ea typeface="Aptos" pitchFamily="34" charset="-122"/>
                <a:cs typeface="Aptos" pitchFamily="34" charset="-120"/>
              </a:rPr>
              <a:t>✓</a:t>
            </a:r>
            <a:endParaRPr lang="en-US" sz="1000" dirty="0"/>
          </a:p>
        </p:txBody>
      </p:sp>
      <p:sp>
        <p:nvSpPr>
          <p:cNvPr id="22" name="Text 20"/>
          <p:cNvSpPr txBox="1"/>
          <p:nvPr/>
        </p:nvSpPr>
        <p:spPr>
          <a:xfrm>
            <a:off x="9445752" y="2935224"/>
            <a:ext cx="1600200" cy="164592"/>
          </a:xfrm>
          <a:prstGeom prst="rect">
            <a:avLst/>
          </a:prstGeom>
          <a:noFill/>
          <a:ln/>
        </p:spPr>
        <p:txBody>
          <a:bodyPr wrap="square" lIns="0" tIns="0" rIns="0" bIns="0" rtlCol="0" anchor="ctr">
            <a:normAutofit/>
          </a:bodyPr>
          <a:lstStyle/>
          <a:p>
            <a:pPr algn="ctr" indent="0" marL="0">
              <a:buNone/>
            </a:pPr>
            <a:r>
              <a:rPr lang="en-US" sz="1000" b="1" dirty="0">
                <a:solidFill>
                  <a:srgbClr val="FF6B35"/>
                </a:solidFill>
                <a:latin typeface="Aptos" pitchFamily="34" charset="0"/>
                <a:ea typeface="Aptos" pitchFamily="34" charset="-122"/>
                <a:cs typeface="Aptos" pitchFamily="34" charset="-120"/>
              </a:rPr>
              <a:t>✓</a:t>
            </a:r>
            <a:endParaRPr lang="en-US" sz="1000" dirty="0"/>
          </a:p>
        </p:txBody>
      </p:sp>
      <p:sp>
        <p:nvSpPr>
          <p:cNvPr id="23" name="Shape 21"/>
          <p:cNvSpPr/>
          <p:nvPr/>
        </p:nvSpPr>
        <p:spPr>
          <a:xfrm>
            <a:off x="640080" y="3291840"/>
            <a:ext cx="10927080" cy="347472"/>
          </a:xfrm>
          <a:prstGeom prst="roundRect">
            <a:avLst>
              <a:gd name="adj" fmla="val 42105"/>
            </a:avLst>
          </a:prstGeom>
          <a:solidFill>
            <a:srgbClr val="162337"/>
          </a:solidFill>
          <a:ln w="12700">
            <a:solidFill>
              <a:srgbClr val="22334B"/>
            </a:solidFill>
            <a:prstDash val="solid"/>
          </a:ln>
          <a:effectLst>
            <a:outerShdw sx="100000" sy="100000" kx="0" ky="0" algn="bl" rotWithShape="0" blurRad="2.097228790912444e+238" dist="1.048614395456222e+238" dir="6.10920974758616e+278">
              <a:srgbClr val="000000">
                <a:alpha val="2.200000000000001e+289"/>
              </a:srgbClr>
            </a:outerShdw>
          </a:effectLst>
        </p:spPr>
      </p:sp>
      <p:sp>
        <p:nvSpPr>
          <p:cNvPr id="24" name="Text 22"/>
          <p:cNvSpPr txBox="1"/>
          <p:nvPr/>
        </p:nvSpPr>
        <p:spPr>
          <a:xfrm>
            <a:off x="841248" y="3364992"/>
            <a:ext cx="2743200" cy="164592"/>
          </a:xfrm>
          <a:prstGeom prst="rect">
            <a:avLst/>
          </a:prstGeom>
          <a:noFill/>
          <a:ln/>
        </p:spPr>
        <p:txBody>
          <a:bodyPr wrap="square" lIns="0" tIns="0" rIns="0" bIns="0" rtlCol="0" anchor="ctr">
            <a:normAutofit/>
          </a:bodyPr>
          <a:lstStyle/>
          <a:p>
            <a:pPr algn="l" indent="0" marL="0">
              <a:buNone/>
            </a:pPr>
            <a:r>
              <a:rPr lang="en-US" sz="970" b="1" dirty="0">
                <a:solidFill>
                  <a:srgbClr val="F5F7FA"/>
                </a:solidFill>
                <a:latin typeface="Aptos" pitchFamily="34" charset="0"/>
                <a:ea typeface="Aptos" pitchFamily="34" charset="-122"/>
                <a:cs typeface="Aptos" pitchFamily="34" charset="-120"/>
              </a:rPr>
              <a:t>Accelerator attestation</a:t>
            </a:r>
            <a:endParaRPr lang="en-US" sz="970" dirty="0"/>
          </a:p>
        </p:txBody>
      </p:sp>
      <p:sp>
        <p:nvSpPr>
          <p:cNvPr id="25" name="Text 23"/>
          <p:cNvSpPr txBox="1"/>
          <p:nvPr/>
        </p:nvSpPr>
        <p:spPr>
          <a:xfrm>
            <a:off x="3858768" y="3364992"/>
            <a:ext cx="2240280" cy="164592"/>
          </a:xfrm>
          <a:prstGeom prst="rect">
            <a:avLst/>
          </a:prstGeom>
          <a:noFill/>
          <a:ln/>
        </p:spPr>
        <p:txBody>
          <a:bodyPr wrap="square" lIns="0" tIns="0" rIns="0" bIns="0" rtlCol="0" anchor="ctr">
            <a:normAutofit/>
          </a:bodyPr>
          <a:lstStyle/>
          <a:p>
            <a:pPr algn="ctr" indent="0" marL="0">
              <a:buNone/>
            </a:pPr>
            <a:r>
              <a:rPr lang="en-US" sz="1000" dirty="0">
                <a:solidFill>
                  <a:srgbClr val="A9B6C8"/>
                </a:solidFill>
                <a:latin typeface="Aptos" pitchFamily="34" charset="0"/>
                <a:ea typeface="Aptos" pitchFamily="34" charset="-122"/>
                <a:cs typeface="Aptos" pitchFamily="34" charset="-120"/>
              </a:rPr>
              <a:t>—</a:t>
            </a:r>
            <a:endParaRPr lang="en-US" sz="1000" dirty="0"/>
          </a:p>
        </p:txBody>
      </p:sp>
      <p:sp>
        <p:nvSpPr>
          <p:cNvPr id="26" name="Text 24"/>
          <p:cNvSpPr txBox="1"/>
          <p:nvPr/>
        </p:nvSpPr>
        <p:spPr>
          <a:xfrm>
            <a:off x="6858000" y="3364992"/>
            <a:ext cx="2103120" cy="164592"/>
          </a:xfrm>
          <a:prstGeom prst="rect">
            <a:avLst/>
          </a:prstGeom>
          <a:noFill/>
          <a:ln/>
        </p:spPr>
        <p:txBody>
          <a:bodyPr wrap="square" lIns="0" tIns="0" rIns="0" bIns="0" rtlCol="0" anchor="ctr">
            <a:normAutofit/>
          </a:bodyPr>
          <a:lstStyle/>
          <a:p>
            <a:pPr algn="ctr" indent="0" marL="0">
              <a:buNone/>
            </a:pPr>
            <a:r>
              <a:rPr lang="en-US" sz="1000" dirty="0">
                <a:solidFill>
                  <a:srgbClr val="5FE1A0"/>
                </a:solidFill>
                <a:latin typeface="Aptos" pitchFamily="34" charset="0"/>
                <a:ea typeface="Aptos" pitchFamily="34" charset="-122"/>
                <a:cs typeface="Aptos" pitchFamily="34" charset="-120"/>
              </a:rPr>
              <a:t>✓</a:t>
            </a:r>
            <a:endParaRPr lang="en-US" sz="1000" dirty="0"/>
          </a:p>
        </p:txBody>
      </p:sp>
      <p:sp>
        <p:nvSpPr>
          <p:cNvPr id="27" name="Text 25"/>
          <p:cNvSpPr txBox="1"/>
          <p:nvPr/>
        </p:nvSpPr>
        <p:spPr>
          <a:xfrm>
            <a:off x="9445752" y="3364992"/>
            <a:ext cx="1600200" cy="164592"/>
          </a:xfrm>
          <a:prstGeom prst="rect">
            <a:avLst/>
          </a:prstGeom>
          <a:noFill/>
          <a:ln/>
        </p:spPr>
        <p:txBody>
          <a:bodyPr wrap="square" lIns="0" tIns="0" rIns="0" bIns="0" rtlCol="0" anchor="ctr">
            <a:normAutofit/>
          </a:bodyPr>
          <a:lstStyle/>
          <a:p>
            <a:pPr algn="ctr" indent="0" marL="0">
              <a:buNone/>
            </a:pPr>
            <a:r>
              <a:rPr lang="en-US" sz="1000" b="1" dirty="0">
                <a:solidFill>
                  <a:srgbClr val="FF6B35"/>
                </a:solidFill>
                <a:latin typeface="Aptos" pitchFamily="34" charset="0"/>
                <a:ea typeface="Aptos" pitchFamily="34" charset="-122"/>
                <a:cs typeface="Aptos" pitchFamily="34" charset="-120"/>
              </a:rPr>
              <a:t>✓</a:t>
            </a:r>
            <a:endParaRPr lang="en-US" sz="1000" dirty="0"/>
          </a:p>
        </p:txBody>
      </p:sp>
      <p:sp>
        <p:nvSpPr>
          <p:cNvPr id="28" name="Shape 26"/>
          <p:cNvSpPr/>
          <p:nvPr/>
        </p:nvSpPr>
        <p:spPr>
          <a:xfrm>
            <a:off x="640080" y="3721608"/>
            <a:ext cx="10927080" cy="347472"/>
          </a:xfrm>
          <a:prstGeom prst="roundRect">
            <a:avLst>
              <a:gd name="adj" fmla="val 42105"/>
            </a:avLst>
          </a:prstGeom>
          <a:solidFill>
            <a:srgbClr val="121C2E"/>
          </a:solidFill>
          <a:ln w="12700">
            <a:solidFill>
              <a:srgbClr val="22334B"/>
            </a:solidFill>
            <a:prstDash val="solid"/>
          </a:ln>
          <a:effectLst>
            <a:outerShdw sx="100000" sy="100000" kx="0" ky="0" algn="bl" rotWithShape="0" blurRad="2.663480564458804e+242" dist="1.331740282229402e+242" dir="3.6655258485516963e+283">
              <a:srgbClr val="000000">
                <a:alpha val="2.200000000000001e+294"/>
              </a:srgbClr>
            </a:outerShdw>
          </a:effectLst>
        </p:spPr>
      </p:sp>
      <p:sp>
        <p:nvSpPr>
          <p:cNvPr id="29" name="Text 27"/>
          <p:cNvSpPr txBox="1"/>
          <p:nvPr/>
        </p:nvSpPr>
        <p:spPr>
          <a:xfrm>
            <a:off x="841248" y="3794760"/>
            <a:ext cx="2743200" cy="164592"/>
          </a:xfrm>
          <a:prstGeom prst="rect">
            <a:avLst/>
          </a:prstGeom>
          <a:noFill/>
          <a:ln/>
        </p:spPr>
        <p:txBody>
          <a:bodyPr wrap="square" lIns="0" tIns="0" rIns="0" bIns="0" rtlCol="0" anchor="ctr">
            <a:normAutofit/>
          </a:bodyPr>
          <a:lstStyle/>
          <a:p>
            <a:pPr algn="l" indent="0" marL="0">
              <a:buNone/>
            </a:pPr>
            <a:r>
              <a:rPr lang="en-US" sz="970" b="1" dirty="0">
                <a:solidFill>
                  <a:srgbClr val="F5F7FA"/>
                </a:solidFill>
                <a:latin typeface="Aptos" pitchFamily="34" charset="0"/>
                <a:ea typeface="Aptos" pitchFamily="34" charset="-122"/>
                <a:cs typeface="Aptos" pitchFamily="34" charset="-120"/>
              </a:rPr>
              <a:t>Accelerator protected memory</a:t>
            </a:r>
            <a:endParaRPr lang="en-US" sz="970" dirty="0"/>
          </a:p>
        </p:txBody>
      </p:sp>
      <p:sp>
        <p:nvSpPr>
          <p:cNvPr id="30" name="Text 28"/>
          <p:cNvSpPr txBox="1"/>
          <p:nvPr/>
        </p:nvSpPr>
        <p:spPr>
          <a:xfrm>
            <a:off x="3858768" y="3794760"/>
            <a:ext cx="2240280" cy="164592"/>
          </a:xfrm>
          <a:prstGeom prst="rect">
            <a:avLst/>
          </a:prstGeom>
          <a:noFill/>
          <a:ln/>
        </p:spPr>
        <p:txBody>
          <a:bodyPr wrap="square" lIns="0" tIns="0" rIns="0" bIns="0" rtlCol="0" anchor="ctr">
            <a:normAutofit/>
          </a:bodyPr>
          <a:lstStyle/>
          <a:p>
            <a:pPr algn="ctr" indent="0" marL="0">
              <a:buNone/>
            </a:pPr>
            <a:r>
              <a:rPr lang="en-US" sz="1000" dirty="0">
                <a:solidFill>
                  <a:srgbClr val="A9B6C8"/>
                </a:solidFill>
                <a:latin typeface="Aptos" pitchFamily="34" charset="0"/>
                <a:ea typeface="Aptos" pitchFamily="34" charset="-122"/>
                <a:cs typeface="Aptos" pitchFamily="34" charset="-120"/>
              </a:rPr>
              <a:t>—</a:t>
            </a:r>
            <a:endParaRPr lang="en-US" sz="1000" dirty="0"/>
          </a:p>
        </p:txBody>
      </p:sp>
      <p:sp>
        <p:nvSpPr>
          <p:cNvPr id="31" name="Text 29"/>
          <p:cNvSpPr txBox="1"/>
          <p:nvPr/>
        </p:nvSpPr>
        <p:spPr>
          <a:xfrm>
            <a:off x="6858000" y="3794760"/>
            <a:ext cx="2103120" cy="164592"/>
          </a:xfrm>
          <a:prstGeom prst="rect">
            <a:avLst/>
          </a:prstGeom>
          <a:noFill/>
          <a:ln/>
        </p:spPr>
        <p:txBody>
          <a:bodyPr wrap="square" lIns="0" tIns="0" rIns="0" bIns="0" rtlCol="0" anchor="ctr">
            <a:normAutofit/>
          </a:bodyPr>
          <a:lstStyle/>
          <a:p>
            <a:pPr algn="ctr" indent="0" marL="0">
              <a:buNone/>
            </a:pPr>
            <a:r>
              <a:rPr lang="en-US" sz="1000" dirty="0">
                <a:solidFill>
                  <a:srgbClr val="5FE1A0"/>
                </a:solidFill>
                <a:latin typeface="Aptos" pitchFamily="34" charset="0"/>
                <a:ea typeface="Aptos" pitchFamily="34" charset="-122"/>
                <a:cs typeface="Aptos" pitchFamily="34" charset="-120"/>
              </a:rPr>
              <a:t>✓</a:t>
            </a:r>
            <a:endParaRPr lang="en-US" sz="1000" dirty="0"/>
          </a:p>
        </p:txBody>
      </p:sp>
      <p:sp>
        <p:nvSpPr>
          <p:cNvPr id="32" name="Text 30"/>
          <p:cNvSpPr txBox="1"/>
          <p:nvPr/>
        </p:nvSpPr>
        <p:spPr>
          <a:xfrm>
            <a:off x="9445752" y="3794760"/>
            <a:ext cx="1600200" cy="164592"/>
          </a:xfrm>
          <a:prstGeom prst="rect">
            <a:avLst/>
          </a:prstGeom>
          <a:noFill/>
          <a:ln/>
        </p:spPr>
        <p:txBody>
          <a:bodyPr wrap="square" lIns="0" tIns="0" rIns="0" bIns="0" rtlCol="0" anchor="ctr">
            <a:normAutofit/>
          </a:bodyPr>
          <a:lstStyle/>
          <a:p>
            <a:pPr algn="ctr" indent="0" marL="0">
              <a:buNone/>
            </a:pPr>
            <a:r>
              <a:rPr lang="en-US" sz="1000" b="1" dirty="0">
                <a:solidFill>
                  <a:srgbClr val="FF6B35"/>
                </a:solidFill>
                <a:latin typeface="Aptos" pitchFamily="34" charset="0"/>
                <a:ea typeface="Aptos" pitchFamily="34" charset="-122"/>
                <a:cs typeface="Aptos" pitchFamily="34" charset="-120"/>
              </a:rPr>
              <a:t>✓*</a:t>
            </a:r>
            <a:endParaRPr lang="en-US" sz="1000" dirty="0"/>
          </a:p>
        </p:txBody>
      </p:sp>
      <p:sp>
        <p:nvSpPr>
          <p:cNvPr id="33" name="Shape 31"/>
          <p:cNvSpPr/>
          <p:nvPr/>
        </p:nvSpPr>
        <p:spPr>
          <a:xfrm>
            <a:off x="640080" y="4151376"/>
            <a:ext cx="10927080" cy="347472"/>
          </a:xfrm>
          <a:prstGeom prst="roundRect">
            <a:avLst>
              <a:gd name="adj" fmla="val 42105"/>
            </a:avLst>
          </a:prstGeom>
          <a:solidFill>
            <a:srgbClr val="162337"/>
          </a:solidFill>
          <a:ln w="12700">
            <a:solidFill>
              <a:srgbClr val="22334B"/>
            </a:solidFill>
            <a:prstDash val="solid"/>
          </a:ln>
          <a:effectLst>
            <a:outerShdw sx="100000" sy="100000" kx="0" ky="0" algn="bl" rotWithShape="0" blurRad="3.3826203168626813e+246" dist="1.6913101584313407e+246" dir="2.1993155091310177e+288">
              <a:srgbClr val="000000">
                <a:alpha val="2.200000000000001e+299"/>
              </a:srgbClr>
            </a:outerShdw>
          </a:effectLst>
        </p:spPr>
      </p:sp>
      <p:sp>
        <p:nvSpPr>
          <p:cNvPr id="34" name="Text 32"/>
          <p:cNvSpPr txBox="1"/>
          <p:nvPr/>
        </p:nvSpPr>
        <p:spPr>
          <a:xfrm>
            <a:off x="841248" y="4224528"/>
            <a:ext cx="2743200" cy="164592"/>
          </a:xfrm>
          <a:prstGeom prst="rect">
            <a:avLst/>
          </a:prstGeom>
          <a:noFill/>
          <a:ln/>
        </p:spPr>
        <p:txBody>
          <a:bodyPr wrap="square" lIns="0" tIns="0" rIns="0" bIns="0" rtlCol="0" anchor="ctr">
            <a:normAutofit/>
          </a:bodyPr>
          <a:lstStyle/>
          <a:p>
            <a:pPr algn="l" indent="0" marL="0">
              <a:buNone/>
            </a:pPr>
            <a:r>
              <a:rPr lang="en-US" sz="970" b="1" dirty="0">
                <a:solidFill>
                  <a:srgbClr val="F5F7FA"/>
                </a:solidFill>
                <a:latin typeface="Aptos" pitchFamily="34" charset="0"/>
                <a:ea typeface="Aptos" pitchFamily="34" charset="-122"/>
                <a:cs typeface="Aptos" pitchFamily="34" charset="-120"/>
              </a:rPr>
              <a:t>Spatial execution-domain isolation</a:t>
            </a:r>
            <a:endParaRPr lang="en-US" sz="970" dirty="0"/>
          </a:p>
        </p:txBody>
      </p:sp>
      <p:sp>
        <p:nvSpPr>
          <p:cNvPr id="35" name="Text 33"/>
          <p:cNvSpPr txBox="1"/>
          <p:nvPr/>
        </p:nvSpPr>
        <p:spPr>
          <a:xfrm>
            <a:off x="3858768" y="4224528"/>
            <a:ext cx="2240280" cy="164592"/>
          </a:xfrm>
          <a:prstGeom prst="rect">
            <a:avLst/>
          </a:prstGeom>
          <a:noFill/>
          <a:ln/>
        </p:spPr>
        <p:txBody>
          <a:bodyPr wrap="square" lIns="0" tIns="0" rIns="0" bIns="0" rtlCol="0" anchor="ctr">
            <a:normAutofit/>
          </a:bodyPr>
          <a:lstStyle/>
          <a:p>
            <a:pPr algn="ctr" indent="0" marL="0">
              <a:buNone/>
            </a:pPr>
            <a:r>
              <a:rPr lang="en-US" sz="1000" dirty="0">
                <a:solidFill>
                  <a:srgbClr val="A9B6C8"/>
                </a:solidFill>
                <a:latin typeface="Aptos" pitchFamily="34" charset="0"/>
                <a:ea typeface="Aptos" pitchFamily="34" charset="-122"/>
                <a:cs typeface="Aptos" pitchFamily="34" charset="-120"/>
              </a:rPr>
              <a:t>—</a:t>
            </a:r>
            <a:endParaRPr lang="en-US" sz="1000" dirty="0"/>
          </a:p>
        </p:txBody>
      </p:sp>
      <p:sp>
        <p:nvSpPr>
          <p:cNvPr id="36" name="Text 34"/>
          <p:cNvSpPr txBox="1"/>
          <p:nvPr/>
        </p:nvSpPr>
        <p:spPr>
          <a:xfrm>
            <a:off x="6858000" y="4224528"/>
            <a:ext cx="2103120" cy="164592"/>
          </a:xfrm>
          <a:prstGeom prst="rect">
            <a:avLst/>
          </a:prstGeom>
          <a:noFill/>
          <a:ln/>
        </p:spPr>
        <p:txBody>
          <a:bodyPr wrap="square" lIns="0" tIns="0" rIns="0" bIns="0" rtlCol="0" anchor="ctr">
            <a:normAutofit/>
          </a:bodyPr>
          <a:lstStyle/>
          <a:p>
            <a:pPr algn="ctr" indent="0" marL="0">
              <a:buNone/>
            </a:pPr>
            <a:r>
              <a:rPr lang="en-US" sz="1000" dirty="0">
                <a:solidFill>
                  <a:srgbClr val="A9B6C8"/>
                </a:solidFill>
                <a:latin typeface="Aptos" pitchFamily="34" charset="0"/>
                <a:ea typeface="Aptos" pitchFamily="34" charset="-122"/>
                <a:cs typeface="Aptos" pitchFamily="34" charset="-120"/>
              </a:rPr>
              <a:t>Limited</a:t>
            </a:r>
            <a:endParaRPr lang="en-US" sz="1000" dirty="0"/>
          </a:p>
        </p:txBody>
      </p:sp>
      <p:sp>
        <p:nvSpPr>
          <p:cNvPr id="37" name="Text 35"/>
          <p:cNvSpPr txBox="1"/>
          <p:nvPr/>
        </p:nvSpPr>
        <p:spPr>
          <a:xfrm>
            <a:off x="9445752" y="4224528"/>
            <a:ext cx="1600200" cy="164592"/>
          </a:xfrm>
          <a:prstGeom prst="rect">
            <a:avLst/>
          </a:prstGeom>
          <a:noFill/>
          <a:ln/>
        </p:spPr>
        <p:txBody>
          <a:bodyPr wrap="square" lIns="0" tIns="0" rIns="0" bIns="0" rtlCol="0" anchor="ctr">
            <a:normAutofit/>
          </a:bodyPr>
          <a:lstStyle/>
          <a:p>
            <a:pPr algn="ctr" indent="0" marL="0">
              <a:buNone/>
            </a:pPr>
            <a:r>
              <a:rPr lang="en-US" sz="1000" b="1" dirty="0">
                <a:solidFill>
                  <a:srgbClr val="FF6B35"/>
                </a:solidFill>
                <a:latin typeface="Aptos" pitchFamily="34" charset="0"/>
                <a:ea typeface="Aptos" pitchFamily="34" charset="-122"/>
                <a:cs typeface="Aptos" pitchFamily="34" charset="-120"/>
              </a:rPr>
              <a:t>✓</a:t>
            </a:r>
            <a:endParaRPr lang="en-US" sz="1000" dirty="0"/>
          </a:p>
        </p:txBody>
      </p:sp>
      <p:sp>
        <p:nvSpPr>
          <p:cNvPr id="38" name="Shape 36"/>
          <p:cNvSpPr/>
          <p:nvPr/>
        </p:nvSpPr>
        <p:spPr>
          <a:xfrm>
            <a:off x="640080" y="4581144"/>
            <a:ext cx="10927080" cy="347472"/>
          </a:xfrm>
          <a:prstGeom prst="roundRect">
            <a:avLst>
              <a:gd name="adj" fmla="val 42105"/>
            </a:avLst>
          </a:prstGeom>
          <a:solidFill>
            <a:srgbClr val="121C2E"/>
          </a:solidFill>
          <a:ln w="12700">
            <a:solidFill>
              <a:srgbClr val="22334B"/>
            </a:solidFill>
            <a:prstDash val="solid"/>
          </a:ln>
          <a:effectLst>
            <a:outerShdw sx="100000" sy="100000" kx="0" ky="0" algn="bl" rotWithShape="0" blurRad="4.295927802415605e+250" dist="2.1479639012078026e+250" dir="1.3195893054786106e+293">
              <a:srgbClr val="000000">
                <a:alpha val="2.200000000000001e+304"/>
              </a:srgbClr>
            </a:outerShdw>
          </a:effectLst>
        </p:spPr>
      </p:sp>
      <p:sp>
        <p:nvSpPr>
          <p:cNvPr id="39" name="Text 37"/>
          <p:cNvSpPr txBox="1"/>
          <p:nvPr/>
        </p:nvSpPr>
        <p:spPr>
          <a:xfrm>
            <a:off x="841248" y="4654296"/>
            <a:ext cx="2743200" cy="164592"/>
          </a:xfrm>
          <a:prstGeom prst="rect">
            <a:avLst/>
          </a:prstGeom>
          <a:noFill/>
          <a:ln/>
        </p:spPr>
        <p:txBody>
          <a:bodyPr wrap="square" lIns="0" tIns="0" rIns="0" bIns="0" rtlCol="0" anchor="ctr">
            <a:normAutofit/>
          </a:bodyPr>
          <a:lstStyle/>
          <a:p>
            <a:pPr algn="l" indent="0" marL="0">
              <a:buNone/>
            </a:pPr>
            <a:r>
              <a:rPr lang="en-US" sz="970" b="1" dirty="0">
                <a:solidFill>
                  <a:srgbClr val="F5F7FA"/>
                </a:solidFill>
                <a:latin typeface="Aptos" pitchFamily="34" charset="0"/>
                <a:ea typeface="Aptos" pitchFamily="34" charset="-122"/>
                <a:cs typeface="Aptos" pitchFamily="34" charset="-120"/>
              </a:rPr>
              <a:t>Model / workload measurement</a:t>
            </a:r>
            <a:endParaRPr lang="en-US" sz="970" dirty="0"/>
          </a:p>
        </p:txBody>
      </p:sp>
      <p:sp>
        <p:nvSpPr>
          <p:cNvPr id="40" name="Text 38"/>
          <p:cNvSpPr txBox="1"/>
          <p:nvPr/>
        </p:nvSpPr>
        <p:spPr>
          <a:xfrm>
            <a:off x="3858768" y="4654296"/>
            <a:ext cx="2240280" cy="164592"/>
          </a:xfrm>
          <a:prstGeom prst="rect">
            <a:avLst/>
          </a:prstGeom>
          <a:noFill/>
          <a:ln/>
        </p:spPr>
        <p:txBody>
          <a:bodyPr wrap="square" lIns="0" tIns="0" rIns="0" bIns="0" rtlCol="0" anchor="ctr">
            <a:normAutofit/>
          </a:bodyPr>
          <a:lstStyle/>
          <a:p>
            <a:pPr algn="ctr" indent="0" marL="0">
              <a:buNone/>
            </a:pPr>
            <a:r>
              <a:rPr lang="en-US" sz="1000" dirty="0">
                <a:solidFill>
                  <a:srgbClr val="5FE1A0"/>
                </a:solidFill>
                <a:latin typeface="Aptos" pitchFamily="34" charset="0"/>
                <a:ea typeface="Aptos" pitchFamily="34" charset="-122"/>
                <a:cs typeface="Aptos" pitchFamily="34" charset="-120"/>
              </a:rPr>
              <a:t>✓</a:t>
            </a:r>
            <a:endParaRPr lang="en-US" sz="1000" dirty="0"/>
          </a:p>
        </p:txBody>
      </p:sp>
      <p:sp>
        <p:nvSpPr>
          <p:cNvPr id="41" name="Text 39"/>
          <p:cNvSpPr txBox="1"/>
          <p:nvPr/>
        </p:nvSpPr>
        <p:spPr>
          <a:xfrm>
            <a:off x="6858000" y="4654296"/>
            <a:ext cx="2103120" cy="164592"/>
          </a:xfrm>
          <a:prstGeom prst="rect">
            <a:avLst/>
          </a:prstGeom>
          <a:noFill/>
          <a:ln/>
        </p:spPr>
        <p:txBody>
          <a:bodyPr wrap="square" lIns="0" tIns="0" rIns="0" bIns="0" rtlCol="0" anchor="ctr">
            <a:normAutofit/>
          </a:bodyPr>
          <a:lstStyle/>
          <a:p>
            <a:pPr algn="ctr" indent="0" marL="0">
              <a:buNone/>
            </a:pPr>
            <a:r>
              <a:rPr lang="en-US" sz="1000" dirty="0">
                <a:solidFill>
                  <a:srgbClr val="5FE1A0"/>
                </a:solidFill>
                <a:latin typeface="Aptos" pitchFamily="34" charset="0"/>
                <a:ea typeface="Aptos" pitchFamily="34" charset="-122"/>
                <a:cs typeface="Aptos" pitchFamily="34" charset="-120"/>
              </a:rPr>
              <a:t>✓</a:t>
            </a:r>
            <a:endParaRPr lang="en-US" sz="1000" dirty="0"/>
          </a:p>
        </p:txBody>
      </p:sp>
      <p:sp>
        <p:nvSpPr>
          <p:cNvPr id="42" name="Text 40"/>
          <p:cNvSpPr txBox="1"/>
          <p:nvPr/>
        </p:nvSpPr>
        <p:spPr>
          <a:xfrm>
            <a:off x="9445752" y="4654296"/>
            <a:ext cx="1600200" cy="164592"/>
          </a:xfrm>
          <a:prstGeom prst="rect">
            <a:avLst/>
          </a:prstGeom>
          <a:noFill/>
          <a:ln/>
        </p:spPr>
        <p:txBody>
          <a:bodyPr wrap="square" lIns="0" tIns="0" rIns="0" bIns="0" rtlCol="0" anchor="ctr">
            <a:normAutofit/>
          </a:bodyPr>
          <a:lstStyle/>
          <a:p>
            <a:pPr algn="ctr" indent="0" marL="0">
              <a:buNone/>
            </a:pPr>
            <a:r>
              <a:rPr lang="en-US" sz="1000" b="1" dirty="0">
                <a:solidFill>
                  <a:srgbClr val="FF6B35"/>
                </a:solidFill>
                <a:latin typeface="Aptos" pitchFamily="34" charset="0"/>
                <a:ea typeface="Aptos" pitchFamily="34" charset="-122"/>
                <a:cs typeface="Aptos" pitchFamily="34" charset="-120"/>
              </a:rPr>
              <a:t>✓</a:t>
            </a:r>
            <a:endParaRPr lang="en-US" sz="1000" dirty="0"/>
          </a:p>
        </p:txBody>
      </p:sp>
      <p:sp>
        <p:nvSpPr>
          <p:cNvPr id="43" name="Shape 41"/>
          <p:cNvSpPr/>
          <p:nvPr/>
        </p:nvSpPr>
        <p:spPr>
          <a:xfrm>
            <a:off x="640080" y="5010912"/>
            <a:ext cx="10927080" cy="347472"/>
          </a:xfrm>
          <a:prstGeom prst="roundRect">
            <a:avLst>
              <a:gd name="adj" fmla="val 42105"/>
            </a:avLst>
          </a:prstGeom>
          <a:solidFill>
            <a:srgbClr val="162337"/>
          </a:solidFill>
          <a:ln w="12700">
            <a:solidFill>
              <a:srgbClr val="22334B"/>
            </a:solidFill>
            <a:prstDash val="solid"/>
          </a:ln>
          <a:effectLst>
            <a:outerShdw sx="100000" sy="100000" kx="0" ky="0" algn="bl" rotWithShape="0" blurRad="5.455828309067819e+254" dist="2.7279141545339093e+254" dir="7.917535832871664e+297">
              <a:srgbClr val="000000">
                <a:alpha val="Infinity"/>
              </a:srgbClr>
            </a:outerShdw>
          </a:effectLst>
        </p:spPr>
      </p:sp>
      <p:sp>
        <p:nvSpPr>
          <p:cNvPr id="44" name="Text 42"/>
          <p:cNvSpPr txBox="1"/>
          <p:nvPr/>
        </p:nvSpPr>
        <p:spPr>
          <a:xfrm>
            <a:off x="841248" y="5084064"/>
            <a:ext cx="2743200" cy="164592"/>
          </a:xfrm>
          <a:prstGeom prst="rect">
            <a:avLst/>
          </a:prstGeom>
          <a:noFill/>
          <a:ln/>
        </p:spPr>
        <p:txBody>
          <a:bodyPr wrap="square" lIns="0" tIns="0" rIns="0" bIns="0" rtlCol="0" anchor="ctr">
            <a:normAutofit/>
          </a:bodyPr>
          <a:lstStyle/>
          <a:p>
            <a:pPr algn="l" indent="0" marL="0">
              <a:buNone/>
            </a:pPr>
            <a:r>
              <a:rPr lang="en-US" sz="970" b="1" dirty="0">
                <a:solidFill>
                  <a:srgbClr val="F5F7FA"/>
                </a:solidFill>
                <a:latin typeface="Aptos" pitchFamily="34" charset="0"/>
                <a:ea typeface="Aptos" pitchFamily="34" charset="-122"/>
                <a:cs typeface="Aptos" pitchFamily="34" charset="-120"/>
              </a:rPr>
              <a:t>Composite cluster attestation</a:t>
            </a:r>
            <a:endParaRPr lang="en-US" sz="970" dirty="0"/>
          </a:p>
        </p:txBody>
      </p:sp>
      <p:sp>
        <p:nvSpPr>
          <p:cNvPr id="45" name="Text 43"/>
          <p:cNvSpPr txBox="1"/>
          <p:nvPr/>
        </p:nvSpPr>
        <p:spPr>
          <a:xfrm>
            <a:off x="3858768" y="5084064"/>
            <a:ext cx="2240280" cy="164592"/>
          </a:xfrm>
          <a:prstGeom prst="rect">
            <a:avLst/>
          </a:prstGeom>
          <a:noFill/>
          <a:ln/>
        </p:spPr>
        <p:txBody>
          <a:bodyPr wrap="square" lIns="0" tIns="0" rIns="0" bIns="0" rtlCol="0" anchor="ctr">
            <a:normAutofit/>
          </a:bodyPr>
          <a:lstStyle/>
          <a:p>
            <a:pPr algn="ctr" indent="0" marL="0">
              <a:buNone/>
            </a:pPr>
            <a:r>
              <a:rPr lang="en-US" sz="1000" dirty="0">
                <a:solidFill>
                  <a:srgbClr val="A9B6C8"/>
                </a:solidFill>
                <a:latin typeface="Aptos" pitchFamily="34" charset="0"/>
                <a:ea typeface="Aptos" pitchFamily="34" charset="-122"/>
                <a:cs typeface="Aptos" pitchFamily="34" charset="-120"/>
              </a:rPr>
              <a:t>—</a:t>
            </a:r>
            <a:endParaRPr lang="en-US" sz="1000" dirty="0"/>
          </a:p>
        </p:txBody>
      </p:sp>
      <p:sp>
        <p:nvSpPr>
          <p:cNvPr id="46" name="Text 44"/>
          <p:cNvSpPr txBox="1"/>
          <p:nvPr/>
        </p:nvSpPr>
        <p:spPr>
          <a:xfrm>
            <a:off x="6858000" y="5084064"/>
            <a:ext cx="2103120" cy="164592"/>
          </a:xfrm>
          <a:prstGeom prst="rect">
            <a:avLst/>
          </a:prstGeom>
          <a:noFill/>
          <a:ln/>
        </p:spPr>
        <p:txBody>
          <a:bodyPr wrap="square" lIns="0" tIns="0" rIns="0" bIns="0" rtlCol="0" anchor="ctr">
            <a:normAutofit/>
          </a:bodyPr>
          <a:lstStyle/>
          <a:p>
            <a:pPr algn="ctr" indent="0" marL="0">
              <a:buNone/>
            </a:pPr>
            <a:r>
              <a:rPr lang="en-US" sz="1000" dirty="0">
                <a:solidFill>
                  <a:srgbClr val="5FE1A0"/>
                </a:solidFill>
                <a:latin typeface="Aptos" pitchFamily="34" charset="0"/>
                <a:ea typeface="Aptos" pitchFamily="34" charset="-122"/>
                <a:cs typeface="Aptos" pitchFamily="34" charset="-120"/>
              </a:rPr>
              <a:t>✓</a:t>
            </a:r>
            <a:endParaRPr lang="en-US" sz="1000" dirty="0"/>
          </a:p>
        </p:txBody>
      </p:sp>
      <p:sp>
        <p:nvSpPr>
          <p:cNvPr id="47" name="Text 45"/>
          <p:cNvSpPr txBox="1"/>
          <p:nvPr/>
        </p:nvSpPr>
        <p:spPr>
          <a:xfrm>
            <a:off x="9445752" y="5084064"/>
            <a:ext cx="1600200" cy="164592"/>
          </a:xfrm>
          <a:prstGeom prst="rect">
            <a:avLst/>
          </a:prstGeom>
          <a:noFill/>
          <a:ln/>
        </p:spPr>
        <p:txBody>
          <a:bodyPr wrap="square" lIns="0" tIns="0" rIns="0" bIns="0" rtlCol="0" anchor="ctr">
            <a:normAutofit/>
          </a:bodyPr>
          <a:lstStyle/>
          <a:p>
            <a:pPr algn="ctr" indent="0" marL="0">
              <a:buNone/>
            </a:pPr>
            <a:r>
              <a:rPr lang="en-US" sz="1000" b="1" dirty="0">
                <a:solidFill>
                  <a:srgbClr val="FF6B35"/>
                </a:solidFill>
                <a:latin typeface="Aptos" pitchFamily="34" charset="0"/>
                <a:ea typeface="Aptos" pitchFamily="34" charset="-122"/>
                <a:cs typeface="Aptos" pitchFamily="34" charset="-120"/>
              </a:rPr>
              <a:t>✓</a:t>
            </a:r>
            <a:endParaRPr lang="en-US" sz="1000" dirty="0"/>
          </a:p>
        </p:txBody>
      </p:sp>
      <p:sp>
        <p:nvSpPr>
          <p:cNvPr id="48" name="Shape 46"/>
          <p:cNvSpPr/>
          <p:nvPr/>
        </p:nvSpPr>
        <p:spPr>
          <a:xfrm>
            <a:off x="640080" y="5440680"/>
            <a:ext cx="10927080" cy="347472"/>
          </a:xfrm>
          <a:prstGeom prst="roundRect">
            <a:avLst>
              <a:gd name="adj" fmla="val 42105"/>
            </a:avLst>
          </a:prstGeom>
          <a:solidFill>
            <a:srgbClr val="121C2E"/>
          </a:solidFill>
          <a:ln w="12700">
            <a:solidFill>
              <a:srgbClr val="22334B"/>
            </a:solidFill>
            <a:prstDash val="solid"/>
          </a:ln>
          <a:effectLst>
            <a:outerShdw sx="100000" sy="100000" kx="0" ky="0" algn="bl" rotWithShape="0" blurRad="6.928901952516129e+258" dist="3.4644509762580647e+258" dir="4.750521499722998e+302">
              <a:srgbClr val="000000">
                <a:alpha val="Infinity"/>
              </a:srgbClr>
            </a:outerShdw>
          </a:effectLst>
        </p:spPr>
      </p:sp>
      <p:sp>
        <p:nvSpPr>
          <p:cNvPr id="49" name="Text 47"/>
          <p:cNvSpPr txBox="1"/>
          <p:nvPr/>
        </p:nvSpPr>
        <p:spPr>
          <a:xfrm>
            <a:off x="841248" y="5513832"/>
            <a:ext cx="2743200" cy="164592"/>
          </a:xfrm>
          <a:prstGeom prst="rect">
            <a:avLst/>
          </a:prstGeom>
          <a:noFill/>
          <a:ln/>
        </p:spPr>
        <p:txBody>
          <a:bodyPr wrap="square" lIns="0" tIns="0" rIns="0" bIns="0" rtlCol="0" anchor="ctr">
            <a:normAutofit/>
          </a:bodyPr>
          <a:lstStyle/>
          <a:p>
            <a:pPr algn="l" indent="0" marL="0">
              <a:buNone/>
            </a:pPr>
            <a:r>
              <a:rPr lang="en-US" sz="970" b="1" dirty="0">
                <a:solidFill>
                  <a:srgbClr val="F5F7FA"/>
                </a:solidFill>
                <a:latin typeface="Aptos" pitchFamily="34" charset="0"/>
                <a:ea typeface="Aptos" pitchFamily="34" charset="-122"/>
                <a:cs typeface="Aptos" pitchFamily="34" charset="-120"/>
              </a:rPr>
              <a:t>MemoryX / wafer I/O protection</a:t>
            </a:r>
            <a:endParaRPr lang="en-US" sz="970" dirty="0"/>
          </a:p>
        </p:txBody>
      </p:sp>
      <p:sp>
        <p:nvSpPr>
          <p:cNvPr id="50" name="Text 48"/>
          <p:cNvSpPr txBox="1"/>
          <p:nvPr/>
        </p:nvSpPr>
        <p:spPr>
          <a:xfrm>
            <a:off x="3858768" y="5513832"/>
            <a:ext cx="2240280" cy="164592"/>
          </a:xfrm>
          <a:prstGeom prst="rect">
            <a:avLst/>
          </a:prstGeom>
          <a:noFill/>
          <a:ln/>
        </p:spPr>
        <p:txBody>
          <a:bodyPr wrap="square" lIns="0" tIns="0" rIns="0" bIns="0" rtlCol="0" anchor="ctr">
            <a:normAutofit/>
          </a:bodyPr>
          <a:lstStyle/>
          <a:p>
            <a:pPr algn="ctr" indent="0" marL="0">
              <a:buNone/>
            </a:pPr>
            <a:r>
              <a:rPr lang="en-US" sz="1000" dirty="0">
                <a:solidFill>
                  <a:srgbClr val="A9B6C8"/>
                </a:solidFill>
                <a:latin typeface="Aptos" pitchFamily="34" charset="0"/>
                <a:ea typeface="Aptos" pitchFamily="34" charset="-122"/>
                <a:cs typeface="Aptos" pitchFamily="34" charset="-120"/>
              </a:rPr>
              <a:t>—</a:t>
            </a:r>
            <a:endParaRPr lang="en-US" sz="1000" dirty="0"/>
          </a:p>
        </p:txBody>
      </p:sp>
      <p:sp>
        <p:nvSpPr>
          <p:cNvPr id="51" name="Text 49"/>
          <p:cNvSpPr txBox="1"/>
          <p:nvPr/>
        </p:nvSpPr>
        <p:spPr>
          <a:xfrm>
            <a:off x="6858000" y="5513832"/>
            <a:ext cx="2103120" cy="164592"/>
          </a:xfrm>
          <a:prstGeom prst="rect">
            <a:avLst/>
          </a:prstGeom>
          <a:noFill/>
          <a:ln/>
        </p:spPr>
        <p:txBody>
          <a:bodyPr wrap="square" lIns="0" tIns="0" rIns="0" bIns="0" rtlCol="0" anchor="ctr">
            <a:normAutofit/>
          </a:bodyPr>
          <a:lstStyle/>
          <a:p>
            <a:pPr algn="ctr" indent="0" marL="0">
              <a:buNone/>
            </a:pPr>
            <a:r>
              <a:rPr lang="en-US" sz="1000" dirty="0">
                <a:solidFill>
                  <a:srgbClr val="A9B6C8"/>
                </a:solidFill>
                <a:latin typeface="Aptos" pitchFamily="34" charset="0"/>
                <a:ea typeface="Aptos" pitchFamily="34" charset="-122"/>
                <a:cs typeface="Aptos" pitchFamily="34" charset="-120"/>
              </a:rPr>
              <a:t>—</a:t>
            </a:r>
            <a:endParaRPr lang="en-US" sz="1000" dirty="0"/>
          </a:p>
        </p:txBody>
      </p:sp>
      <p:sp>
        <p:nvSpPr>
          <p:cNvPr id="52" name="Text 50"/>
          <p:cNvSpPr txBox="1"/>
          <p:nvPr/>
        </p:nvSpPr>
        <p:spPr>
          <a:xfrm>
            <a:off x="9445752" y="5513832"/>
            <a:ext cx="1600200" cy="164592"/>
          </a:xfrm>
          <a:prstGeom prst="rect">
            <a:avLst/>
          </a:prstGeom>
          <a:noFill/>
          <a:ln/>
        </p:spPr>
        <p:txBody>
          <a:bodyPr wrap="square" lIns="0" tIns="0" rIns="0" bIns="0" rtlCol="0" anchor="ctr">
            <a:normAutofit/>
          </a:bodyPr>
          <a:lstStyle/>
          <a:p>
            <a:pPr algn="ctr" indent="0" marL="0">
              <a:buNone/>
            </a:pPr>
            <a:r>
              <a:rPr lang="en-US" sz="1000" b="1" dirty="0">
                <a:solidFill>
                  <a:srgbClr val="FF6B35"/>
                </a:solidFill>
                <a:latin typeface="Aptos" pitchFamily="34" charset="0"/>
                <a:ea typeface="Aptos" pitchFamily="34" charset="-122"/>
                <a:cs typeface="Aptos" pitchFamily="34" charset="-120"/>
              </a:rPr>
              <a:t>✓*</a:t>
            </a:r>
            <a:endParaRPr lang="en-US" sz="1000" dirty="0"/>
          </a:p>
        </p:txBody>
      </p:sp>
      <p:sp>
        <p:nvSpPr>
          <p:cNvPr id="53" name="Text 51"/>
          <p:cNvSpPr txBox="1"/>
          <p:nvPr/>
        </p:nvSpPr>
        <p:spPr>
          <a:xfrm>
            <a:off x="658368" y="6016752"/>
            <a:ext cx="10424160" cy="201168"/>
          </a:xfrm>
          <a:prstGeom prst="rect">
            <a:avLst/>
          </a:prstGeom>
          <a:noFill/>
          <a:ln/>
        </p:spPr>
        <p:txBody>
          <a:bodyPr wrap="square" lIns="0" tIns="0" rIns="0" bIns="0" rtlCol="0" anchor="ctr">
            <a:normAutofit/>
          </a:bodyPr>
          <a:lstStyle/>
          <a:p>
            <a:pPr algn="ctr" indent="0" marL="0">
              <a:buNone/>
            </a:pPr>
            <a:r>
              <a:rPr lang="en-US" sz="880" i="1" dirty="0">
                <a:solidFill>
                  <a:srgbClr val="A9B6C8"/>
                </a:solidFill>
                <a:latin typeface="Aptos" pitchFamily="34" charset="0"/>
                <a:ea typeface="Aptos" pitchFamily="34" charset="-122"/>
                <a:cs typeface="Aptos" pitchFamily="34" charset="-120"/>
              </a:rPr>
              <a:t>* Proposed feature for next-generation WSE / secure-system design; not a statement of current product capability.</a:t>
            </a:r>
            <a:endParaRPr lang="en-US" sz="880" dirty="0"/>
          </a:p>
        </p:txBody>
      </p:sp>
      <p:sp>
        <p:nvSpPr>
          <p:cNvPr id="54" name="Text 52"/>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Reference: Intel TDX; NVIDIA H100 confidential computing / attestation. Cerebras column is the proposed architecture.</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13 • ROADMAP</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Prototype the security plane before changing the silicon.</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A staged path de-risks the proposal and produces an early customer story.</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14</a:t>
            </a:r>
            <a:endParaRPr lang="en-US" sz="1000" dirty="0"/>
          </a:p>
        </p:txBody>
      </p:sp>
      <p:sp>
        <p:nvSpPr>
          <p:cNvPr id="6" name="Shape 4"/>
          <p:cNvSpPr/>
          <p:nvPr/>
        </p:nvSpPr>
        <p:spPr>
          <a:xfrm>
            <a:off x="566928" y="2084832"/>
            <a:ext cx="2523744" cy="2926080"/>
          </a:xfrm>
          <a:prstGeom prst="roundRect">
            <a:avLst>
              <a:gd name="adj" fmla="val 5797"/>
            </a:avLst>
          </a:prstGeom>
          <a:solidFill>
            <a:srgbClr val="121C2E"/>
          </a:solidFill>
          <a:ln w="12700">
            <a:solidFill>
              <a:srgbClr val="24344E"/>
            </a:solidFill>
            <a:prstDash val="solid"/>
          </a:ln>
          <a:effectLst>
            <a:outerShdw sx="100000" sy="100000" kx="0" ky="0" algn="bl" rotWithShape="0" blurRad="8.799705479695485e+262" dist="4.3998527398477425e+262" dir="2.850312899833799e+307">
              <a:srgbClr val="000000">
                <a:alpha val="Infinity"/>
              </a:srgbClr>
            </a:outerShdw>
          </a:effectLst>
        </p:spPr>
      </p:sp>
      <p:sp>
        <p:nvSpPr>
          <p:cNvPr id="7" name="Text 5"/>
          <p:cNvSpPr txBox="1"/>
          <p:nvPr/>
        </p:nvSpPr>
        <p:spPr>
          <a:xfrm>
            <a:off x="749808" y="2331720"/>
            <a:ext cx="2011680" cy="228600"/>
          </a:xfrm>
          <a:prstGeom prst="rect">
            <a:avLst/>
          </a:prstGeom>
          <a:noFill/>
          <a:ln/>
        </p:spPr>
        <p:txBody>
          <a:bodyPr wrap="square" lIns="0" tIns="0" rIns="0" bIns="0" rtlCol="0" anchor="ctr">
            <a:normAutofit/>
          </a:bodyPr>
          <a:lstStyle/>
          <a:p>
            <a:pPr algn="l" indent="0" marL="0">
              <a:buNone/>
            </a:pPr>
            <a:r>
              <a:rPr lang="en-US" sz="1100" b="1" dirty="0">
                <a:solidFill>
                  <a:srgbClr val="3BD6E8"/>
                </a:solidFill>
                <a:latin typeface="Aptos" pitchFamily="34" charset="0"/>
                <a:ea typeface="Aptos" pitchFamily="34" charset="-122"/>
                <a:cs typeface="Aptos" pitchFamily="34" charset="-120"/>
              </a:rPr>
              <a:t>0–90 days</a:t>
            </a:r>
            <a:endParaRPr lang="en-US" sz="1100" dirty="0"/>
          </a:p>
        </p:txBody>
      </p:sp>
      <p:sp>
        <p:nvSpPr>
          <p:cNvPr id="8" name="Text 6"/>
          <p:cNvSpPr txBox="1"/>
          <p:nvPr/>
        </p:nvSpPr>
        <p:spPr>
          <a:xfrm>
            <a:off x="749808" y="2743200"/>
            <a:ext cx="2057400" cy="502920"/>
          </a:xfrm>
          <a:prstGeom prst="rect">
            <a:avLst/>
          </a:prstGeom>
          <a:noFill/>
          <a:ln/>
        </p:spPr>
        <p:txBody>
          <a:bodyPr wrap="square" lIns="0" tIns="0" rIns="0" bIns="0" rtlCol="0" anchor="ctr">
            <a:normAutofit/>
          </a:bodyPr>
          <a:lstStyle/>
          <a:p>
            <a:pPr algn="l" indent="0" marL="0">
              <a:buNone/>
            </a:pPr>
            <a:r>
              <a:rPr lang="en-US" sz="1900" b="1" dirty="0">
                <a:solidFill>
                  <a:srgbClr val="F5F7FA"/>
                </a:solidFill>
                <a:latin typeface="Aptos" pitchFamily="34" charset="0"/>
                <a:ea typeface="Aptos" pitchFamily="34" charset="-122"/>
                <a:cs typeface="Aptos" pitchFamily="34" charset="-120"/>
              </a:rPr>
              <a:t>Software prototype</a:t>
            </a:r>
            <a:endParaRPr lang="en-US" sz="1900" dirty="0"/>
          </a:p>
        </p:txBody>
      </p:sp>
      <p:sp>
        <p:nvSpPr>
          <p:cNvPr id="9" name="Text 7"/>
          <p:cNvSpPr txBox="1"/>
          <p:nvPr/>
        </p:nvSpPr>
        <p:spPr>
          <a:xfrm>
            <a:off x="749808" y="3419856"/>
            <a:ext cx="2084832" cy="1078992"/>
          </a:xfrm>
          <a:prstGeom prst="rect">
            <a:avLst/>
          </a:prstGeom>
          <a:noFill/>
          <a:ln/>
        </p:spPr>
        <p:txBody>
          <a:bodyPr wrap="square" lIns="0" tIns="0" rIns="0" bIns="0" rtlCol="0" anchor="ctr">
            <a:normAutofit/>
          </a:bodyPr>
          <a:lstStyle/>
          <a:p>
            <a:pPr algn="l" indent="0" marL="0">
              <a:buNone/>
            </a:pPr>
            <a:r>
              <a:rPr lang="en-US" sz="1030" dirty="0">
                <a:solidFill>
                  <a:srgbClr val="D8E2EF"/>
                </a:solidFill>
                <a:latin typeface="Aptos" pitchFamily="34" charset="0"/>
                <a:ea typeface="Aptos" pitchFamily="34" charset="-122"/>
                <a:cs typeface="Aptos" pitchFamily="34" charset="-120"/>
              </a:rPr>
              <a:t>TDX / SEV-SNP CVM • KMS/HSM • attestation • Cerebras runtime proxy • encrypted model/key lifecycle</a:t>
            </a:r>
            <a:endParaRPr lang="en-US" sz="1030" dirty="0"/>
          </a:p>
        </p:txBody>
      </p:sp>
      <p:sp>
        <p:nvSpPr>
          <p:cNvPr id="10" name="Shape 8"/>
          <p:cNvSpPr/>
          <p:nvPr/>
        </p:nvSpPr>
        <p:spPr>
          <a:xfrm>
            <a:off x="749808" y="4690872"/>
            <a:ext cx="2084832" cy="0"/>
          </a:xfrm>
          <a:prstGeom prst="line">
            <a:avLst/>
          </a:prstGeom>
          <a:noFill/>
          <a:ln w="25400">
            <a:solidFill>
              <a:srgbClr val="3BD6E8"/>
            </a:solidFill>
            <a:prstDash val="solid"/>
            <a:headEnd type="none"/>
            <a:tailEnd type="none"/>
          </a:ln>
        </p:spPr>
      </p:sp>
      <p:sp>
        <p:nvSpPr>
          <p:cNvPr id="11" name="Shape 9"/>
          <p:cNvSpPr/>
          <p:nvPr/>
        </p:nvSpPr>
        <p:spPr>
          <a:xfrm>
            <a:off x="3090672" y="3520440"/>
            <a:ext cx="237744" cy="0"/>
          </a:xfrm>
          <a:prstGeom prst="line">
            <a:avLst/>
          </a:prstGeom>
          <a:noFill/>
          <a:ln w="17780">
            <a:solidFill>
              <a:srgbClr val="A9B6C8"/>
            </a:solidFill>
            <a:prstDash val="solid"/>
            <a:headEnd type="none"/>
            <a:tailEnd type="triangle"/>
          </a:ln>
        </p:spPr>
      </p:sp>
      <p:sp>
        <p:nvSpPr>
          <p:cNvPr id="12" name="Shape 10"/>
          <p:cNvSpPr/>
          <p:nvPr/>
        </p:nvSpPr>
        <p:spPr>
          <a:xfrm>
            <a:off x="3374136" y="2084832"/>
            <a:ext cx="2523744" cy="2926080"/>
          </a:xfrm>
          <a:prstGeom prst="roundRect">
            <a:avLst>
              <a:gd name="adj" fmla="val 5797"/>
            </a:avLst>
          </a:prstGeom>
          <a:solidFill>
            <a:srgbClr val="121C2E"/>
          </a:solidFill>
          <a:ln w="12700">
            <a:solidFill>
              <a:srgbClr val="24344E"/>
            </a:solidFill>
            <a:prstDash val="solid"/>
          </a:ln>
          <a:effectLst>
            <a:outerShdw sx="100000" sy="100000" kx="0" ky="0" algn="bl" rotWithShape="0" blurRad="1.1175625959213265e+267" dist="5.587812979606632e+266" dir="Infinity">
              <a:srgbClr val="000000">
                <a:alpha val="Infinity"/>
              </a:srgbClr>
            </a:outerShdw>
          </a:effectLst>
        </p:spPr>
      </p:sp>
      <p:sp>
        <p:nvSpPr>
          <p:cNvPr id="13" name="Text 11"/>
          <p:cNvSpPr txBox="1"/>
          <p:nvPr/>
        </p:nvSpPr>
        <p:spPr>
          <a:xfrm>
            <a:off x="3557016" y="2331720"/>
            <a:ext cx="2011680" cy="228600"/>
          </a:xfrm>
          <a:prstGeom prst="rect">
            <a:avLst/>
          </a:prstGeom>
          <a:noFill/>
          <a:ln/>
        </p:spPr>
        <p:txBody>
          <a:bodyPr wrap="square" lIns="0" tIns="0" rIns="0" bIns="0" rtlCol="0" anchor="ctr">
            <a:normAutofit/>
          </a:bodyPr>
          <a:lstStyle/>
          <a:p>
            <a:pPr algn="l" indent="0" marL="0">
              <a:buNone/>
            </a:pPr>
            <a:r>
              <a:rPr lang="en-US" sz="1100" b="1" dirty="0">
                <a:solidFill>
                  <a:srgbClr val="FF6B35"/>
                </a:solidFill>
                <a:latin typeface="Aptos" pitchFamily="34" charset="0"/>
                <a:ea typeface="Aptos" pitchFamily="34" charset="-122"/>
                <a:cs typeface="Aptos" pitchFamily="34" charset="-120"/>
              </a:rPr>
              <a:t>3–9 months</a:t>
            </a:r>
            <a:endParaRPr lang="en-US" sz="1100" dirty="0"/>
          </a:p>
        </p:txBody>
      </p:sp>
      <p:sp>
        <p:nvSpPr>
          <p:cNvPr id="14" name="Text 12"/>
          <p:cNvSpPr txBox="1"/>
          <p:nvPr/>
        </p:nvSpPr>
        <p:spPr>
          <a:xfrm>
            <a:off x="3557016" y="2743200"/>
            <a:ext cx="2057400" cy="502920"/>
          </a:xfrm>
          <a:prstGeom prst="rect">
            <a:avLst/>
          </a:prstGeom>
          <a:noFill/>
          <a:ln/>
        </p:spPr>
        <p:txBody>
          <a:bodyPr wrap="square" lIns="0" tIns="0" rIns="0" bIns="0" rtlCol="0" anchor="ctr">
            <a:normAutofit/>
          </a:bodyPr>
          <a:lstStyle/>
          <a:p>
            <a:pPr algn="l" indent="0" marL="0">
              <a:buNone/>
            </a:pPr>
            <a:r>
              <a:rPr lang="en-US" sz="1900" b="1" dirty="0">
                <a:solidFill>
                  <a:srgbClr val="F5F7FA"/>
                </a:solidFill>
                <a:latin typeface="Aptos" pitchFamily="34" charset="0"/>
                <a:ea typeface="Aptos" pitchFamily="34" charset="-122"/>
                <a:cs typeface="Aptos" pitchFamily="34" charset="-120"/>
              </a:rPr>
              <a:t>System prototype</a:t>
            </a:r>
            <a:endParaRPr lang="en-US" sz="1900" dirty="0"/>
          </a:p>
        </p:txBody>
      </p:sp>
      <p:sp>
        <p:nvSpPr>
          <p:cNvPr id="15" name="Text 13"/>
          <p:cNvSpPr txBox="1"/>
          <p:nvPr/>
        </p:nvSpPr>
        <p:spPr>
          <a:xfrm>
            <a:off x="3557016" y="3419856"/>
            <a:ext cx="2084832" cy="1078992"/>
          </a:xfrm>
          <a:prstGeom prst="rect">
            <a:avLst/>
          </a:prstGeom>
          <a:noFill/>
          <a:ln/>
        </p:spPr>
        <p:txBody>
          <a:bodyPr wrap="square" lIns="0" tIns="0" rIns="0" bIns="0" rtlCol="0" anchor="ctr">
            <a:normAutofit/>
          </a:bodyPr>
          <a:lstStyle/>
          <a:p>
            <a:pPr algn="l" indent="0" marL="0">
              <a:buNone/>
            </a:pPr>
            <a:r>
              <a:rPr lang="en-US" sz="1030" dirty="0">
                <a:solidFill>
                  <a:srgbClr val="D8E2EF"/>
                </a:solidFill>
                <a:latin typeface="Aptos" pitchFamily="34" charset="0"/>
                <a:ea typeface="Aptos" pitchFamily="34" charset="-122"/>
                <a:cs typeface="Aptos" pitchFamily="34" charset="-120"/>
              </a:rPr>
              <a:t>CVM↔WSE secure channel • model measurement • secret broker • cluster policy • benchmark overhead</a:t>
            </a:r>
            <a:endParaRPr lang="en-US" sz="1030" dirty="0"/>
          </a:p>
        </p:txBody>
      </p:sp>
      <p:sp>
        <p:nvSpPr>
          <p:cNvPr id="16" name="Shape 14"/>
          <p:cNvSpPr/>
          <p:nvPr/>
        </p:nvSpPr>
        <p:spPr>
          <a:xfrm>
            <a:off x="3557016" y="4690872"/>
            <a:ext cx="2084832" cy="0"/>
          </a:xfrm>
          <a:prstGeom prst="line">
            <a:avLst/>
          </a:prstGeom>
          <a:noFill/>
          <a:ln w="25400">
            <a:solidFill>
              <a:srgbClr val="FF6B35"/>
            </a:solidFill>
            <a:prstDash val="solid"/>
            <a:headEnd type="none"/>
            <a:tailEnd type="none"/>
          </a:ln>
        </p:spPr>
      </p:sp>
      <p:sp>
        <p:nvSpPr>
          <p:cNvPr id="17" name="Shape 15"/>
          <p:cNvSpPr/>
          <p:nvPr/>
        </p:nvSpPr>
        <p:spPr>
          <a:xfrm>
            <a:off x="5897880" y="3520440"/>
            <a:ext cx="237744" cy="0"/>
          </a:xfrm>
          <a:prstGeom prst="line">
            <a:avLst/>
          </a:prstGeom>
          <a:noFill/>
          <a:ln w="17780">
            <a:solidFill>
              <a:srgbClr val="A9B6C8"/>
            </a:solidFill>
            <a:prstDash val="solid"/>
            <a:headEnd type="none"/>
            <a:tailEnd type="triangle"/>
          </a:ln>
        </p:spPr>
      </p:sp>
      <p:sp>
        <p:nvSpPr>
          <p:cNvPr id="18" name="Shape 16"/>
          <p:cNvSpPr/>
          <p:nvPr/>
        </p:nvSpPr>
        <p:spPr>
          <a:xfrm>
            <a:off x="6181344" y="2084832"/>
            <a:ext cx="2523744" cy="2926080"/>
          </a:xfrm>
          <a:prstGeom prst="roundRect">
            <a:avLst>
              <a:gd name="adj" fmla="val 5797"/>
            </a:avLst>
          </a:prstGeom>
          <a:solidFill>
            <a:srgbClr val="142235"/>
          </a:solidFill>
          <a:ln w="12700">
            <a:solidFill>
              <a:srgbClr val="24344E"/>
            </a:solidFill>
            <a:prstDash val="solid"/>
          </a:ln>
          <a:effectLst>
            <a:outerShdw sx="100000" sy="100000" kx="0" ky="0" algn="bl" rotWithShape="0" blurRad="1.4193044968200846e+271" dist="7.096522484100423e+270" dir="Infinity">
              <a:srgbClr val="000000">
                <a:alpha val="Infinity"/>
              </a:srgbClr>
            </a:outerShdw>
          </a:effectLst>
        </p:spPr>
      </p:sp>
      <p:sp>
        <p:nvSpPr>
          <p:cNvPr id="19" name="Text 17"/>
          <p:cNvSpPr txBox="1"/>
          <p:nvPr/>
        </p:nvSpPr>
        <p:spPr>
          <a:xfrm>
            <a:off x="6364224" y="2331720"/>
            <a:ext cx="2011680" cy="228600"/>
          </a:xfrm>
          <a:prstGeom prst="rect">
            <a:avLst/>
          </a:prstGeom>
          <a:noFill/>
          <a:ln/>
        </p:spPr>
        <p:txBody>
          <a:bodyPr wrap="square" lIns="0" tIns="0" rIns="0" bIns="0" rtlCol="0" anchor="ctr">
            <a:normAutofit/>
          </a:bodyPr>
          <a:lstStyle/>
          <a:p>
            <a:pPr algn="l" indent="0" marL="0">
              <a:buNone/>
            </a:pPr>
            <a:r>
              <a:rPr lang="en-US" sz="1100" b="1" dirty="0">
                <a:solidFill>
                  <a:srgbClr val="5FE1A0"/>
                </a:solidFill>
                <a:latin typeface="Aptos" pitchFamily="34" charset="0"/>
                <a:ea typeface="Aptos" pitchFamily="34" charset="-122"/>
                <a:cs typeface="Aptos" pitchFamily="34" charset="-120"/>
              </a:rPr>
              <a:t>Next WSE</a:t>
            </a:r>
            <a:endParaRPr lang="en-US" sz="1100" dirty="0"/>
          </a:p>
        </p:txBody>
      </p:sp>
      <p:sp>
        <p:nvSpPr>
          <p:cNvPr id="20" name="Text 18"/>
          <p:cNvSpPr txBox="1"/>
          <p:nvPr/>
        </p:nvSpPr>
        <p:spPr>
          <a:xfrm>
            <a:off x="6364224" y="2743200"/>
            <a:ext cx="2057400" cy="502920"/>
          </a:xfrm>
          <a:prstGeom prst="rect">
            <a:avLst/>
          </a:prstGeom>
          <a:noFill/>
          <a:ln/>
        </p:spPr>
        <p:txBody>
          <a:bodyPr wrap="square" lIns="0" tIns="0" rIns="0" bIns="0" rtlCol="0" anchor="ctr">
            <a:normAutofit/>
          </a:bodyPr>
          <a:lstStyle/>
          <a:p>
            <a:pPr algn="l" indent="0" marL="0">
              <a:buNone/>
            </a:pPr>
            <a:r>
              <a:rPr lang="en-US" sz="1900" b="1" dirty="0">
                <a:solidFill>
                  <a:srgbClr val="F5F7FA"/>
                </a:solidFill>
                <a:latin typeface="Aptos" pitchFamily="34" charset="0"/>
                <a:ea typeface="Aptos" pitchFamily="34" charset="-122"/>
                <a:cs typeface="Aptos" pitchFamily="34" charset="-120"/>
              </a:rPr>
              <a:t>Hardware TEE</a:t>
            </a:r>
            <a:endParaRPr lang="en-US" sz="1900" dirty="0"/>
          </a:p>
        </p:txBody>
      </p:sp>
      <p:sp>
        <p:nvSpPr>
          <p:cNvPr id="21" name="Text 19"/>
          <p:cNvSpPr txBox="1"/>
          <p:nvPr/>
        </p:nvSpPr>
        <p:spPr>
          <a:xfrm>
            <a:off x="6364224" y="3419856"/>
            <a:ext cx="2084832" cy="1078992"/>
          </a:xfrm>
          <a:prstGeom prst="rect">
            <a:avLst/>
          </a:prstGeom>
          <a:noFill/>
          <a:ln/>
        </p:spPr>
        <p:txBody>
          <a:bodyPr wrap="square" lIns="0" tIns="0" rIns="0" bIns="0" rtlCol="0" anchor="ctr">
            <a:normAutofit/>
          </a:bodyPr>
          <a:lstStyle/>
          <a:p>
            <a:pPr algn="l" indent="0" marL="0">
              <a:buNone/>
            </a:pPr>
            <a:r>
              <a:rPr lang="en-US" sz="1030" dirty="0">
                <a:solidFill>
                  <a:srgbClr val="D8E2EF"/>
                </a:solidFill>
                <a:latin typeface="Aptos" pitchFamily="34" charset="0"/>
                <a:ea typeface="Aptos" pitchFamily="34" charset="-122"/>
                <a:cs typeface="Aptos" pitchFamily="34" charset="-120"/>
              </a:rPr>
              <a:t>Root of trust • domain manager • protected SRAM • secure DMA • fabric ACL • WSE attestation</a:t>
            </a:r>
            <a:endParaRPr lang="en-US" sz="1030" dirty="0"/>
          </a:p>
        </p:txBody>
      </p:sp>
      <p:sp>
        <p:nvSpPr>
          <p:cNvPr id="22" name="Shape 20"/>
          <p:cNvSpPr/>
          <p:nvPr/>
        </p:nvSpPr>
        <p:spPr>
          <a:xfrm>
            <a:off x="6364224" y="4690872"/>
            <a:ext cx="2084832" cy="0"/>
          </a:xfrm>
          <a:prstGeom prst="line">
            <a:avLst/>
          </a:prstGeom>
          <a:noFill/>
          <a:ln w="25400">
            <a:solidFill>
              <a:srgbClr val="5FE1A0"/>
            </a:solidFill>
            <a:prstDash val="solid"/>
            <a:headEnd type="none"/>
            <a:tailEnd type="none"/>
          </a:ln>
        </p:spPr>
      </p:sp>
      <p:sp>
        <p:nvSpPr>
          <p:cNvPr id="23" name="Shape 21"/>
          <p:cNvSpPr/>
          <p:nvPr/>
        </p:nvSpPr>
        <p:spPr>
          <a:xfrm>
            <a:off x="8705088" y="3520440"/>
            <a:ext cx="237744" cy="0"/>
          </a:xfrm>
          <a:prstGeom prst="line">
            <a:avLst/>
          </a:prstGeom>
          <a:noFill/>
          <a:ln w="17780">
            <a:solidFill>
              <a:srgbClr val="A9B6C8"/>
            </a:solidFill>
            <a:prstDash val="solid"/>
            <a:headEnd type="none"/>
            <a:tailEnd type="triangle"/>
          </a:ln>
        </p:spPr>
      </p:sp>
      <p:sp>
        <p:nvSpPr>
          <p:cNvPr id="24" name="Shape 22"/>
          <p:cNvSpPr/>
          <p:nvPr/>
        </p:nvSpPr>
        <p:spPr>
          <a:xfrm>
            <a:off x="8988552" y="2084832"/>
            <a:ext cx="2523744" cy="2926080"/>
          </a:xfrm>
          <a:prstGeom prst="roundRect">
            <a:avLst>
              <a:gd name="adj" fmla="val 5797"/>
            </a:avLst>
          </a:prstGeom>
          <a:solidFill>
            <a:srgbClr val="121C2E"/>
          </a:solidFill>
          <a:ln w="12700">
            <a:solidFill>
              <a:srgbClr val="24344E"/>
            </a:solidFill>
            <a:prstDash val="solid"/>
          </a:ln>
          <a:effectLst>
            <a:outerShdw sx="100000" sy="100000" kx="0" ky="0" algn="bl" rotWithShape="0" blurRad="1.8025167109615074e+275" dist="9.012583554807537e+274" dir="Infinity">
              <a:srgbClr val="000000">
                <a:alpha val="Infinity"/>
              </a:srgbClr>
            </a:outerShdw>
          </a:effectLst>
        </p:spPr>
      </p:sp>
      <p:sp>
        <p:nvSpPr>
          <p:cNvPr id="25" name="Text 23"/>
          <p:cNvSpPr txBox="1"/>
          <p:nvPr/>
        </p:nvSpPr>
        <p:spPr>
          <a:xfrm>
            <a:off x="9171432" y="2331720"/>
            <a:ext cx="2011680" cy="228600"/>
          </a:xfrm>
          <a:prstGeom prst="rect">
            <a:avLst/>
          </a:prstGeom>
          <a:noFill/>
          <a:ln/>
        </p:spPr>
        <p:txBody>
          <a:bodyPr wrap="square" lIns="0" tIns="0" rIns="0" bIns="0" rtlCol="0" anchor="ctr">
            <a:normAutofit/>
          </a:bodyPr>
          <a:lstStyle/>
          <a:p>
            <a:pPr algn="l" indent="0" marL="0">
              <a:buNone/>
            </a:pPr>
            <a:r>
              <a:rPr lang="en-US" sz="1100" b="1" dirty="0">
                <a:solidFill>
                  <a:srgbClr val="FFD166"/>
                </a:solidFill>
                <a:latin typeface="Aptos" pitchFamily="34" charset="0"/>
                <a:ea typeface="Aptos" pitchFamily="34" charset="-122"/>
                <a:cs typeface="Aptos" pitchFamily="34" charset="-120"/>
              </a:rPr>
              <a:t>Scale-out</a:t>
            </a:r>
            <a:endParaRPr lang="en-US" sz="1100" dirty="0"/>
          </a:p>
        </p:txBody>
      </p:sp>
      <p:sp>
        <p:nvSpPr>
          <p:cNvPr id="26" name="Text 24"/>
          <p:cNvSpPr txBox="1"/>
          <p:nvPr/>
        </p:nvSpPr>
        <p:spPr>
          <a:xfrm>
            <a:off x="9171432" y="2743200"/>
            <a:ext cx="2057400" cy="502920"/>
          </a:xfrm>
          <a:prstGeom prst="rect">
            <a:avLst/>
          </a:prstGeom>
          <a:noFill/>
          <a:ln/>
        </p:spPr>
        <p:txBody>
          <a:bodyPr wrap="square" lIns="0" tIns="0" rIns="0" bIns="0" rtlCol="0" anchor="ctr">
            <a:normAutofit/>
          </a:bodyPr>
          <a:lstStyle/>
          <a:p>
            <a:pPr algn="l" indent="0" marL="0">
              <a:buNone/>
            </a:pPr>
            <a:r>
              <a:rPr lang="en-US" sz="1900" b="1" dirty="0">
                <a:solidFill>
                  <a:srgbClr val="F5F7FA"/>
                </a:solidFill>
                <a:latin typeface="Aptos" pitchFamily="34" charset="0"/>
                <a:ea typeface="Aptos" pitchFamily="34" charset="-122"/>
                <a:cs typeface="Aptos" pitchFamily="34" charset="-120"/>
              </a:rPr>
              <a:t>Confidential fabric</a:t>
            </a:r>
            <a:endParaRPr lang="en-US" sz="1900" dirty="0"/>
          </a:p>
        </p:txBody>
      </p:sp>
      <p:sp>
        <p:nvSpPr>
          <p:cNvPr id="27" name="Text 25"/>
          <p:cNvSpPr txBox="1"/>
          <p:nvPr/>
        </p:nvSpPr>
        <p:spPr>
          <a:xfrm>
            <a:off x="9171432" y="3419856"/>
            <a:ext cx="2084832" cy="1078992"/>
          </a:xfrm>
          <a:prstGeom prst="rect">
            <a:avLst/>
          </a:prstGeom>
          <a:noFill/>
          <a:ln/>
        </p:spPr>
        <p:txBody>
          <a:bodyPr wrap="square" lIns="0" tIns="0" rIns="0" bIns="0" rtlCol="0" anchor="ctr">
            <a:normAutofit/>
          </a:bodyPr>
          <a:lstStyle/>
          <a:p>
            <a:pPr algn="l" indent="0" marL="0">
              <a:buNone/>
            </a:pPr>
            <a:r>
              <a:rPr lang="en-US" sz="1030" dirty="0">
                <a:solidFill>
                  <a:srgbClr val="D8E2EF"/>
                </a:solidFill>
                <a:latin typeface="Aptos" pitchFamily="34" charset="0"/>
                <a:ea typeface="Aptos" pitchFamily="34" charset="-122"/>
                <a:cs typeface="Aptos" pitchFamily="34" charset="-120"/>
              </a:rPr>
              <a:t>MemoryX / I/O protection • multi-WSE composite attestation • sovereign deployment profile</a:t>
            </a:r>
            <a:endParaRPr lang="en-US" sz="1030" dirty="0"/>
          </a:p>
        </p:txBody>
      </p:sp>
      <p:sp>
        <p:nvSpPr>
          <p:cNvPr id="28" name="Shape 26"/>
          <p:cNvSpPr/>
          <p:nvPr/>
        </p:nvSpPr>
        <p:spPr>
          <a:xfrm>
            <a:off x="9171432" y="4690872"/>
            <a:ext cx="2084832" cy="0"/>
          </a:xfrm>
          <a:prstGeom prst="line">
            <a:avLst/>
          </a:prstGeom>
          <a:noFill/>
          <a:ln w="25400">
            <a:solidFill>
              <a:srgbClr val="FFD166"/>
            </a:solidFill>
            <a:prstDash val="solid"/>
            <a:headEnd type="none"/>
            <a:tailEnd type="none"/>
          </a:ln>
        </p:spPr>
      </p:sp>
      <p:sp>
        <p:nvSpPr>
          <p:cNvPr id="29" name="Text 27"/>
          <p:cNvSpPr txBox="1"/>
          <p:nvPr/>
        </p:nvSpPr>
        <p:spPr>
          <a:xfrm>
            <a:off x="566928" y="5422392"/>
            <a:ext cx="1325880" cy="219456"/>
          </a:xfrm>
          <a:prstGeom prst="rect">
            <a:avLst/>
          </a:prstGeom>
          <a:noFill/>
          <a:ln/>
        </p:spPr>
        <p:txBody>
          <a:bodyPr wrap="square" lIns="0" tIns="0" rIns="0" bIns="0" rtlCol="0" anchor="ctr">
            <a:normAutofit/>
          </a:bodyPr>
          <a:lstStyle/>
          <a:p>
            <a:pPr algn="l" indent="0" marL="0">
              <a:buNone/>
            </a:pPr>
            <a:r>
              <a:rPr lang="en-US" sz="800" b="1" spc="110" kern="0" dirty="0">
                <a:solidFill>
                  <a:srgbClr val="FF6B35"/>
                </a:solidFill>
                <a:latin typeface="Aptos" pitchFamily="34" charset="0"/>
                <a:ea typeface="Aptos" pitchFamily="34" charset="-122"/>
                <a:cs typeface="Aptos" pitchFamily="34" charset="-120"/>
              </a:rPr>
              <a:t>Key engineering gate</a:t>
            </a:r>
            <a:endParaRPr lang="en-US" sz="800" dirty="0"/>
          </a:p>
        </p:txBody>
      </p:sp>
      <p:sp>
        <p:nvSpPr>
          <p:cNvPr id="30" name="Text 28"/>
          <p:cNvSpPr txBox="1"/>
          <p:nvPr/>
        </p:nvSpPr>
        <p:spPr>
          <a:xfrm>
            <a:off x="2029968" y="5367528"/>
            <a:ext cx="9144000" cy="384048"/>
          </a:xfrm>
          <a:prstGeom prst="rect">
            <a:avLst/>
          </a:prstGeom>
          <a:noFill/>
          <a:ln/>
        </p:spPr>
        <p:txBody>
          <a:bodyPr wrap="square" lIns="0" tIns="0" rIns="0" bIns="0" rtlCol="0" anchor="ctr">
            <a:normAutofit/>
          </a:bodyPr>
          <a:lstStyle/>
          <a:p>
            <a:pPr algn="l" indent="0" marL="0">
              <a:buNone/>
            </a:pPr>
            <a:r>
              <a:rPr lang="en-US" sz="1250" b="1" dirty="0">
                <a:solidFill>
                  <a:srgbClr val="F5F7FA"/>
                </a:solidFill>
                <a:latin typeface="Aptos" pitchFamily="34" charset="0"/>
                <a:ea typeface="Aptos" pitchFamily="34" charset="-122"/>
                <a:cs typeface="Aptos" pitchFamily="34" charset="-120"/>
              </a:rPr>
              <a:t>Demonstrate &lt;2–5% end-to-end inference overhead target, measurable attestation latency, and zero plaintext secret exposure outside the protected domain.</a:t>
            </a:r>
            <a:endParaRPr lang="en-US" sz="1250" dirty="0"/>
          </a:p>
        </p:txBody>
      </p:sp>
      <p:sp>
        <p:nvSpPr>
          <p:cNvPr id="31" name="Text 29"/>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Roadmap is a proposal. Exact performance and schedule targets should be validated by Cerebras architecture and security teams.</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14 • BUSINESS CASE</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Security becomes a product differentiator, not a compliance checkbox.</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The goal is to unlock workloads where performance alone is not enough.</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15</a:t>
            </a:r>
            <a:endParaRPr lang="en-US" sz="1000" dirty="0"/>
          </a:p>
        </p:txBody>
      </p:sp>
      <p:sp>
        <p:nvSpPr>
          <p:cNvPr id="6" name="Shape 4"/>
          <p:cNvSpPr/>
          <p:nvPr/>
        </p:nvSpPr>
        <p:spPr>
          <a:xfrm>
            <a:off x="566928" y="2066544"/>
            <a:ext cx="2523744" cy="2057400"/>
          </a:xfrm>
          <a:prstGeom prst="roundRect">
            <a:avLst>
              <a:gd name="adj" fmla="val 7111"/>
            </a:avLst>
          </a:prstGeom>
          <a:solidFill>
            <a:srgbClr val="121C2E"/>
          </a:solidFill>
          <a:ln w="12700">
            <a:solidFill>
              <a:srgbClr val="24344E"/>
            </a:solidFill>
            <a:prstDash val="solid"/>
          </a:ln>
          <a:effectLst>
            <a:outerShdw sx="100000" sy="100000" kx="0" ky="0" algn="bl" rotWithShape="0" blurRad="2.2891962229211143e+279" dist="1.1445981114605571e+279" dir="Infinity">
              <a:srgbClr val="000000">
                <a:alpha val="Infinity"/>
              </a:srgbClr>
            </a:outerShdw>
          </a:effectLst>
        </p:spPr>
      </p:sp>
      <p:sp>
        <p:nvSpPr>
          <p:cNvPr id="7" name="Text 5"/>
          <p:cNvSpPr txBox="1"/>
          <p:nvPr/>
        </p:nvSpPr>
        <p:spPr>
          <a:xfrm>
            <a:off x="768096" y="2286000"/>
            <a:ext cx="411480" cy="274320"/>
          </a:xfrm>
          <a:prstGeom prst="rect">
            <a:avLst/>
          </a:prstGeom>
          <a:noFill/>
          <a:ln/>
        </p:spPr>
        <p:txBody>
          <a:bodyPr wrap="square" lIns="0" tIns="0" rIns="0" bIns="0" rtlCol="0" anchor="ctr">
            <a:normAutofit/>
          </a:bodyPr>
          <a:lstStyle/>
          <a:p>
            <a:pPr algn="l" indent="0" marL="0">
              <a:buNone/>
            </a:pPr>
            <a:r>
              <a:rPr lang="en-US" sz="1700" b="1" dirty="0">
                <a:solidFill>
                  <a:srgbClr val="FF6B35"/>
                </a:solidFill>
                <a:latin typeface="Aptos" pitchFamily="34" charset="0"/>
                <a:ea typeface="Aptos" pitchFamily="34" charset="-122"/>
                <a:cs typeface="Aptos" pitchFamily="34" charset="-120"/>
              </a:rPr>
              <a:t>01</a:t>
            </a:r>
            <a:endParaRPr lang="en-US" sz="1700" dirty="0"/>
          </a:p>
        </p:txBody>
      </p:sp>
      <p:sp>
        <p:nvSpPr>
          <p:cNvPr id="8" name="Text 6"/>
          <p:cNvSpPr txBox="1"/>
          <p:nvPr/>
        </p:nvSpPr>
        <p:spPr>
          <a:xfrm>
            <a:off x="768096" y="2770632"/>
            <a:ext cx="1965960" cy="411480"/>
          </a:xfrm>
          <a:prstGeom prst="rect">
            <a:avLst/>
          </a:prstGeom>
          <a:noFill/>
          <a:ln/>
        </p:spPr>
        <p:txBody>
          <a:bodyPr wrap="square" lIns="0" tIns="0" rIns="0" bIns="0" rtlCol="0" anchor="ctr">
            <a:normAutofit/>
          </a:bodyPr>
          <a:lstStyle/>
          <a:p>
            <a:pPr algn="l" indent="0" marL="0">
              <a:buNone/>
            </a:pPr>
            <a:r>
              <a:rPr lang="en-US" sz="1800" b="1" dirty="0">
                <a:solidFill>
                  <a:srgbClr val="F5F7FA"/>
                </a:solidFill>
                <a:latin typeface="Aptos" pitchFamily="34" charset="0"/>
                <a:ea typeface="Aptos" pitchFamily="34" charset="-122"/>
                <a:cs typeface="Aptos" pitchFamily="34" charset="-120"/>
              </a:rPr>
              <a:t>Access</a:t>
            </a:r>
            <a:endParaRPr lang="en-US" sz="1800" dirty="0"/>
          </a:p>
        </p:txBody>
      </p:sp>
      <p:sp>
        <p:nvSpPr>
          <p:cNvPr id="9" name="Text 7"/>
          <p:cNvSpPr txBox="1"/>
          <p:nvPr/>
        </p:nvSpPr>
        <p:spPr>
          <a:xfrm>
            <a:off x="768096" y="3346704"/>
            <a:ext cx="2029968" cy="530352"/>
          </a:xfrm>
          <a:prstGeom prst="rect">
            <a:avLst/>
          </a:prstGeom>
          <a:noFill/>
          <a:ln/>
        </p:spPr>
        <p:txBody>
          <a:bodyPr wrap="square" lIns="0" tIns="0" rIns="0" bIns="0" rtlCol="0" anchor="ctr">
            <a:normAutofit/>
          </a:bodyPr>
          <a:lstStyle/>
          <a:p>
            <a:pPr algn="l" indent="0" marL="0">
              <a:buNone/>
            </a:pPr>
            <a:r>
              <a:rPr lang="en-US" sz="1040" dirty="0">
                <a:solidFill>
                  <a:srgbClr val="D8E2EF"/>
                </a:solidFill>
                <a:latin typeface="Aptos" pitchFamily="34" charset="0"/>
                <a:ea typeface="Aptos" pitchFamily="34" charset="-122"/>
                <a:cs typeface="Aptos" pitchFamily="34" charset="-120"/>
              </a:rPr>
              <a:t>Sovereign, healthcare, finance, classified and high-value AI markets.</a:t>
            </a:r>
            <a:endParaRPr lang="en-US" sz="1040" dirty="0"/>
          </a:p>
        </p:txBody>
      </p:sp>
      <p:sp>
        <p:nvSpPr>
          <p:cNvPr id="10" name="Shape 8"/>
          <p:cNvSpPr/>
          <p:nvPr/>
        </p:nvSpPr>
        <p:spPr>
          <a:xfrm>
            <a:off x="3374136" y="2066544"/>
            <a:ext cx="2523744" cy="2057400"/>
          </a:xfrm>
          <a:prstGeom prst="roundRect">
            <a:avLst>
              <a:gd name="adj" fmla="val 7111"/>
            </a:avLst>
          </a:prstGeom>
          <a:solidFill>
            <a:srgbClr val="121C2E"/>
          </a:solidFill>
          <a:ln w="12700">
            <a:solidFill>
              <a:srgbClr val="24344E"/>
            </a:solidFill>
            <a:prstDash val="solid"/>
          </a:ln>
          <a:effectLst>
            <a:outerShdw sx="100000" sy="100000" kx="0" ky="0" algn="bl" rotWithShape="0" blurRad="2.9072792031098153e+283" dist="1.4536396015549076e+283" dir="Infinity">
              <a:srgbClr val="000000">
                <a:alpha val="Infinity"/>
              </a:srgbClr>
            </a:outerShdw>
          </a:effectLst>
        </p:spPr>
      </p:sp>
      <p:sp>
        <p:nvSpPr>
          <p:cNvPr id="11" name="Text 9"/>
          <p:cNvSpPr txBox="1"/>
          <p:nvPr/>
        </p:nvSpPr>
        <p:spPr>
          <a:xfrm>
            <a:off x="3575304" y="2286000"/>
            <a:ext cx="411480" cy="274320"/>
          </a:xfrm>
          <a:prstGeom prst="rect">
            <a:avLst/>
          </a:prstGeom>
          <a:noFill/>
          <a:ln/>
        </p:spPr>
        <p:txBody>
          <a:bodyPr wrap="square" lIns="0" tIns="0" rIns="0" bIns="0" rtlCol="0" anchor="ctr">
            <a:normAutofit/>
          </a:bodyPr>
          <a:lstStyle/>
          <a:p>
            <a:pPr algn="l" indent="0" marL="0">
              <a:buNone/>
            </a:pPr>
            <a:r>
              <a:rPr lang="en-US" sz="1700" b="1" dirty="0">
                <a:solidFill>
                  <a:srgbClr val="3BD6E8"/>
                </a:solidFill>
                <a:latin typeface="Aptos" pitchFamily="34" charset="0"/>
                <a:ea typeface="Aptos" pitchFamily="34" charset="-122"/>
                <a:cs typeface="Aptos" pitchFamily="34" charset="-120"/>
              </a:rPr>
              <a:t>02</a:t>
            </a:r>
            <a:endParaRPr lang="en-US" sz="1700" dirty="0"/>
          </a:p>
        </p:txBody>
      </p:sp>
      <p:sp>
        <p:nvSpPr>
          <p:cNvPr id="12" name="Text 10"/>
          <p:cNvSpPr txBox="1"/>
          <p:nvPr/>
        </p:nvSpPr>
        <p:spPr>
          <a:xfrm>
            <a:off x="3575304" y="2770632"/>
            <a:ext cx="1965960" cy="411480"/>
          </a:xfrm>
          <a:prstGeom prst="rect">
            <a:avLst/>
          </a:prstGeom>
          <a:noFill/>
          <a:ln/>
        </p:spPr>
        <p:txBody>
          <a:bodyPr wrap="square" lIns="0" tIns="0" rIns="0" bIns="0" rtlCol="0" anchor="ctr">
            <a:normAutofit/>
          </a:bodyPr>
          <a:lstStyle/>
          <a:p>
            <a:pPr algn="l" indent="0" marL="0">
              <a:buNone/>
            </a:pPr>
            <a:r>
              <a:rPr lang="en-US" sz="1800" b="1" dirty="0">
                <a:solidFill>
                  <a:srgbClr val="F5F7FA"/>
                </a:solidFill>
                <a:latin typeface="Aptos" pitchFamily="34" charset="0"/>
                <a:ea typeface="Aptos" pitchFamily="34" charset="-122"/>
                <a:cs typeface="Aptos" pitchFamily="34" charset="-120"/>
              </a:rPr>
              <a:t>Monetize</a:t>
            </a:r>
            <a:endParaRPr lang="en-US" sz="1800" dirty="0"/>
          </a:p>
        </p:txBody>
      </p:sp>
      <p:sp>
        <p:nvSpPr>
          <p:cNvPr id="13" name="Text 11"/>
          <p:cNvSpPr txBox="1"/>
          <p:nvPr/>
        </p:nvSpPr>
        <p:spPr>
          <a:xfrm>
            <a:off x="3575304" y="3346704"/>
            <a:ext cx="2029968" cy="530352"/>
          </a:xfrm>
          <a:prstGeom prst="rect">
            <a:avLst/>
          </a:prstGeom>
          <a:noFill/>
          <a:ln/>
        </p:spPr>
        <p:txBody>
          <a:bodyPr wrap="square" lIns="0" tIns="0" rIns="0" bIns="0" rtlCol="0" anchor="ctr">
            <a:normAutofit/>
          </a:bodyPr>
          <a:lstStyle/>
          <a:p>
            <a:pPr algn="l" indent="0" marL="0">
              <a:buNone/>
            </a:pPr>
            <a:r>
              <a:rPr lang="en-US" sz="1040" dirty="0">
                <a:solidFill>
                  <a:srgbClr val="D8E2EF"/>
                </a:solidFill>
                <a:latin typeface="Aptos" pitchFamily="34" charset="0"/>
                <a:ea typeface="Aptos" pitchFamily="34" charset="-122"/>
                <a:cs typeface="Aptos" pitchFamily="34" charset="-120"/>
              </a:rPr>
              <a:t>Premium “Confidential AI” deployment tiers and managed services.</a:t>
            </a:r>
            <a:endParaRPr lang="en-US" sz="1040" dirty="0"/>
          </a:p>
        </p:txBody>
      </p:sp>
      <p:sp>
        <p:nvSpPr>
          <p:cNvPr id="14" name="Shape 12"/>
          <p:cNvSpPr/>
          <p:nvPr/>
        </p:nvSpPr>
        <p:spPr>
          <a:xfrm>
            <a:off x="6181344" y="2066544"/>
            <a:ext cx="2523744" cy="2057400"/>
          </a:xfrm>
          <a:prstGeom prst="roundRect">
            <a:avLst>
              <a:gd name="adj" fmla="val 7111"/>
            </a:avLst>
          </a:prstGeom>
          <a:solidFill>
            <a:srgbClr val="121C2E"/>
          </a:solidFill>
          <a:ln w="12700">
            <a:solidFill>
              <a:srgbClr val="24344E"/>
            </a:solidFill>
            <a:prstDash val="solid"/>
          </a:ln>
          <a:effectLst>
            <a:outerShdw sx="100000" sy="100000" kx="0" ky="0" algn="bl" rotWithShape="0" blurRad="3.6922445879494656e+287" dist="1.8461222939747328e+287" dir="Infinity">
              <a:srgbClr val="000000">
                <a:alpha val="Infinity"/>
              </a:srgbClr>
            </a:outerShdw>
          </a:effectLst>
        </p:spPr>
      </p:sp>
      <p:sp>
        <p:nvSpPr>
          <p:cNvPr id="15" name="Text 13"/>
          <p:cNvSpPr txBox="1"/>
          <p:nvPr/>
        </p:nvSpPr>
        <p:spPr>
          <a:xfrm>
            <a:off x="6382512" y="2286000"/>
            <a:ext cx="411480" cy="274320"/>
          </a:xfrm>
          <a:prstGeom prst="rect">
            <a:avLst/>
          </a:prstGeom>
          <a:noFill/>
          <a:ln/>
        </p:spPr>
        <p:txBody>
          <a:bodyPr wrap="square" lIns="0" tIns="0" rIns="0" bIns="0" rtlCol="0" anchor="ctr">
            <a:normAutofit/>
          </a:bodyPr>
          <a:lstStyle/>
          <a:p>
            <a:pPr algn="l" indent="0" marL="0">
              <a:buNone/>
            </a:pPr>
            <a:r>
              <a:rPr lang="en-US" sz="1700" b="1" dirty="0">
                <a:solidFill>
                  <a:srgbClr val="5FE1A0"/>
                </a:solidFill>
                <a:latin typeface="Aptos" pitchFamily="34" charset="0"/>
                <a:ea typeface="Aptos" pitchFamily="34" charset="-122"/>
                <a:cs typeface="Aptos" pitchFamily="34" charset="-120"/>
              </a:rPr>
              <a:t>03</a:t>
            </a:r>
            <a:endParaRPr lang="en-US" sz="1700" dirty="0"/>
          </a:p>
        </p:txBody>
      </p:sp>
      <p:sp>
        <p:nvSpPr>
          <p:cNvPr id="16" name="Text 14"/>
          <p:cNvSpPr txBox="1"/>
          <p:nvPr/>
        </p:nvSpPr>
        <p:spPr>
          <a:xfrm>
            <a:off x="6382512" y="2770632"/>
            <a:ext cx="1965960" cy="411480"/>
          </a:xfrm>
          <a:prstGeom prst="rect">
            <a:avLst/>
          </a:prstGeom>
          <a:noFill/>
          <a:ln/>
        </p:spPr>
        <p:txBody>
          <a:bodyPr wrap="square" lIns="0" tIns="0" rIns="0" bIns="0" rtlCol="0" anchor="ctr">
            <a:normAutofit/>
          </a:bodyPr>
          <a:lstStyle/>
          <a:p>
            <a:pPr algn="l" indent="0" marL="0">
              <a:buNone/>
            </a:pPr>
            <a:r>
              <a:rPr lang="en-US" sz="1800" b="1" dirty="0">
                <a:solidFill>
                  <a:srgbClr val="F5F7FA"/>
                </a:solidFill>
                <a:latin typeface="Aptos" pitchFamily="34" charset="0"/>
                <a:ea typeface="Aptos" pitchFamily="34" charset="-122"/>
                <a:cs typeface="Aptos" pitchFamily="34" charset="-120"/>
              </a:rPr>
              <a:t>Defend</a:t>
            </a:r>
            <a:endParaRPr lang="en-US" sz="1800" dirty="0"/>
          </a:p>
        </p:txBody>
      </p:sp>
      <p:sp>
        <p:nvSpPr>
          <p:cNvPr id="17" name="Text 15"/>
          <p:cNvSpPr txBox="1"/>
          <p:nvPr/>
        </p:nvSpPr>
        <p:spPr>
          <a:xfrm>
            <a:off x="6382512" y="3346704"/>
            <a:ext cx="2029968" cy="530352"/>
          </a:xfrm>
          <a:prstGeom prst="rect">
            <a:avLst/>
          </a:prstGeom>
          <a:noFill/>
          <a:ln/>
        </p:spPr>
        <p:txBody>
          <a:bodyPr wrap="square" lIns="0" tIns="0" rIns="0" bIns="0" rtlCol="0" anchor="ctr">
            <a:normAutofit/>
          </a:bodyPr>
          <a:lstStyle/>
          <a:p>
            <a:pPr algn="l" indent="0" marL="0">
              <a:buNone/>
            </a:pPr>
            <a:r>
              <a:rPr lang="en-US" sz="1040" dirty="0">
                <a:solidFill>
                  <a:srgbClr val="D8E2EF"/>
                </a:solidFill>
                <a:latin typeface="Aptos" pitchFamily="34" charset="0"/>
                <a:ea typeface="Aptos" pitchFamily="34" charset="-122"/>
                <a:cs typeface="Aptos" pitchFamily="34" charset="-120"/>
              </a:rPr>
              <a:t>Protect Cerebras model/IP assets and reduce tenant/operator trust assumptions.</a:t>
            </a:r>
            <a:endParaRPr lang="en-US" sz="1040" dirty="0"/>
          </a:p>
        </p:txBody>
      </p:sp>
      <p:sp>
        <p:nvSpPr>
          <p:cNvPr id="18" name="Shape 16"/>
          <p:cNvSpPr/>
          <p:nvPr/>
        </p:nvSpPr>
        <p:spPr>
          <a:xfrm>
            <a:off x="8988552" y="2066544"/>
            <a:ext cx="2523744" cy="2057400"/>
          </a:xfrm>
          <a:prstGeom prst="roundRect">
            <a:avLst>
              <a:gd name="adj" fmla="val 7111"/>
            </a:avLst>
          </a:prstGeom>
          <a:solidFill>
            <a:srgbClr val="121C2E"/>
          </a:solidFill>
          <a:ln w="12700">
            <a:solidFill>
              <a:srgbClr val="24344E"/>
            </a:solidFill>
            <a:prstDash val="solid"/>
          </a:ln>
          <a:effectLst>
            <a:outerShdw sx="100000" sy="100000" kx="0" ky="0" algn="bl" rotWithShape="0" blurRad="4.6891506266958215e+291" dist="2.3445753133479108e+291" dir="Infinity">
              <a:srgbClr val="000000">
                <a:alpha val="Infinity"/>
              </a:srgbClr>
            </a:outerShdw>
          </a:effectLst>
        </p:spPr>
      </p:sp>
      <p:sp>
        <p:nvSpPr>
          <p:cNvPr id="19" name="Text 17"/>
          <p:cNvSpPr txBox="1"/>
          <p:nvPr/>
        </p:nvSpPr>
        <p:spPr>
          <a:xfrm>
            <a:off x="9189720" y="2286000"/>
            <a:ext cx="411480" cy="274320"/>
          </a:xfrm>
          <a:prstGeom prst="rect">
            <a:avLst/>
          </a:prstGeom>
          <a:noFill/>
          <a:ln/>
        </p:spPr>
        <p:txBody>
          <a:bodyPr wrap="square" lIns="0" tIns="0" rIns="0" bIns="0" rtlCol="0" anchor="ctr">
            <a:normAutofit/>
          </a:bodyPr>
          <a:lstStyle/>
          <a:p>
            <a:pPr algn="l" indent="0" marL="0">
              <a:buNone/>
            </a:pPr>
            <a:r>
              <a:rPr lang="en-US" sz="1700" b="1" dirty="0">
                <a:solidFill>
                  <a:srgbClr val="FFD166"/>
                </a:solidFill>
                <a:latin typeface="Aptos" pitchFamily="34" charset="0"/>
                <a:ea typeface="Aptos" pitchFamily="34" charset="-122"/>
                <a:cs typeface="Aptos" pitchFamily="34" charset="-120"/>
              </a:rPr>
              <a:t>04</a:t>
            </a:r>
            <a:endParaRPr lang="en-US" sz="1700" dirty="0"/>
          </a:p>
        </p:txBody>
      </p:sp>
      <p:sp>
        <p:nvSpPr>
          <p:cNvPr id="20" name="Text 18"/>
          <p:cNvSpPr txBox="1"/>
          <p:nvPr/>
        </p:nvSpPr>
        <p:spPr>
          <a:xfrm>
            <a:off x="9189720" y="2770632"/>
            <a:ext cx="1965960" cy="411480"/>
          </a:xfrm>
          <a:prstGeom prst="rect">
            <a:avLst/>
          </a:prstGeom>
          <a:noFill/>
          <a:ln/>
        </p:spPr>
        <p:txBody>
          <a:bodyPr wrap="square" lIns="0" tIns="0" rIns="0" bIns="0" rtlCol="0" anchor="ctr">
            <a:normAutofit/>
          </a:bodyPr>
          <a:lstStyle/>
          <a:p>
            <a:pPr algn="l" indent="0" marL="0">
              <a:buNone/>
            </a:pPr>
            <a:r>
              <a:rPr lang="en-US" sz="1800" b="1" dirty="0">
                <a:solidFill>
                  <a:srgbClr val="F5F7FA"/>
                </a:solidFill>
                <a:latin typeface="Aptos" pitchFamily="34" charset="0"/>
                <a:ea typeface="Aptos" pitchFamily="34" charset="-122"/>
                <a:cs typeface="Aptos" pitchFamily="34" charset="-120"/>
              </a:rPr>
              <a:t>Differentiate</a:t>
            </a:r>
            <a:endParaRPr lang="en-US" sz="1800" dirty="0"/>
          </a:p>
        </p:txBody>
      </p:sp>
      <p:sp>
        <p:nvSpPr>
          <p:cNvPr id="21" name="Text 19"/>
          <p:cNvSpPr txBox="1"/>
          <p:nvPr/>
        </p:nvSpPr>
        <p:spPr>
          <a:xfrm>
            <a:off x="9189720" y="3346704"/>
            <a:ext cx="2029968" cy="530352"/>
          </a:xfrm>
          <a:prstGeom prst="rect">
            <a:avLst/>
          </a:prstGeom>
          <a:noFill/>
          <a:ln/>
        </p:spPr>
        <p:txBody>
          <a:bodyPr wrap="square" lIns="0" tIns="0" rIns="0" bIns="0" rtlCol="0" anchor="ctr">
            <a:normAutofit/>
          </a:bodyPr>
          <a:lstStyle/>
          <a:p>
            <a:pPr algn="l" indent="0" marL="0">
              <a:buNone/>
            </a:pPr>
            <a:r>
              <a:rPr lang="en-US" sz="1040" dirty="0">
                <a:solidFill>
                  <a:srgbClr val="D8E2EF"/>
                </a:solidFill>
                <a:latin typeface="Aptos" pitchFamily="34" charset="0"/>
                <a:ea typeface="Aptos" pitchFamily="34" charset="-122"/>
                <a:cs typeface="Aptos" pitchFamily="34" charset="-120"/>
              </a:rPr>
              <a:t>Define “trusted inference at wafer scale” as a category.</a:t>
            </a:r>
            <a:endParaRPr lang="en-US" sz="1040" dirty="0"/>
          </a:p>
        </p:txBody>
      </p:sp>
      <p:sp>
        <p:nvSpPr>
          <p:cNvPr id="22" name="Shape 20"/>
          <p:cNvSpPr/>
          <p:nvPr/>
        </p:nvSpPr>
        <p:spPr>
          <a:xfrm>
            <a:off x="566928" y="4462272"/>
            <a:ext cx="11018520" cy="1188720"/>
          </a:xfrm>
          <a:prstGeom prst="roundRect">
            <a:avLst>
              <a:gd name="adj" fmla="val 12308"/>
            </a:avLst>
          </a:prstGeom>
          <a:solidFill>
            <a:srgbClr val="101B2C"/>
          </a:solidFill>
          <a:ln w="12700">
            <a:solidFill>
              <a:srgbClr val="FF6B35"/>
            </a:solidFill>
            <a:prstDash val="solid"/>
          </a:ln>
          <a:effectLst>
            <a:outerShdw sx="100000" sy="100000" kx="0" ky="0" algn="bl" rotWithShape="0" blurRad="5.955221295903693e+295" dist="2.9776106479518466e+295" dir="Infinity">
              <a:srgbClr val="000000">
                <a:alpha val="Infinity"/>
              </a:srgbClr>
            </a:outerShdw>
          </a:effectLst>
        </p:spPr>
      </p:sp>
      <p:sp>
        <p:nvSpPr>
          <p:cNvPr id="23" name="Text 21"/>
          <p:cNvSpPr txBox="1"/>
          <p:nvPr/>
        </p:nvSpPr>
        <p:spPr>
          <a:xfrm>
            <a:off x="868680" y="4736592"/>
            <a:ext cx="1188720" cy="219456"/>
          </a:xfrm>
          <a:prstGeom prst="rect">
            <a:avLst/>
          </a:prstGeom>
          <a:noFill/>
          <a:ln/>
        </p:spPr>
        <p:txBody>
          <a:bodyPr wrap="square" lIns="0" tIns="0" rIns="0" bIns="0" rtlCol="0" anchor="ctr">
            <a:normAutofit/>
          </a:bodyPr>
          <a:lstStyle/>
          <a:p>
            <a:pPr algn="l" indent="0" marL="0">
              <a:buNone/>
            </a:pPr>
            <a:r>
              <a:rPr lang="en-US" sz="900" b="1" spc="140" kern="0" dirty="0">
                <a:solidFill>
                  <a:srgbClr val="FF6B35"/>
                </a:solidFill>
                <a:latin typeface="Aptos" pitchFamily="34" charset="0"/>
                <a:ea typeface="Aptos" pitchFamily="34" charset="-122"/>
                <a:cs typeface="Aptos" pitchFamily="34" charset="-120"/>
              </a:rPr>
              <a:t>EXECUTIVE ASK</a:t>
            </a:r>
            <a:endParaRPr lang="en-US" sz="900" dirty="0"/>
          </a:p>
        </p:txBody>
      </p:sp>
      <p:sp>
        <p:nvSpPr>
          <p:cNvPr id="24" name="Text 22"/>
          <p:cNvSpPr txBox="1"/>
          <p:nvPr/>
        </p:nvSpPr>
        <p:spPr>
          <a:xfrm>
            <a:off x="2194560" y="4645152"/>
            <a:ext cx="8823960" cy="594360"/>
          </a:xfrm>
          <a:prstGeom prst="rect">
            <a:avLst/>
          </a:prstGeom>
          <a:noFill/>
          <a:ln/>
        </p:spPr>
        <p:txBody>
          <a:bodyPr wrap="square" lIns="0" tIns="0" rIns="0" bIns="0" rtlCol="0" anchor="ctr">
            <a:normAutofit/>
          </a:bodyPr>
          <a:lstStyle/>
          <a:p>
            <a:pPr algn="l" indent="0" marL="0">
              <a:buNone/>
            </a:pPr>
            <a:r>
              <a:rPr lang="en-US" sz="1520" b="1" dirty="0">
                <a:solidFill>
                  <a:srgbClr val="F5F7FA"/>
                </a:solidFill>
                <a:latin typeface="Aptos" pitchFamily="34" charset="0"/>
                <a:ea typeface="Aptos" pitchFamily="34" charset="-122"/>
                <a:cs typeface="Aptos" pitchFamily="34" charset="-120"/>
              </a:rPr>
              <a:t>Authorize a joint C-CCA architecture sprint across Security + WSE/Hardware + Systems + Software, ending in a working attested-inference proof of concept and next-WSE requirements.</a:t>
            </a:r>
            <a:endParaRPr lang="en-US" sz="1520" dirty="0"/>
          </a:p>
        </p:txBody>
      </p:sp>
      <p:sp>
        <p:nvSpPr>
          <p:cNvPr id="25" name="Text 23"/>
          <p:cNvSpPr txBox="1"/>
          <p:nvPr/>
        </p:nvSpPr>
        <p:spPr>
          <a:xfrm>
            <a:off x="868680" y="5833872"/>
            <a:ext cx="10058400" cy="292608"/>
          </a:xfrm>
          <a:prstGeom prst="rect">
            <a:avLst/>
          </a:prstGeom>
          <a:noFill/>
          <a:ln/>
        </p:spPr>
        <p:txBody>
          <a:bodyPr wrap="square" lIns="0" tIns="0" rIns="0" bIns="0" rtlCol="0" anchor="ctr">
            <a:normAutofit/>
          </a:bodyPr>
          <a:lstStyle/>
          <a:p>
            <a:pPr algn="ctr" indent="0" marL="0">
              <a:buNone/>
            </a:pPr>
            <a:r>
              <a:rPr lang="en-US" sz="1120" dirty="0">
                <a:solidFill>
                  <a:srgbClr val="A9B6C8"/>
                </a:solidFill>
                <a:latin typeface="Aptos" pitchFamily="34" charset="0"/>
                <a:ea typeface="Aptos" pitchFamily="34" charset="-122"/>
                <a:cs typeface="Aptos" pitchFamily="34" charset="-120"/>
              </a:rPr>
              <a:t>Success criterion: a customer can verify where its model, data, and cryptographic authority are — and prove that the cloud operator cannot access them.</a:t>
            </a:r>
            <a:endParaRPr lang="en-US" sz="1120" dirty="0"/>
          </a:p>
        </p:txBody>
      </p:sp>
      <p:sp>
        <p:nvSpPr>
          <p:cNvPr id="26" name="Text 24"/>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Executive proposal. Commercial packaging and customer validation should follow the technical PoC.</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420624"/>
            <a:ext cx="10881360" cy="228600"/>
          </a:xfrm>
          <a:prstGeom prst="rect">
            <a:avLst/>
          </a:prstGeom>
          <a:noFill/>
          <a:ln/>
        </p:spPr>
        <p:txBody>
          <a:bodyPr wrap="square" lIns="0" tIns="0" rIns="0" bIns="0" rtlCol="0" anchor="ctr">
            <a:normAutofit/>
          </a:bodyPr>
          <a:lstStyle/>
          <a:p>
            <a:pPr algn="l" indent="0" marL="0">
              <a:buNone/>
            </a:pPr>
            <a:r>
              <a:rPr lang="en-US" sz="1000" b="1" spc="150" kern="0" dirty="0">
                <a:solidFill>
                  <a:srgbClr val="FF6B35"/>
                </a:solidFill>
                <a:latin typeface="Aptos" pitchFamily="34" charset="0"/>
                <a:ea typeface="Aptos" pitchFamily="34" charset="-122"/>
                <a:cs typeface="Aptos" pitchFamily="34" charset="-120"/>
              </a:rPr>
              <a:t>APPENDIX • SECURITY INVARIANTS</a:t>
            </a:r>
            <a:endParaRPr lang="en-US" sz="1000" dirty="0"/>
          </a:p>
        </p:txBody>
      </p:sp>
      <p:sp>
        <p:nvSpPr>
          <p:cNvPr id="3" name="Text 1"/>
          <p:cNvSpPr txBox="1"/>
          <p:nvPr/>
        </p:nvSpPr>
        <p:spPr>
          <a:xfrm>
            <a:off x="566928" y="713232"/>
            <a:ext cx="10972800" cy="640080"/>
          </a:xfrm>
          <a:prstGeom prst="rect">
            <a:avLst/>
          </a:prstGeom>
          <a:noFill/>
          <a:ln/>
        </p:spPr>
        <p:txBody>
          <a:bodyPr wrap="square" lIns="0" tIns="0" rIns="0" bIns="0" rtlCol="0" anchor="ctr">
            <a:normAutofit/>
          </a:bodyPr>
          <a:lstStyle/>
          <a:p>
            <a:pPr algn="l" indent="0" marL="0">
              <a:buNone/>
            </a:pPr>
            <a:r>
              <a:rPr lang="en-US" sz="2900" b="1" dirty="0">
                <a:solidFill>
                  <a:srgbClr val="F5F7FA"/>
                </a:solidFill>
                <a:latin typeface="Aptos" pitchFamily="34" charset="0"/>
                <a:ea typeface="Aptos" pitchFamily="34" charset="-122"/>
                <a:cs typeface="Aptos" pitchFamily="34" charset="-120"/>
              </a:rPr>
              <a:t>Six rules should remain true regardless of implementation details.</a:t>
            </a:r>
            <a:endParaRPr lang="en-US" sz="2900" dirty="0"/>
          </a:p>
        </p:txBody>
      </p:sp>
      <p:sp>
        <p:nvSpPr>
          <p:cNvPr id="4" name="Text 2"/>
          <p:cNvSpPr txBox="1"/>
          <p:nvPr/>
        </p:nvSpPr>
        <p:spPr>
          <a:xfrm>
            <a:off x="585216" y="1362456"/>
            <a:ext cx="10698480" cy="384048"/>
          </a:xfrm>
          <a:prstGeom prst="rect">
            <a:avLst/>
          </a:prstGeom>
          <a:noFill/>
          <a:ln/>
        </p:spPr>
        <p:txBody>
          <a:bodyPr wrap="square" lIns="0" tIns="0" rIns="0" bIns="0" rtlCol="0" anchor="ctr">
            <a:normAutofit/>
          </a:bodyPr>
          <a:lstStyle/>
          <a:p>
            <a:pPr algn="l" indent="0" marL="0">
              <a:buNone/>
            </a:pPr>
            <a:r>
              <a:rPr lang="en-US" sz="1250" dirty="0">
                <a:solidFill>
                  <a:srgbClr val="A9B6C8"/>
                </a:solidFill>
                <a:latin typeface="Aptos" pitchFamily="34" charset="0"/>
                <a:ea typeface="Aptos" pitchFamily="34" charset="-122"/>
                <a:cs typeface="Aptos" pitchFamily="34" charset="-120"/>
              </a:rPr>
              <a:t>These invariants can become the acceptance criteria for silicon, firmware, and software.</a:t>
            </a:r>
            <a:endParaRPr lang="en-US" sz="1250" dirty="0"/>
          </a:p>
        </p:txBody>
      </p:sp>
      <p:sp>
        <p:nvSpPr>
          <p:cNvPr id="5" name="Text 3"/>
          <p:cNvSpPr txBox="1"/>
          <p:nvPr/>
        </p:nvSpPr>
        <p:spPr>
          <a:xfrm>
            <a:off x="11109960" y="411480"/>
            <a:ext cx="502920" cy="237744"/>
          </a:xfrm>
          <a:prstGeom prst="rect">
            <a:avLst/>
          </a:prstGeom>
          <a:noFill/>
          <a:ln/>
        </p:spPr>
        <p:txBody>
          <a:bodyPr wrap="square" lIns="0" tIns="0" rIns="0" bIns="0" rtlCol="0" anchor="ctr">
            <a:normAutofit/>
          </a:bodyPr>
          <a:lstStyle/>
          <a:p>
            <a:pPr algn="r" indent="0" marL="0">
              <a:buNone/>
            </a:pPr>
            <a:r>
              <a:rPr lang="en-US" sz="1000" b="1" dirty="0">
                <a:solidFill>
                  <a:srgbClr val="5F718C"/>
                </a:solidFill>
                <a:latin typeface="Aptos" pitchFamily="34" charset="0"/>
                <a:ea typeface="Aptos" pitchFamily="34" charset="-122"/>
                <a:cs typeface="Aptos" pitchFamily="34" charset="-120"/>
              </a:rPr>
              <a:t>16</a:t>
            </a:r>
            <a:endParaRPr lang="en-US" sz="1000" dirty="0"/>
          </a:p>
        </p:txBody>
      </p:sp>
      <p:sp>
        <p:nvSpPr>
          <p:cNvPr id="6" name="Shape 4"/>
          <p:cNvSpPr/>
          <p:nvPr/>
        </p:nvSpPr>
        <p:spPr>
          <a:xfrm>
            <a:off x="658368" y="2011680"/>
            <a:ext cx="5230368" cy="896112"/>
          </a:xfrm>
          <a:prstGeom prst="roundRect">
            <a:avLst>
              <a:gd name="adj" fmla="val 16327"/>
            </a:avLst>
          </a:prstGeom>
          <a:solidFill>
            <a:srgbClr val="121C2E"/>
          </a:solidFill>
          <a:ln w="12700">
            <a:solidFill>
              <a:srgbClr val="5FE1A0"/>
            </a:solidFill>
            <a:prstDash val="solid"/>
          </a:ln>
          <a:effectLst>
            <a:outerShdw sx="100000" sy="100000" kx="0" ky="0" algn="bl" rotWithShape="0" blurRad="7.56313104579769e+299" dist="3.781565522898845e+299" dir="Infinity">
              <a:srgbClr val="000000">
                <a:alpha val="Infinity"/>
              </a:srgbClr>
            </a:outerShdw>
          </a:effectLst>
        </p:spPr>
      </p:sp>
      <p:sp>
        <p:nvSpPr>
          <p:cNvPr id="7" name="Text 5"/>
          <p:cNvSpPr txBox="1"/>
          <p:nvPr/>
        </p:nvSpPr>
        <p:spPr>
          <a:xfrm>
            <a:off x="841248" y="2267712"/>
            <a:ext cx="502920" cy="228600"/>
          </a:xfrm>
          <a:prstGeom prst="rect">
            <a:avLst/>
          </a:prstGeom>
          <a:noFill/>
          <a:ln/>
        </p:spPr>
        <p:txBody>
          <a:bodyPr wrap="square" lIns="0" tIns="0" rIns="0" bIns="0" rtlCol="0" anchor="ctr">
            <a:normAutofit/>
          </a:bodyPr>
          <a:lstStyle/>
          <a:p>
            <a:pPr algn="l" indent="0" marL="0">
              <a:buNone/>
            </a:pPr>
            <a:r>
              <a:rPr lang="en-US" sz="1600" b="1" dirty="0">
                <a:solidFill>
                  <a:srgbClr val="5FE1A0"/>
                </a:solidFill>
                <a:latin typeface="Aptos" pitchFamily="34" charset="0"/>
                <a:ea typeface="Aptos" pitchFamily="34" charset="-122"/>
                <a:cs typeface="Aptos" pitchFamily="34" charset="-120"/>
              </a:rPr>
              <a:t>01</a:t>
            </a:r>
            <a:endParaRPr lang="en-US" sz="1600" dirty="0"/>
          </a:p>
        </p:txBody>
      </p:sp>
      <p:sp>
        <p:nvSpPr>
          <p:cNvPr id="8" name="Text 6"/>
          <p:cNvSpPr txBox="1"/>
          <p:nvPr/>
        </p:nvSpPr>
        <p:spPr>
          <a:xfrm>
            <a:off x="1527048" y="2194560"/>
            <a:ext cx="4069080" cy="475488"/>
          </a:xfrm>
          <a:prstGeom prst="rect">
            <a:avLst/>
          </a:prstGeom>
          <a:noFill/>
          <a:ln/>
        </p:spPr>
        <p:txBody>
          <a:bodyPr wrap="square" lIns="0" tIns="0" rIns="0" bIns="0" rtlCol="0" anchor="ctr">
            <a:normAutofit/>
          </a:bodyPr>
          <a:lstStyle/>
          <a:p>
            <a:pPr algn="l" indent="0" marL="0">
              <a:buNone/>
            </a:pPr>
            <a:r>
              <a:rPr lang="en-US" sz="1300" b="1" dirty="0">
                <a:solidFill>
                  <a:srgbClr val="F5F7FA"/>
                </a:solidFill>
                <a:latin typeface="Aptos" pitchFamily="34" charset="0"/>
                <a:ea typeface="Aptos" pitchFamily="34" charset="-122"/>
                <a:cs typeface="Aptos" pitchFamily="34" charset="-120"/>
              </a:rPr>
              <a:t>No secret release without valid attestation</a:t>
            </a:r>
            <a:endParaRPr lang="en-US" sz="1300" dirty="0"/>
          </a:p>
        </p:txBody>
      </p:sp>
      <p:sp>
        <p:nvSpPr>
          <p:cNvPr id="9" name="Shape 7"/>
          <p:cNvSpPr/>
          <p:nvPr/>
        </p:nvSpPr>
        <p:spPr>
          <a:xfrm>
            <a:off x="6217920" y="2011680"/>
            <a:ext cx="5230368" cy="896112"/>
          </a:xfrm>
          <a:prstGeom prst="roundRect">
            <a:avLst>
              <a:gd name="adj" fmla="val 16327"/>
            </a:avLst>
          </a:prstGeom>
          <a:solidFill>
            <a:srgbClr val="162337"/>
          </a:solidFill>
          <a:ln w="12700">
            <a:solidFill>
              <a:srgbClr val="3BD6E8"/>
            </a:solidFill>
            <a:prstDash val="solid"/>
          </a:ln>
          <a:effectLst>
            <a:outerShdw sx="100000" sy="100000" kx="0" ky="0" algn="bl" rotWithShape="0" blurRad="9.605176428163068e+303" dist="4.802588214081534e+303" dir="Infinity">
              <a:srgbClr val="000000">
                <a:alpha val="Infinity"/>
              </a:srgbClr>
            </a:outerShdw>
          </a:effectLst>
        </p:spPr>
      </p:sp>
      <p:sp>
        <p:nvSpPr>
          <p:cNvPr id="10" name="Text 8"/>
          <p:cNvSpPr txBox="1"/>
          <p:nvPr/>
        </p:nvSpPr>
        <p:spPr>
          <a:xfrm>
            <a:off x="6400800" y="2267712"/>
            <a:ext cx="502920" cy="228600"/>
          </a:xfrm>
          <a:prstGeom prst="rect">
            <a:avLst/>
          </a:prstGeom>
          <a:noFill/>
          <a:ln/>
        </p:spPr>
        <p:txBody>
          <a:bodyPr wrap="square" lIns="0" tIns="0" rIns="0" bIns="0" rtlCol="0" anchor="ctr">
            <a:normAutofit/>
          </a:bodyPr>
          <a:lstStyle/>
          <a:p>
            <a:pPr algn="l" indent="0" marL="0">
              <a:buNone/>
            </a:pPr>
            <a:r>
              <a:rPr lang="en-US" sz="1600" b="1" dirty="0">
                <a:solidFill>
                  <a:srgbClr val="3BD6E8"/>
                </a:solidFill>
                <a:latin typeface="Aptos" pitchFamily="34" charset="0"/>
                <a:ea typeface="Aptos" pitchFamily="34" charset="-122"/>
                <a:cs typeface="Aptos" pitchFamily="34" charset="-120"/>
              </a:rPr>
              <a:t>02</a:t>
            </a:r>
            <a:endParaRPr lang="en-US" sz="1600" dirty="0"/>
          </a:p>
        </p:txBody>
      </p:sp>
      <p:sp>
        <p:nvSpPr>
          <p:cNvPr id="11" name="Text 9"/>
          <p:cNvSpPr txBox="1"/>
          <p:nvPr/>
        </p:nvSpPr>
        <p:spPr>
          <a:xfrm>
            <a:off x="7086600" y="2194560"/>
            <a:ext cx="4069080" cy="475488"/>
          </a:xfrm>
          <a:prstGeom prst="rect">
            <a:avLst/>
          </a:prstGeom>
          <a:noFill/>
          <a:ln/>
        </p:spPr>
        <p:txBody>
          <a:bodyPr wrap="square" lIns="0" tIns="0" rIns="0" bIns="0" rtlCol="0" anchor="ctr">
            <a:normAutofit/>
          </a:bodyPr>
          <a:lstStyle/>
          <a:p>
            <a:pPr algn="l" indent="0" marL="0">
              <a:buNone/>
            </a:pPr>
            <a:r>
              <a:rPr lang="en-US" sz="1300" b="1" dirty="0">
                <a:solidFill>
                  <a:srgbClr val="F5F7FA"/>
                </a:solidFill>
                <a:latin typeface="Aptos" pitchFamily="34" charset="0"/>
                <a:ea typeface="Aptos" pitchFamily="34" charset="-122"/>
                <a:cs typeface="Aptos" pitchFamily="34" charset="-120"/>
              </a:rPr>
              <a:t>No host access to confidential execution memory</a:t>
            </a:r>
            <a:endParaRPr lang="en-US" sz="1300" dirty="0"/>
          </a:p>
        </p:txBody>
      </p:sp>
      <p:sp>
        <p:nvSpPr>
          <p:cNvPr id="12" name="Shape 10"/>
          <p:cNvSpPr/>
          <p:nvPr/>
        </p:nvSpPr>
        <p:spPr>
          <a:xfrm>
            <a:off x="658368" y="3154680"/>
            <a:ext cx="5230368" cy="896112"/>
          </a:xfrm>
          <a:prstGeom prst="roundRect">
            <a:avLst>
              <a:gd name="adj" fmla="val 16327"/>
            </a:avLst>
          </a:prstGeom>
          <a:solidFill>
            <a:srgbClr val="121C2E"/>
          </a:solidFill>
          <a:ln w="12700">
            <a:solidFill>
              <a:srgbClr val="FF6B35"/>
            </a:solidFill>
            <a:prstDash val="solid"/>
          </a:ln>
          <a:effectLst>
            <a:outerShdw sx="100000" sy="100000" kx="0" ky="0" algn="bl" rotWithShape="0" blurRad="1.2198574063767096e+308" dist="6.099287031883548e+307" dir="Infinity">
              <a:srgbClr val="000000">
                <a:alpha val="Infinity"/>
              </a:srgbClr>
            </a:outerShdw>
          </a:effectLst>
        </p:spPr>
      </p:sp>
      <p:sp>
        <p:nvSpPr>
          <p:cNvPr id="13" name="Text 11"/>
          <p:cNvSpPr txBox="1"/>
          <p:nvPr/>
        </p:nvSpPr>
        <p:spPr>
          <a:xfrm>
            <a:off x="841248" y="3410712"/>
            <a:ext cx="502920" cy="228600"/>
          </a:xfrm>
          <a:prstGeom prst="rect">
            <a:avLst/>
          </a:prstGeom>
          <a:noFill/>
          <a:ln/>
        </p:spPr>
        <p:txBody>
          <a:bodyPr wrap="square" lIns="0" tIns="0" rIns="0" bIns="0" rtlCol="0" anchor="ctr">
            <a:normAutofit/>
          </a:bodyPr>
          <a:lstStyle/>
          <a:p>
            <a:pPr algn="l" indent="0" marL="0">
              <a:buNone/>
            </a:pPr>
            <a:r>
              <a:rPr lang="en-US" sz="1600" b="1" dirty="0">
                <a:solidFill>
                  <a:srgbClr val="FF6B35"/>
                </a:solidFill>
                <a:latin typeface="Aptos" pitchFamily="34" charset="0"/>
                <a:ea typeface="Aptos" pitchFamily="34" charset="-122"/>
                <a:cs typeface="Aptos" pitchFamily="34" charset="-120"/>
              </a:rPr>
              <a:t>03</a:t>
            </a:r>
            <a:endParaRPr lang="en-US" sz="1600" dirty="0"/>
          </a:p>
        </p:txBody>
      </p:sp>
      <p:sp>
        <p:nvSpPr>
          <p:cNvPr id="14" name="Text 12"/>
          <p:cNvSpPr txBox="1"/>
          <p:nvPr/>
        </p:nvSpPr>
        <p:spPr>
          <a:xfrm>
            <a:off x="1527048" y="3337560"/>
            <a:ext cx="4069080" cy="475488"/>
          </a:xfrm>
          <a:prstGeom prst="rect">
            <a:avLst/>
          </a:prstGeom>
          <a:noFill/>
          <a:ln/>
        </p:spPr>
        <p:txBody>
          <a:bodyPr wrap="square" lIns="0" tIns="0" rIns="0" bIns="0" rtlCol="0" anchor="ctr">
            <a:normAutofit/>
          </a:bodyPr>
          <a:lstStyle/>
          <a:p>
            <a:pPr algn="l" indent="0" marL="0">
              <a:buNone/>
            </a:pPr>
            <a:r>
              <a:rPr lang="en-US" sz="1300" b="1" dirty="0">
                <a:solidFill>
                  <a:srgbClr val="F5F7FA"/>
                </a:solidFill>
                <a:latin typeface="Aptos" pitchFamily="34" charset="0"/>
                <a:ea typeface="Aptos" pitchFamily="34" charset="-122"/>
                <a:cs typeface="Aptos" pitchFamily="34" charset="-120"/>
              </a:rPr>
              <a:t>No plaintext model leaves the trusted domain</a:t>
            </a:r>
            <a:endParaRPr lang="en-US" sz="1300" dirty="0"/>
          </a:p>
        </p:txBody>
      </p:sp>
      <p:sp>
        <p:nvSpPr>
          <p:cNvPr id="15" name="Shape 13"/>
          <p:cNvSpPr/>
          <p:nvPr/>
        </p:nvSpPr>
        <p:spPr>
          <a:xfrm>
            <a:off x="6217920" y="3154680"/>
            <a:ext cx="5230368" cy="896112"/>
          </a:xfrm>
          <a:prstGeom prst="roundRect">
            <a:avLst>
              <a:gd name="adj" fmla="val 16327"/>
            </a:avLst>
          </a:prstGeom>
          <a:solidFill>
            <a:srgbClr val="162337"/>
          </a:solidFill>
          <a:ln w="12700">
            <a:solidFill>
              <a:srgbClr val="FFD166"/>
            </a:solidFill>
            <a:prstDash val="solid"/>
          </a:ln>
          <a:effectLst>
            <a:outerShdw sx="100000" sy="100000" kx="0" ky="0" algn="bl" rotWithShape="0" blurRad="Infinity" dist="Infinity" dir="Infinity">
              <a:srgbClr val="000000">
                <a:alpha val="Infinity"/>
              </a:srgbClr>
            </a:outerShdw>
          </a:effectLst>
        </p:spPr>
      </p:sp>
      <p:sp>
        <p:nvSpPr>
          <p:cNvPr id="16" name="Text 14"/>
          <p:cNvSpPr txBox="1"/>
          <p:nvPr/>
        </p:nvSpPr>
        <p:spPr>
          <a:xfrm>
            <a:off x="6400800" y="3410712"/>
            <a:ext cx="502920" cy="228600"/>
          </a:xfrm>
          <a:prstGeom prst="rect">
            <a:avLst/>
          </a:prstGeom>
          <a:noFill/>
          <a:ln/>
        </p:spPr>
        <p:txBody>
          <a:bodyPr wrap="square" lIns="0" tIns="0" rIns="0" bIns="0" rtlCol="0" anchor="ctr">
            <a:normAutofit/>
          </a:bodyPr>
          <a:lstStyle/>
          <a:p>
            <a:pPr algn="l" indent="0" marL="0">
              <a:buNone/>
            </a:pPr>
            <a:r>
              <a:rPr lang="en-US" sz="1600" b="1" dirty="0">
                <a:solidFill>
                  <a:srgbClr val="FFD166"/>
                </a:solidFill>
                <a:latin typeface="Aptos" pitchFamily="34" charset="0"/>
                <a:ea typeface="Aptos" pitchFamily="34" charset="-122"/>
                <a:cs typeface="Aptos" pitchFamily="34" charset="-120"/>
              </a:rPr>
              <a:t>04</a:t>
            </a:r>
            <a:endParaRPr lang="en-US" sz="1600" dirty="0"/>
          </a:p>
        </p:txBody>
      </p:sp>
      <p:sp>
        <p:nvSpPr>
          <p:cNvPr id="17" name="Text 15"/>
          <p:cNvSpPr txBox="1"/>
          <p:nvPr/>
        </p:nvSpPr>
        <p:spPr>
          <a:xfrm>
            <a:off x="7086600" y="3337560"/>
            <a:ext cx="4069080" cy="475488"/>
          </a:xfrm>
          <a:prstGeom prst="rect">
            <a:avLst/>
          </a:prstGeom>
          <a:noFill/>
          <a:ln/>
        </p:spPr>
        <p:txBody>
          <a:bodyPr wrap="square" lIns="0" tIns="0" rIns="0" bIns="0" rtlCol="0" anchor="ctr">
            <a:normAutofit/>
          </a:bodyPr>
          <a:lstStyle/>
          <a:p>
            <a:pPr algn="l" indent="0" marL="0">
              <a:buNone/>
            </a:pPr>
            <a:r>
              <a:rPr lang="en-US" sz="1300" b="1" dirty="0">
                <a:solidFill>
                  <a:srgbClr val="F5F7FA"/>
                </a:solidFill>
                <a:latin typeface="Aptos" pitchFamily="34" charset="0"/>
                <a:ea typeface="Aptos" pitchFamily="34" charset="-122"/>
                <a:cs typeface="Aptos" pitchFamily="34" charset="-120"/>
              </a:rPr>
              <a:t>No private-key export from the crypto service</a:t>
            </a:r>
            <a:endParaRPr lang="en-US" sz="1300" dirty="0"/>
          </a:p>
        </p:txBody>
      </p:sp>
      <p:sp>
        <p:nvSpPr>
          <p:cNvPr id="18" name="Shape 16"/>
          <p:cNvSpPr/>
          <p:nvPr/>
        </p:nvSpPr>
        <p:spPr>
          <a:xfrm>
            <a:off x="658368" y="4297680"/>
            <a:ext cx="5230368" cy="896112"/>
          </a:xfrm>
          <a:prstGeom prst="roundRect">
            <a:avLst>
              <a:gd name="adj" fmla="val 16327"/>
            </a:avLst>
          </a:prstGeom>
          <a:solidFill>
            <a:srgbClr val="121C2E"/>
          </a:solidFill>
          <a:ln w="12700">
            <a:solidFill>
              <a:srgbClr val="71A7FF"/>
            </a:solidFill>
            <a:prstDash val="solid"/>
          </a:ln>
          <a:effectLst>
            <a:outerShdw sx="100000" sy="100000" kx="0" ky="0" algn="bl" rotWithShape="0" blurRad="Infinity" dist="Infinity" dir="Infinity">
              <a:srgbClr val="000000">
                <a:alpha val="Infinity"/>
              </a:srgbClr>
            </a:outerShdw>
          </a:effectLst>
        </p:spPr>
      </p:sp>
      <p:sp>
        <p:nvSpPr>
          <p:cNvPr id="19" name="Text 17"/>
          <p:cNvSpPr txBox="1"/>
          <p:nvPr/>
        </p:nvSpPr>
        <p:spPr>
          <a:xfrm>
            <a:off x="841248" y="4553712"/>
            <a:ext cx="502920" cy="228600"/>
          </a:xfrm>
          <a:prstGeom prst="rect">
            <a:avLst/>
          </a:prstGeom>
          <a:noFill/>
          <a:ln/>
        </p:spPr>
        <p:txBody>
          <a:bodyPr wrap="square" lIns="0" tIns="0" rIns="0" bIns="0" rtlCol="0" anchor="ctr">
            <a:normAutofit/>
          </a:bodyPr>
          <a:lstStyle/>
          <a:p>
            <a:pPr algn="l" indent="0" marL="0">
              <a:buNone/>
            </a:pPr>
            <a:r>
              <a:rPr lang="en-US" sz="1600" b="1" dirty="0">
                <a:solidFill>
                  <a:srgbClr val="71A7FF"/>
                </a:solidFill>
                <a:latin typeface="Aptos" pitchFamily="34" charset="0"/>
                <a:ea typeface="Aptos" pitchFamily="34" charset="-122"/>
                <a:cs typeface="Aptos" pitchFamily="34" charset="-120"/>
              </a:rPr>
              <a:t>05</a:t>
            </a:r>
            <a:endParaRPr lang="en-US" sz="1600" dirty="0"/>
          </a:p>
        </p:txBody>
      </p:sp>
      <p:sp>
        <p:nvSpPr>
          <p:cNvPr id="20" name="Text 18"/>
          <p:cNvSpPr txBox="1"/>
          <p:nvPr/>
        </p:nvSpPr>
        <p:spPr>
          <a:xfrm>
            <a:off x="1527048" y="4480560"/>
            <a:ext cx="4069080" cy="475488"/>
          </a:xfrm>
          <a:prstGeom prst="rect">
            <a:avLst/>
          </a:prstGeom>
          <a:noFill/>
          <a:ln/>
        </p:spPr>
        <p:txBody>
          <a:bodyPr wrap="square" lIns="0" tIns="0" rIns="0" bIns="0" rtlCol="0" anchor="ctr">
            <a:normAutofit/>
          </a:bodyPr>
          <a:lstStyle/>
          <a:p>
            <a:pPr algn="l" indent="0" marL="0">
              <a:buNone/>
            </a:pPr>
            <a:r>
              <a:rPr lang="en-US" sz="1300" b="1" dirty="0">
                <a:solidFill>
                  <a:srgbClr val="F5F7FA"/>
                </a:solidFill>
                <a:latin typeface="Aptos" pitchFamily="34" charset="0"/>
                <a:ea typeface="Aptos" pitchFamily="34" charset="-122"/>
                <a:cs typeface="Aptos" pitchFamily="34" charset="-120"/>
              </a:rPr>
              <a:t>No cross-domain fabric / DMA access</a:t>
            </a:r>
            <a:endParaRPr lang="en-US" sz="1300" dirty="0"/>
          </a:p>
        </p:txBody>
      </p:sp>
      <p:sp>
        <p:nvSpPr>
          <p:cNvPr id="21" name="Shape 19"/>
          <p:cNvSpPr/>
          <p:nvPr/>
        </p:nvSpPr>
        <p:spPr>
          <a:xfrm>
            <a:off x="6217920" y="4297680"/>
            <a:ext cx="5230368" cy="896112"/>
          </a:xfrm>
          <a:prstGeom prst="roundRect">
            <a:avLst>
              <a:gd name="adj" fmla="val 16327"/>
            </a:avLst>
          </a:prstGeom>
          <a:solidFill>
            <a:srgbClr val="162337"/>
          </a:solidFill>
          <a:ln w="12700">
            <a:solidFill>
              <a:srgbClr val="FF6B6B"/>
            </a:solidFill>
            <a:prstDash val="solid"/>
          </a:ln>
          <a:effectLst>
            <a:outerShdw sx="100000" sy="100000" kx="0" ky="0" algn="bl" rotWithShape="0" blurRad="Infinity" dist="Infinity" dir="Infinity">
              <a:srgbClr val="000000">
                <a:alpha val="Infinity"/>
              </a:srgbClr>
            </a:outerShdw>
          </a:effectLst>
        </p:spPr>
      </p:sp>
      <p:sp>
        <p:nvSpPr>
          <p:cNvPr id="22" name="Text 20"/>
          <p:cNvSpPr txBox="1"/>
          <p:nvPr/>
        </p:nvSpPr>
        <p:spPr>
          <a:xfrm>
            <a:off x="6400800" y="4553712"/>
            <a:ext cx="502920" cy="228600"/>
          </a:xfrm>
          <a:prstGeom prst="rect">
            <a:avLst/>
          </a:prstGeom>
          <a:noFill/>
          <a:ln/>
        </p:spPr>
        <p:txBody>
          <a:bodyPr wrap="square" lIns="0" tIns="0" rIns="0" bIns="0" rtlCol="0" anchor="ctr">
            <a:normAutofit/>
          </a:bodyPr>
          <a:lstStyle/>
          <a:p>
            <a:pPr algn="l" indent="0" marL="0">
              <a:buNone/>
            </a:pPr>
            <a:r>
              <a:rPr lang="en-US" sz="1600" b="1" dirty="0">
                <a:solidFill>
                  <a:srgbClr val="FF6B6B"/>
                </a:solidFill>
                <a:latin typeface="Aptos" pitchFamily="34" charset="0"/>
                <a:ea typeface="Aptos" pitchFamily="34" charset="-122"/>
                <a:cs typeface="Aptos" pitchFamily="34" charset="-120"/>
              </a:rPr>
              <a:t>06</a:t>
            </a:r>
            <a:endParaRPr lang="en-US" sz="1600" dirty="0"/>
          </a:p>
        </p:txBody>
      </p:sp>
      <p:sp>
        <p:nvSpPr>
          <p:cNvPr id="23" name="Text 21"/>
          <p:cNvSpPr txBox="1"/>
          <p:nvPr/>
        </p:nvSpPr>
        <p:spPr>
          <a:xfrm>
            <a:off x="7086600" y="4480560"/>
            <a:ext cx="4069080" cy="475488"/>
          </a:xfrm>
          <a:prstGeom prst="rect">
            <a:avLst/>
          </a:prstGeom>
          <a:noFill/>
          <a:ln/>
        </p:spPr>
        <p:txBody>
          <a:bodyPr wrap="square" lIns="0" tIns="0" rIns="0" bIns="0" rtlCol="0" anchor="ctr">
            <a:normAutofit/>
          </a:bodyPr>
          <a:lstStyle/>
          <a:p>
            <a:pPr algn="l" indent="0" marL="0">
              <a:buNone/>
            </a:pPr>
            <a:r>
              <a:rPr lang="en-US" sz="1300" b="1" dirty="0">
                <a:solidFill>
                  <a:srgbClr val="F5F7FA"/>
                </a:solidFill>
                <a:latin typeface="Aptos" pitchFamily="34" charset="0"/>
                <a:ea typeface="Aptos" pitchFamily="34" charset="-122"/>
                <a:cs typeface="Aptos" pitchFamily="34" charset="-120"/>
              </a:rPr>
              <a:t>Destroying the domain destroys its operational key hierarchy</a:t>
            </a:r>
            <a:endParaRPr lang="en-US" sz="1300" dirty="0"/>
          </a:p>
        </p:txBody>
      </p:sp>
      <p:sp>
        <p:nvSpPr>
          <p:cNvPr id="24" name="Text 22"/>
          <p:cNvSpPr txBox="1"/>
          <p:nvPr/>
        </p:nvSpPr>
        <p:spPr>
          <a:xfrm>
            <a:off x="658368" y="5961888"/>
            <a:ext cx="10241280" cy="237744"/>
          </a:xfrm>
          <a:prstGeom prst="rect">
            <a:avLst/>
          </a:prstGeom>
          <a:noFill/>
          <a:ln/>
        </p:spPr>
        <p:txBody>
          <a:bodyPr wrap="square" lIns="0" tIns="0" rIns="0" bIns="0" rtlCol="0" anchor="ctr">
            <a:normAutofit/>
          </a:bodyPr>
          <a:lstStyle/>
          <a:p>
            <a:pPr algn="ctr" indent="0" marL="0">
              <a:buNone/>
            </a:pPr>
            <a:r>
              <a:rPr lang="en-US" sz="1050" dirty="0">
                <a:solidFill>
                  <a:srgbClr val="A9B6C8"/>
                </a:solidFill>
                <a:latin typeface="Aptos" pitchFamily="34" charset="0"/>
                <a:ea typeface="Aptos" pitchFamily="34" charset="-122"/>
                <a:cs typeface="Aptos" pitchFamily="34" charset="-120"/>
              </a:rPr>
              <a:t>These are architecture invariants; implementations can evolve from software prototype to dedicated silicon.</a:t>
            </a:r>
            <a:endParaRPr lang="en-US" sz="1050" dirty="0"/>
          </a:p>
        </p:txBody>
      </p:sp>
      <p:sp>
        <p:nvSpPr>
          <p:cNvPr id="25" name="Text 23"/>
          <p:cNvSpPr txBox="1"/>
          <p:nvPr/>
        </p:nvSpPr>
        <p:spPr>
          <a:xfrm>
            <a:off x="566928" y="6199632"/>
            <a:ext cx="10607040" cy="164592"/>
          </a:xfrm>
          <a:prstGeom prst="rect">
            <a:avLst/>
          </a:prstGeom>
          <a:noFill/>
          <a:ln/>
        </p:spPr>
        <p:txBody>
          <a:bodyPr wrap="square" lIns="0" tIns="0" rIns="0" bIns="0" rtlCol="0" anchor="ctr">
            <a:normAutofit/>
          </a:bodyPr>
          <a:lstStyle/>
          <a:p>
            <a:pPr algn="l" indent="0" marL="0">
              <a:buNone/>
            </a:pPr>
            <a:r>
              <a:rPr lang="en-US" sz="660" dirty="0">
                <a:solidFill>
                  <a:srgbClr val="71839C"/>
                </a:solidFill>
                <a:latin typeface="Aptos" pitchFamily="34" charset="0"/>
                <a:ea typeface="Aptos" pitchFamily="34" charset="-122"/>
                <a:cs typeface="Aptos" pitchFamily="34" charset="-120"/>
              </a:rPr>
              <a:t>Appendix — proposed acceptance criteria.</a:t>
            </a:r>
            <a:endParaRPr lang="en-US" sz="660" dirty="0"/>
          </a:p>
        </p:txBody>
      </p:sp>
      <p:sp>
        <p:nvSpPr>
          <p:cNvPr id="25" name="Slide Number Placeholder 0"/>
          <p:cNvSpPr>
            <a:spLocks noGrp="1"/>
          </p:cNvSpPr>
          <p:nvPr>
            <p:ph type="sldNum" sz="quarter" idx="4294967295"/>
          </p:nvPr>
        </p:nvSpPr>
        <p:spPr>
          <a:xfrm>
            <a:off x="11731752" y="6437376"/>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93A4BD"/>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Trusted Intelligence at Wafer Scale</dc:title>
  <dc:subject>Cerebras Confidential Computing Architecture proposal</dc:subject>
  <dc:creator>OpenAI</dc:creator>
  <cp:lastModifiedBy>OpenAI</cp:lastModifiedBy>
  <cp:revision>1</cp:revision>
  <dcterms:created xsi:type="dcterms:W3CDTF">2026-09-08T19:57:09Z</dcterms:created>
  <dcterms:modified xsi:type="dcterms:W3CDTF">2026-09-08T19:57:09Z</dcterms:modified>
</cp:coreProperties>
</file>